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79" r:id="rId4"/>
    <p:sldId id="266" r:id="rId5"/>
    <p:sldId id="271" r:id="rId6"/>
    <p:sldId id="270" r:id="rId7"/>
    <p:sldId id="280" r:id="rId8"/>
    <p:sldId id="262" r:id="rId9"/>
    <p:sldId id="273" r:id="rId10"/>
    <p:sldId id="274" r:id="rId11"/>
    <p:sldId id="272" r:id="rId12"/>
    <p:sldId id="281" r:id="rId13"/>
    <p:sldId id="265" r:id="rId14"/>
    <p:sldId id="282" r:id="rId15"/>
    <p:sldId id="263" r:id="rId16"/>
    <p:sldId id="278" r:id="rId17"/>
    <p:sldId id="269" r:id="rId18"/>
    <p:sldId id="283" r:id="rId19"/>
    <p:sldId id="268" r:id="rId20"/>
    <p:sldId id="275" r:id="rId21"/>
    <p:sldId id="276" r:id="rId22"/>
    <p:sldId id="277" r:id="rId23"/>
    <p:sldId id="285" r:id="rId24"/>
    <p:sldId id="286" r:id="rId25"/>
    <p:sldId id="264" r:id="rId26"/>
    <p:sldId id="28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DD6C9"/>
    <a:srgbClr val="0056A0"/>
    <a:srgbClr val="E52F80"/>
    <a:srgbClr val="544341"/>
    <a:srgbClr val="F9AE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603" autoAdjust="0"/>
  </p:normalViewPr>
  <p:slideViewPr>
    <p:cSldViewPr snapToGrid="0" snapToObjects="1">
      <p:cViewPr varScale="1">
        <p:scale>
          <a:sx n="86" d="100"/>
          <a:sy n="86" d="100"/>
        </p:scale>
        <p:origin x="1518"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777EEB-9FDF-41B5-95D2-03B3D9EB8C62}" type="datetimeFigureOut">
              <a:rPr lang="en-CA" smtClean="0"/>
              <a:t>2026-06-22</a:t>
            </a:fld>
            <a:endParaRPr lang="en-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90C177-7570-4089-8FC0-8C4B9E489A28}" type="slidenum">
              <a:rPr lang="en-CA" smtClean="0"/>
              <a:t>‹N°›</a:t>
            </a:fld>
            <a:endParaRPr lang="en-CA"/>
          </a:p>
        </p:txBody>
      </p:sp>
    </p:spTree>
    <p:extLst>
      <p:ext uri="{BB962C8B-B14F-4D97-AF65-F5344CB8AC3E}">
        <p14:creationId xmlns:p14="http://schemas.microsoft.com/office/powerpoint/2010/main" val="1142951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1</a:t>
            </a:fld>
            <a:endParaRPr lang="en-CA"/>
          </a:p>
        </p:txBody>
      </p:sp>
    </p:spTree>
    <p:extLst>
      <p:ext uri="{BB962C8B-B14F-4D97-AF65-F5344CB8AC3E}">
        <p14:creationId xmlns:p14="http://schemas.microsoft.com/office/powerpoint/2010/main" val="467178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en-CA"/>
          </a:p>
        </p:txBody>
      </p:sp>
      <p:sp>
        <p:nvSpPr>
          <p:cNvPr id="3" name="Espace réservé des notes 2"/>
          <p:cNvSpPr>
            <a:spLocks noGrp="1"/>
          </p:cNvSpPr>
          <p:nvPr>
            <p:ph type="body" idx="1"/>
          </p:nvPr>
        </p:nvSpPr>
        <p:spPr/>
        <p:txBody>
          <a:bodyPr/>
          <a:lstStyle/>
          <a:p>
            <a:r>
              <a:rPr lang="en-CA" sz="1200" b="0" i="0" kern="1200" dirty="0">
                <a:solidFill>
                  <a:schemeClr val="tx1"/>
                </a:solidFill>
                <a:effectLst/>
                <a:latin typeface="+mn-lt"/>
                <a:ea typeface="+mn-ea"/>
                <a:cs typeface="+mn-cs"/>
              </a:rPr>
              <a:t>Pour </a:t>
            </a:r>
            <a:r>
              <a:rPr lang="en-CA" sz="1200" b="0" i="0" kern="1200" dirty="0" err="1">
                <a:solidFill>
                  <a:schemeClr val="tx1"/>
                </a:solidFill>
                <a:effectLst/>
                <a:latin typeface="+mn-lt"/>
                <a:ea typeface="+mn-ea"/>
                <a:cs typeface="+mn-cs"/>
              </a:rPr>
              <a:t>situer</a:t>
            </a:r>
            <a:r>
              <a:rPr lang="en-CA" sz="1200" b="0" i="0" kern="1200" dirty="0">
                <a:solidFill>
                  <a:schemeClr val="tx1"/>
                </a:solidFill>
                <a:effectLst/>
                <a:latin typeface="+mn-lt"/>
                <a:ea typeface="+mn-ea"/>
                <a:cs typeface="+mn-cs"/>
              </a:rPr>
              <a:t> tout le monde : on </a:t>
            </a:r>
            <a:r>
              <a:rPr lang="en-CA" sz="1200" b="0" i="0" kern="1200" dirty="0" err="1">
                <a:solidFill>
                  <a:schemeClr val="tx1"/>
                </a:solidFill>
                <a:effectLst/>
                <a:latin typeface="+mn-lt"/>
                <a:ea typeface="+mn-ea"/>
                <a:cs typeface="+mn-cs"/>
              </a:rPr>
              <a:t>va</a:t>
            </a:r>
            <a:r>
              <a:rPr lang="en-CA" sz="1200" b="0" i="0" kern="1200" dirty="0">
                <a:solidFill>
                  <a:schemeClr val="tx1"/>
                </a:solidFill>
                <a:effectLst/>
                <a:latin typeface="+mn-lt"/>
                <a:ea typeface="+mn-ea"/>
                <a:cs typeface="+mn-cs"/>
              </a:rPr>
              <a:t> commencer par </a:t>
            </a:r>
            <a:r>
              <a:rPr lang="en-CA" sz="1200" b="0" i="0" kern="1200" dirty="0" err="1">
                <a:solidFill>
                  <a:schemeClr val="tx1"/>
                </a:solidFill>
                <a:effectLst/>
                <a:latin typeface="+mn-lt"/>
                <a:ea typeface="+mn-ea"/>
                <a:cs typeface="+mn-cs"/>
              </a:rPr>
              <a:t>parler</a:t>
            </a:r>
            <a:r>
              <a:rPr lang="en-CA" sz="1200" b="0" i="0" kern="1200" dirty="0">
                <a:solidFill>
                  <a:schemeClr val="tx1"/>
                </a:solidFill>
                <a:effectLst/>
                <a:latin typeface="+mn-lt"/>
                <a:ea typeface="+mn-ea"/>
                <a:cs typeface="+mn-cs"/>
              </a:rPr>
              <a:t> de </a:t>
            </a:r>
            <a:r>
              <a:rPr lang="en-CA" sz="1200" b="0" i="0" kern="1200" dirty="0" err="1">
                <a:solidFill>
                  <a:schemeClr val="tx1"/>
                </a:solidFill>
                <a:effectLst/>
                <a:latin typeface="+mn-lt"/>
                <a:ea typeface="+mn-ea"/>
                <a:cs typeface="+mn-cs"/>
              </a:rPr>
              <a:t>l'opportunité</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qu'on</a:t>
            </a:r>
            <a:r>
              <a:rPr lang="en-CA" sz="1200" b="0" i="0" kern="1200" dirty="0">
                <a:solidFill>
                  <a:schemeClr val="tx1"/>
                </a:solidFill>
                <a:effectLst/>
                <a:latin typeface="+mn-lt"/>
                <a:ea typeface="+mn-ea"/>
                <a:cs typeface="+mn-cs"/>
              </a:rPr>
              <a:t> a </a:t>
            </a:r>
            <a:r>
              <a:rPr lang="en-CA" sz="1200" b="0" i="0" kern="1200" dirty="0" err="1">
                <a:solidFill>
                  <a:schemeClr val="tx1"/>
                </a:solidFill>
                <a:effectLst/>
                <a:latin typeface="+mn-lt"/>
                <a:ea typeface="+mn-ea"/>
                <a:cs typeface="+mn-cs"/>
              </a:rPr>
              <a:t>d'automatiser</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certaines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tâches</a:t>
            </a:r>
            <a:r>
              <a:rPr lang="en-CA" sz="1200" b="0" i="0" kern="1200" dirty="0">
                <a:solidFill>
                  <a:schemeClr val="tx1"/>
                </a:solidFill>
                <a:effectLst/>
                <a:latin typeface="+mn-lt"/>
                <a:ea typeface="+mn-ea"/>
                <a:cs typeface="+mn-cs"/>
              </a:rPr>
              <a:t> dans le </a:t>
            </a:r>
            <a:r>
              <a:rPr lang="en-CA" sz="1200" b="0" i="0" kern="1200" dirty="0" err="1">
                <a:solidFill>
                  <a:schemeClr val="tx1"/>
                </a:solidFill>
                <a:effectLst/>
                <a:latin typeface="+mn-lt"/>
                <a:ea typeface="+mn-ea"/>
                <a:cs typeface="+mn-cs"/>
              </a:rPr>
              <a:t>développement</a:t>
            </a:r>
            <a:r>
              <a:rPr lang="en-CA" sz="1200" b="0" i="0" kern="1200" dirty="0">
                <a:solidFill>
                  <a:schemeClr val="tx1"/>
                </a:solidFill>
                <a:effectLst/>
                <a:latin typeface="+mn-lt"/>
                <a:ea typeface="+mn-ea"/>
                <a:cs typeface="+mn-cs"/>
              </a:rPr>
              <a:t> des affaires. Ensuite, je vous montre </a:t>
            </a:r>
            <a:r>
              <a:rPr lang="en-CA" sz="1200" b="0" i="0" kern="1200" dirty="0" err="1">
                <a:solidFill>
                  <a:schemeClr val="tx1"/>
                </a:solidFill>
                <a:effectLst/>
                <a:latin typeface="+mn-lt"/>
                <a:ea typeface="+mn-ea"/>
                <a:cs typeface="+mn-cs"/>
              </a:rPr>
              <a:t>ce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qu'est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Projet</a:t>
            </a:r>
            <a:r>
              <a:rPr lang="en-CA" sz="1200" b="0" i="0" kern="1200" dirty="0">
                <a:solidFill>
                  <a:schemeClr val="tx1"/>
                </a:solidFill>
                <a:effectLst/>
                <a:latin typeface="+mn-lt"/>
                <a:ea typeface="+mn-ea"/>
                <a:cs typeface="+mn-cs"/>
              </a:rPr>
              <a:t> DOJO </a:t>
            </a:r>
            <a:r>
              <a:rPr lang="en-CA" sz="1200" b="0" i="0" kern="1200" dirty="0" err="1">
                <a:solidFill>
                  <a:schemeClr val="tx1"/>
                </a:solidFill>
                <a:effectLst/>
                <a:latin typeface="+mn-lt"/>
                <a:ea typeface="+mn-ea"/>
                <a:cs typeface="+mn-cs"/>
              </a:rPr>
              <a:t>concrètement</a:t>
            </a:r>
            <a:r>
              <a:rPr lang="en-CA" sz="1200" b="0" i="0" kern="1200" dirty="0">
                <a:solidFill>
                  <a:schemeClr val="tx1"/>
                </a:solidFill>
                <a:effectLst/>
                <a:latin typeface="+mn-lt"/>
                <a:ea typeface="+mn-ea"/>
                <a:cs typeface="+mn-cs"/>
              </a:rPr>
              <a:t>, avec la </a:t>
            </a:r>
            <a:r>
              <a:rPr lang="en-CA" sz="1200" b="0" i="0" kern="1200" dirty="0" err="1">
                <a:solidFill>
                  <a:schemeClr val="tx1"/>
                </a:solidFill>
                <a:effectLst/>
                <a:latin typeface="+mn-lt"/>
                <a:ea typeface="+mn-ea"/>
                <a:cs typeface="+mn-cs"/>
              </a:rPr>
              <a:t>preuve</a:t>
            </a:r>
            <a:r>
              <a:rPr lang="en-CA" sz="1200" b="0" i="0" kern="1200" dirty="0">
                <a:solidFill>
                  <a:schemeClr val="tx1"/>
                </a:solidFill>
                <a:effectLst/>
                <a:latin typeface="+mn-lt"/>
                <a:ea typeface="+mn-ea"/>
                <a:cs typeface="+mn-cs"/>
              </a:rPr>
              <a:t> de concept </a:t>
            </a:r>
            <a:r>
              <a:rPr lang="en-CA" sz="1200" b="0" i="0" kern="1200" dirty="0" err="1">
                <a:solidFill>
                  <a:schemeClr val="tx1"/>
                </a:solidFill>
                <a:effectLst/>
                <a:latin typeface="+mn-lt"/>
                <a:ea typeface="+mn-ea"/>
                <a:cs typeface="+mn-cs"/>
              </a:rPr>
              <a:t>qu'on</a:t>
            </a:r>
            <a:r>
              <a:rPr lang="en-CA" sz="1200" b="0" i="0" kern="1200" dirty="0">
                <a:solidFill>
                  <a:schemeClr val="tx1"/>
                </a:solidFill>
                <a:effectLst/>
                <a:latin typeface="+mn-lt"/>
                <a:ea typeface="+mn-ea"/>
                <a:cs typeface="+mn-cs"/>
              </a:rPr>
              <a:t> a déjà </a:t>
            </a:r>
            <a:r>
              <a:rPr lang="en-CA" sz="1200" b="0" i="0" kern="1200" dirty="0" err="1">
                <a:solidFill>
                  <a:schemeClr val="tx1"/>
                </a:solidFill>
                <a:effectLst/>
                <a:latin typeface="+mn-lt"/>
                <a:ea typeface="+mn-ea"/>
                <a:cs typeface="+mn-cs"/>
              </a:rPr>
              <a:t>réalisée</a:t>
            </a:r>
            <a:r>
              <a:rPr lang="en-CA" sz="1200" b="0" i="0" kern="1200" dirty="0">
                <a:solidFill>
                  <a:schemeClr val="tx1"/>
                </a:solidFill>
                <a:effectLst/>
                <a:latin typeface="+mn-lt"/>
                <a:ea typeface="+mn-ea"/>
                <a:cs typeface="+mn-cs"/>
              </a:rPr>
              <a:t>. Je </a:t>
            </a:r>
            <a:r>
              <a:rPr lang="en-CA" sz="1200" b="0" i="0" kern="1200" dirty="0" err="1">
                <a:solidFill>
                  <a:schemeClr val="tx1"/>
                </a:solidFill>
                <a:effectLst/>
                <a:latin typeface="+mn-lt"/>
                <a:ea typeface="+mn-ea"/>
                <a:cs typeface="+mn-cs"/>
              </a:rPr>
              <a:t>vais</a:t>
            </a:r>
            <a:r>
              <a:rPr lang="en-CA" sz="1200" b="0" i="0" kern="1200" dirty="0">
                <a:solidFill>
                  <a:schemeClr val="tx1"/>
                </a:solidFill>
                <a:effectLst/>
                <a:latin typeface="+mn-lt"/>
                <a:ea typeface="+mn-ea"/>
                <a:cs typeface="+mn-cs"/>
              </a:rPr>
              <a:t> vous </a:t>
            </a:r>
            <a:r>
              <a:rPr lang="en-CA" sz="1200" b="0" i="0" kern="1200" dirty="0" err="1">
                <a:solidFill>
                  <a:schemeClr val="tx1"/>
                </a:solidFill>
                <a:effectLst/>
                <a:latin typeface="+mn-lt"/>
                <a:ea typeface="+mn-ea"/>
                <a:cs typeface="+mn-cs"/>
              </a:rPr>
              <a:t>présenter</a:t>
            </a:r>
            <a:r>
              <a:rPr lang="en-CA" sz="1200" b="0" i="0" kern="1200" dirty="0">
                <a:solidFill>
                  <a:schemeClr val="tx1"/>
                </a:solidFill>
                <a:effectLst/>
                <a:latin typeface="+mn-lt"/>
                <a:ea typeface="+mn-ea"/>
                <a:cs typeface="+mn-cs"/>
              </a:rPr>
              <a:t> DANIELSAN, </a:t>
            </a:r>
            <a:r>
              <a:rPr lang="en-CA" sz="1200" b="0" i="0" kern="1200" dirty="0" err="1">
                <a:solidFill>
                  <a:schemeClr val="tx1"/>
                </a:solidFill>
                <a:effectLst/>
                <a:latin typeface="+mn-lt"/>
                <a:ea typeface="+mn-ea"/>
                <a:cs typeface="+mn-cs"/>
              </a:rPr>
              <a:t>l'assistant</a:t>
            </a:r>
            <a:r>
              <a:rPr lang="en-CA" sz="1200" b="0" i="0" kern="1200" dirty="0">
                <a:solidFill>
                  <a:schemeClr val="tx1"/>
                </a:solidFill>
                <a:effectLst/>
                <a:latin typeface="+mn-lt"/>
                <a:ea typeface="+mn-ea"/>
                <a:cs typeface="+mn-cs"/>
              </a:rPr>
              <a:t> IA derrière tout </a:t>
            </a:r>
            <a:r>
              <a:rPr lang="en-CA" sz="1200" b="0" i="0" kern="1200" dirty="0" err="1">
                <a:solidFill>
                  <a:schemeClr val="tx1"/>
                </a:solidFill>
                <a:effectLst/>
                <a:latin typeface="+mn-lt"/>
                <a:ea typeface="+mn-ea"/>
                <a:cs typeface="+mn-cs"/>
              </a:rPr>
              <a:t>ça</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Puis</a:t>
            </a:r>
            <a:r>
              <a:rPr lang="en-CA" sz="1200" b="0" i="0" kern="1200" dirty="0">
                <a:solidFill>
                  <a:schemeClr val="tx1"/>
                </a:solidFill>
                <a:effectLst/>
                <a:latin typeface="+mn-lt"/>
                <a:ea typeface="+mn-ea"/>
                <a:cs typeface="+mn-cs"/>
              </a:rPr>
              <a:t> on </a:t>
            </a:r>
            <a:r>
              <a:rPr lang="en-CA" sz="1200" b="0" i="0" kern="1200" dirty="0" err="1">
                <a:solidFill>
                  <a:schemeClr val="tx1"/>
                </a:solidFill>
                <a:effectLst/>
                <a:latin typeface="+mn-lt"/>
                <a:ea typeface="+mn-ea"/>
                <a:cs typeface="+mn-cs"/>
              </a:rPr>
              <a:t>aborde</a:t>
            </a:r>
            <a:r>
              <a:rPr lang="en-CA" sz="1200" b="0" i="0" kern="1200" dirty="0">
                <a:solidFill>
                  <a:schemeClr val="tx1"/>
                </a:solidFill>
                <a:effectLst/>
                <a:latin typeface="+mn-lt"/>
                <a:ea typeface="+mn-ea"/>
                <a:cs typeface="+mn-cs"/>
              </a:rPr>
              <a:t> les </a:t>
            </a:r>
            <a:r>
              <a:rPr lang="en-CA" sz="1200" b="0" i="0" kern="1200" dirty="0" err="1">
                <a:solidFill>
                  <a:schemeClr val="tx1"/>
                </a:solidFill>
                <a:effectLst/>
                <a:latin typeface="+mn-lt"/>
                <a:ea typeface="+mn-ea"/>
                <a:cs typeface="+mn-cs"/>
              </a:rPr>
              <a:t>prochaines</a:t>
            </a:r>
            <a:r>
              <a:rPr lang="en-CA" sz="1200" b="0" i="0" kern="1200" dirty="0">
                <a:solidFill>
                  <a:schemeClr val="tx1"/>
                </a:solidFill>
                <a:effectLst/>
                <a:latin typeface="+mn-lt"/>
                <a:ea typeface="+mn-ea"/>
                <a:cs typeface="+mn-cs"/>
              </a:rPr>
              <a:t> étapes — </a:t>
            </a:r>
            <a:r>
              <a:rPr lang="en-CA" sz="1200" b="0" i="0" kern="1200" dirty="0" err="1">
                <a:solidFill>
                  <a:schemeClr val="tx1"/>
                </a:solidFill>
                <a:effectLst/>
                <a:latin typeface="+mn-lt"/>
                <a:ea typeface="+mn-ea"/>
                <a:cs typeface="+mn-cs"/>
              </a:rPr>
              <a:t>périmètre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outillage</a:t>
            </a:r>
            <a:r>
              <a:rPr lang="en-CA" sz="1200" b="0" i="0" kern="1200" dirty="0">
                <a:solidFill>
                  <a:schemeClr val="tx1"/>
                </a:solidFill>
                <a:effectLst/>
                <a:latin typeface="+mn-lt"/>
                <a:ea typeface="+mn-ea"/>
                <a:cs typeface="+mn-cs"/>
              </a:rPr>
              <a:t>, MVP — et on </a:t>
            </a:r>
            <a:r>
              <a:rPr lang="en-CA" sz="1200" b="0" i="0" kern="1200" dirty="0" err="1">
                <a:solidFill>
                  <a:schemeClr val="tx1"/>
                </a:solidFill>
                <a:effectLst/>
                <a:latin typeface="+mn-lt"/>
                <a:ea typeface="+mn-ea"/>
                <a:cs typeface="+mn-cs"/>
              </a:rPr>
              <a:t>termine</a:t>
            </a:r>
            <a:r>
              <a:rPr lang="en-CA" sz="1200" b="0" i="0" kern="1200" dirty="0">
                <a:solidFill>
                  <a:schemeClr val="tx1"/>
                </a:solidFill>
                <a:effectLst/>
                <a:latin typeface="+mn-lt"/>
                <a:ea typeface="+mn-ea"/>
                <a:cs typeface="+mn-cs"/>
              </a:rPr>
              <a:t> avec </a:t>
            </a:r>
            <a:r>
              <a:rPr lang="en-CA" sz="1200" b="0" i="0" kern="1200" dirty="0" err="1">
                <a:solidFill>
                  <a:schemeClr val="tx1"/>
                </a:solidFill>
                <a:effectLst/>
                <a:latin typeface="+mn-lt"/>
                <a:ea typeface="+mn-ea"/>
                <a:cs typeface="+mn-cs"/>
              </a:rPr>
              <a:t>l'architecture</a:t>
            </a:r>
            <a:r>
              <a:rPr lang="en-CA" sz="1200" b="0" i="0" kern="1200" dirty="0">
                <a:solidFill>
                  <a:schemeClr val="tx1"/>
                </a:solidFill>
                <a:effectLst/>
                <a:latin typeface="+mn-lt"/>
                <a:ea typeface="+mn-ea"/>
                <a:cs typeface="+mn-cs"/>
              </a:rPr>
              <a:t>, la sécurité et </a:t>
            </a:r>
            <a:r>
              <a:rPr lang="en-CA" sz="1200" b="0" i="0" kern="1200" dirty="0" err="1">
                <a:solidFill>
                  <a:schemeClr val="tx1"/>
                </a:solidFill>
                <a:effectLst/>
                <a:latin typeface="+mn-lt"/>
                <a:ea typeface="+mn-ea"/>
                <a:cs typeface="+mn-cs"/>
              </a:rPr>
              <a:t>ce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qu'implique</a:t>
            </a:r>
            <a:r>
              <a:rPr lang="en-CA" sz="1200" b="0" i="0" kern="1200" dirty="0">
                <a:solidFill>
                  <a:schemeClr val="tx1"/>
                </a:solidFill>
                <a:effectLst/>
                <a:latin typeface="+mn-lt"/>
                <a:ea typeface="+mn-ea"/>
                <a:cs typeface="+mn-cs"/>
              </a:rPr>
              <a:t> la Loi 25. </a:t>
            </a:r>
            <a:r>
              <a:rPr lang="en-CA" sz="1200" b="0" i="0" kern="1200" dirty="0" err="1">
                <a:solidFill>
                  <a:schemeClr val="tx1"/>
                </a:solidFill>
                <a:effectLst/>
                <a:latin typeface="+mn-lt"/>
                <a:ea typeface="+mn-ea"/>
                <a:cs typeface="+mn-cs"/>
              </a:rPr>
              <a:t>L'objectif</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c'est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qu'on</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ressorte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d'ici</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alignés</a:t>
            </a:r>
            <a:r>
              <a:rPr lang="en-CA" sz="1200" b="0" i="0" kern="1200" dirty="0">
                <a:solidFill>
                  <a:schemeClr val="tx1"/>
                </a:solidFill>
                <a:effectLst/>
                <a:latin typeface="+mn-lt"/>
                <a:ea typeface="+mn-ea"/>
                <a:cs typeface="+mn-cs"/>
              </a:rPr>
              <a:t> sur la suite.</a:t>
            </a:r>
            <a:endParaRPr lang="en-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2</a:t>
            </a:fld>
            <a:endParaRPr lang="en-CA"/>
          </a:p>
        </p:txBody>
      </p:sp>
    </p:spTree>
    <p:extLst>
      <p:ext uri="{BB962C8B-B14F-4D97-AF65-F5344CB8AC3E}">
        <p14:creationId xmlns:p14="http://schemas.microsoft.com/office/powerpoint/2010/main" val="4088391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sz="1200" b="0" i="0" kern="1200" dirty="0">
                <a:solidFill>
                  <a:schemeClr val="tx1"/>
                </a:solidFill>
                <a:effectLst/>
                <a:latin typeface="+mn-lt"/>
                <a:ea typeface="+mn-ea"/>
                <a:cs typeface="+mn-cs"/>
              </a:rPr>
              <a:t>On le sait tous : chaque appel d'offres pertinent, c'est des heures de travail manuel. Lire des documents complexes, analyser si ça correspond à notre expertise, repérer les clauses légales critiques. C'est un travail important, mais c'est répétitif — et pendant qu'on fait ça, des opportunités nous passent sous le nez faute de temps. L'idée derrière Projet DOJO, c'est d'automatiser ce qui peut l'être pour qu'on se concentre sur ce qui requiert vraiment notre jugement.</a:t>
            </a:r>
            <a:endParaRPr lang="en-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4</a:t>
            </a:fld>
            <a:endParaRPr lang="en-CA"/>
          </a:p>
        </p:txBody>
      </p:sp>
    </p:spTree>
    <p:extLst>
      <p:ext uri="{BB962C8B-B14F-4D97-AF65-F5344CB8AC3E}">
        <p14:creationId xmlns:p14="http://schemas.microsoft.com/office/powerpoint/2010/main" val="3843678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sz="1200" b="0" i="0" kern="1200" dirty="0">
                <a:solidFill>
                  <a:schemeClr val="tx1"/>
                </a:solidFill>
                <a:effectLst/>
                <a:latin typeface="+mn-lt"/>
                <a:ea typeface="+mn-ea"/>
                <a:cs typeface="+mn-cs"/>
              </a:rPr>
              <a:t>Voici le processus en cinq étapes. La détection des appels d'offres, c'est déjà opérationnel — on le fait manuellement via SEAO et autres plateformes. L'analyse automatique par l'IA, c'est opérationnel aussi : l'outil évalue la pertinence, résume les exigences, identifie les clauses légales. Le rapport d'adéquation, pareil, ça fonctionne. Ce qui est en développement, c'est la saisie automatique vers le formulaire Miyagi et la création de projet dans </a:t>
            </a:r>
            <a:r>
              <a:rPr lang="fr-CA" sz="1200" b="0" i="0" kern="1200" dirty="0" err="1">
                <a:solidFill>
                  <a:schemeClr val="tx1"/>
                </a:solidFill>
                <a:effectLst/>
                <a:latin typeface="+mn-lt"/>
                <a:ea typeface="+mn-ea"/>
                <a:cs typeface="+mn-cs"/>
              </a:rPr>
              <a:t>Wrike</a:t>
            </a:r>
            <a:r>
              <a:rPr lang="fr-CA" sz="1200" b="0" i="0" kern="1200" dirty="0">
                <a:solidFill>
                  <a:schemeClr val="tx1"/>
                </a:solidFill>
                <a:effectLst/>
                <a:latin typeface="+mn-lt"/>
                <a:ea typeface="+mn-ea"/>
                <a:cs typeface="+mn-cs"/>
              </a:rPr>
              <a:t>. Et la rédaction assistée des réponses, c'est la vision à venir. Donc on n'est pas au début — on a déjà trois étapes sur cinq qui fonctionnent au moment où on se parle.</a:t>
            </a:r>
            <a:endParaRPr lang="fr-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5</a:t>
            </a:fld>
            <a:endParaRPr lang="en-CA"/>
          </a:p>
        </p:txBody>
      </p:sp>
    </p:spTree>
    <p:extLst>
      <p:ext uri="{BB962C8B-B14F-4D97-AF65-F5344CB8AC3E}">
        <p14:creationId xmlns:p14="http://schemas.microsoft.com/office/powerpoint/2010/main" val="954404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sz="1200" b="0" i="0" kern="1200" dirty="0">
                <a:solidFill>
                  <a:schemeClr val="tx1"/>
                </a:solidFill>
                <a:effectLst/>
                <a:latin typeface="+mn-lt"/>
                <a:ea typeface="+mn-ea"/>
                <a:cs typeface="+mn-cs"/>
              </a:rPr>
              <a:t>Voici la feuille de route complète en quatre phases. La Phase 1 — l'analyse et la qualification automatique — est complétée. La Phase 2, la connexion au formulaire Miyagi pour éliminer la ressaisie, est en cours. La Phase 3, la rédaction assistée à partir de notre librairie documentaire — offres passées, fiches corporatives, CV — est planifiée. Et la Phase 4, plus ambitieuse, c'est la génération d'offres de services personnalisées à partir du formulaire client. On y va par étapes, chaque phase apporte de la valeur indépendamment.</a:t>
            </a:r>
            <a:endParaRPr lang="fr-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6</a:t>
            </a:fld>
            <a:endParaRPr lang="en-CA"/>
          </a:p>
        </p:txBody>
      </p:sp>
    </p:spTree>
    <p:extLst>
      <p:ext uri="{BB962C8B-B14F-4D97-AF65-F5344CB8AC3E}">
        <p14:creationId xmlns:p14="http://schemas.microsoft.com/office/powerpoint/2010/main" val="2312841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7</a:t>
            </a:fld>
            <a:endParaRPr lang="en-CA"/>
          </a:p>
        </p:txBody>
      </p:sp>
    </p:spTree>
    <p:extLst>
      <p:ext uri="{BB962C8B-B14F-4D97-AF65-F5344CB8AC3E}">
        <p14:creationId xmlns:p14="http://schemas.microsoft.com/office/powerpoint/2010/main" val="3944732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sz="1200" b="0" i="0" kern="1200" dirty="0">
                <a:solidFill>
                  <a:schemeClr val="tx1"/>
                </a:solidFill>
                <a:effectLst/>
                <a:latin typeface="+mn-lt"/>
                <a:ea typeface="+mn-ea"/>
                <a:cs typeface="+mn-cs"/>
              </a:rPr>
              <a:t>Ici, vous voyez un exemple concret de ce que l'outil produit. C'est la première section du rapport : l'évaluation de la pertinence pour Miyagi. L'IA a analysé un appel d'offres de la Ville de Québec et a identifié que le Lot 5 — gestion du changement — correspond directement à nos profils. Elle relève aussi les points d'attention, comme les exigences de projets de référence. C'est le genre d'analyse qui prendrait facilement une heure à faire manuellement.</a:t>
            </a:r>
            <a:endParaRPr lang="fr-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8</a:t>
            </a:fld>
            <a:endParaRPr lang="en-CA"/>
          </a:p>
        </p:txBody>
      </p:sp>
    </p:spTree>
    <p:extLst>
      <p:ext uri="{BB962C8B-B14F-4D97-AF65-F5344CB8AC3E}">
        <p14:creationId xmlns:p14="http://schemas.microsoft.com/office/powerpoint/2010/main" val="3320418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sz="1200" b="0" i="0" kern="1200" dirty="0">
                <a:solidFill>
                  <a:schemeClr val="tx1"/>
                </a:solidFill>
                <a:effectLst/>
                <a:latin typeface="+mn-lt"/>
                <a:ea typeface="+mn-ea"/>
                <a:cs typeface="+mn-cs"/>
              </a:rPr>
              <a:t>Deuxième section : le résumé structuré de l'appel d'offres. L'outil extrait automatiquement les informations clés — organisme, objet, numéro de référence, dates, durée, budget, personne-ressource — et les présente dans un format standard. En un coup d'œil, on sait à quoi on a affaire sans avoir à fouiller dans un document de 80 pages.</a:t>
            </a:r>
            <a:endParaRPr lang="fr-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9</a:t>
            </a:fld>
            <a:endParaRPr lang="en-CA"/>
          </a:p>
        </p:txBody>
      </p:sp>
    </p:spTree>
    <p:extLst>
      <p:ext uri="{BB962C8B-B14F-4D97-AF65-F5344CB8AC3E}">
        <p14:creationId xmlns:p14="http://schemas.microsoft.com/office/powerpoint/2010/main" val="250139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sz="1200" b="0" i="0" kern="1200" dirty="0">
                <a:solidFill>
                  <a:schemeClr val="tx1"/>
                </a:solidFill>
                <a:effectLst/>
                <a:latin typeface="+mn-lt"/>
                <a:ea typeface="+mn-ea"/>
                <a:cs typeface="+mn-cs"/>
              </a:rPr>
              <a:t>Troisième section, et c'est probablement celle qui a le plus de valeur : l'analyse des clauses légales. L'outil identifie et classe chaque clause par niveau de risque — faible, modéré, élevé. On voit ici que les clauses de sous-traitance et de radiation unilatérale sont cotées « élevé ». C'est exactement le type d'information qu'on veut voir ressortir avant de décider si on investit du temps sur une soumission.</a:t>
            </a:r>
            <a:endParaRPr lang="fr-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10</a:t>
            </a:fld>
            <a:endParaRPr lang="en-CA"/>
          </a:p>
        </p:txBody>
      </p:sp>
    </p:spTree>
    <p:extLst>
      <p:ext uri="{BB962C8B-B14F-4D97-AF65-F5344CB8AC3E}">
        <p14:creationId xmlns:p14="http://schemas.microsoft.com/office/powerpoint/2010/main" val="2582384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sz="1200" b="0" i="0" kern="1200" dirty="0">
                <a:solidFill>
                  <a:schemeClr val="tx1"/>
                </a:solidFill>
                <a:effectLst/>
                <a:latin typeface="+mn-lt"/>
                <a:ea typeface="+mn-ea"/>
                <a:cs typeface="+mn-cs"/>
              </a:rPr>
              <a:t>Et voici un autre exemple, cette fois un appel de propositions de Loto-Québec. L'outil a extrait la liste des documents requis pour la soumission, avec les descriptions détaillées de chaque pièce à fournir. Ça donne une vue d'ensemble rapide du niveau d'effort requis pour monter le dossier. Ces quatre sections ensemble — pertinence, résumé, clauses, documents — c'est ça, le livrable de la Phase 1.</a:t>
            </a:r>
            <a:endParaRPr lang="fr-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11</a:t>
            </a:fld>
            <a:endParaRPr lang="en-CA"/>
          </a:p>
        </p:txBody>
      </p:sp>
    </p:spTree>
    <p:extLst>
      <p:ext uri="{BB962C8B-B14F-4D97-AF65-F5344CB8AC3E}">
        <p14:creationId xmlns:p14="http://schemas.microsoft.com/office/powerpoint/2010/main" val="312762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sz="1200" b="0" i="0" kern="1200" dirty="0">
                <a:solidFill>
                  <a:schemeClr val="tx1"/>
                </a:solidFill>
                <a:effectLst/>
                <a:latin typeface="+mn-lt"/>
                <a:ea typeface="+mn-ea"/>
                <a:cs typeface="+mn-cs"/>
              </a:rPr>
              <a:t>Petit clin d'œil au nom : DANIELSAN, c'est évidemment une référence à Karaté Kid. Le DOJO, c'est l'espace d'entraînement, et Daniel-san, c'est l'élève qui apprend du maître. Ici, l'idée c'est que l'assistant IA apprend de l'expertise Miyagi — notre savoir tacite, nos critères, notre façon d'évaluer les opportunités — pour devenir de plus en plus pertinent dans ses analyses. C'est un outil qui se nourrit de notre intelligence collective.</a:t>
            </a:r>
            <a:endParaRPr lang="fr-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13</a:t>
            </a:fld>
            <a:endParaRPr lang="en-CA"/>
          </a:p>
        </p:txBody>
      </p:sp>
    </p:spTree>
    <p:extLst>
      <p:ext uri="{BB962C8B-B14F-4D97-AF65-F5344CB8AC3E}">
        <p14:creationId xmlns:p14="http://schemas.microsoft.com/office/powerpoint/2010/main" val="203113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sz="1200" b="0" i="0" kern="1200" dirty="0">
                <a:solidFill>
                  <a:schemeClr val="tx1"/>
                </a:solidFill>
                <a:effectLst/>
                <a:latin typeface="+mn-lt"/>
                <a:ea typeface="+mn-ea"/>
                <a:cs typeface="+mn-cs"/>
              </a:rPr>
              <a:t>Première prochaine étape : valider le périmètre. Le principe directeur ici, c'est « mieux vaut une application simple qui fonctionne qu'une application complexe qui ne sort jamais ». On a besoin de s'entendre sur un cahier des charges — quelles fonctionnalités on inclut dans le MVP — et sur les inspirations design pour l'interface. Je vais faire appel à votre input là-dessus très prochainement.</a:t>
            </a:r>
            <a:endParaRPr lang="fr-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15</a:t>
            </a:fld>
            <a:endParaRPr lang="en-CA"/>
          </a:p>
        </p:txBody>
      </p:sp>
    </p:spTree>
    <p:extLst>
      <p:ext uri="{BB962C8B-B14F-4D97-AF65-F5344CB8AC3E}">
        <p14:creationId xmlns:p14="http://schemas.microsoft.com/office/powerpoint/2010/main" val="3122984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sz="1200" b="0" i="0" kern="1200" dirty="0">
                <a:solidFill>
                  <a:schemeClr val="tx1"/>
                </a:solidFill>
                <a:effectLst/>
                <a:latin typeface="+mn-lt"/>
                <a:ea typeface="+mn-ea"/>
                <a:cs typeface="+mn-cs"/>
              </a:rPr>
              <a:t>Côté outillage, il faut mettre en place l'environnement officiel Miyagi. Ça veut dire créer un compte Claude Pro au nom de la firme, installer Claude Code, importer le savoir tacite de Miyagi dans le système, configurer un </a:t>
            </a:r>
            <a:r>
              <a:rPr lang="fr-CA" sz="1200" b="0" i="0" kern="1200" dirty="0" err="1">
                <a:solidFill>
                  <a:schemeClr val="tx1"/>
                </a:solidFill>
                <a:effectLst/>
                <a:latin typeface="+mn-lt"/>
                <a:ea typeface="+mn-ea"/>
                <a:cs typeface="+mn-cs"/>
              </a:rPr>
              <a:t>workspace</a:t>
            </a:r>
            <a:r>
              <a:rPr lang="fr-CA" sz="1200" b="0" i="0" kern="1200" dirty="0">
                <a:solidFill>
                  <a:schemeClr val="tx1"/>
                </a:solidFill>
                <a:effectLst/>
                <a:latin typeface="+mn-lt"/>
                <a:ea typeface="+mn-ea"/>
                <a:cs typeface="+mn-cs"/>
              </a:rPr>
              <a:t> Visual Studio Code, et mettre à jour les clés API. C'est de la plomberie technique, mais c'est nécessaire pour passer d'un prototype personnel à un outil Miyagi.</a:t>
            </a:r>
            <a:endParaRPr lang="fr-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16</a:t>
            </a:fld>
            <a:endParaRPr lang="en-CA"/>
          </a:p>
        </p:txBody>
      </p:sp>
    </p:spTree>
    <p:extLst>
      <p:ext uri="{BB962C8B-B14F-4D97-AF65-F5344CB8AC3E}">
        <p14:creationId xmlns:p14="http://schemas.microsoft.com/office/powerpoint/2010/main" val="6744717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sz="1200" b="0" i="0" kern="1200" dirty="0">
                <a:solidFill>
                  <a:schemeClr val="tx1"/>
                </a:solidFill>
                <a:effectLst/>
                <a:latin typeface="+mn-lt"/>
                <a:ea typeface="+mn-ea"/>
                <a:cs typeface="+mn-cs"/>
              </a:rPr>
              <a:t>Le MVP, c'est quoi concrètement ? En Phase 1 : l'analyse d'appels d'offres avec rapport d'adéquation et clauses légales — ça, c'est essentiellement ce que je viens de vous montrer. En Phase 2 : l'export vers le formulaire Miyagi et la création automatique de projet dans </a:t>
            </a:r>
            <a:r>
              <a:rPr lang="fr-CA" sz="1200" b="0" i="0" kern="1200" dirty="0" err="1">
                <a:solidFill>
                  <a:schemeClr val="tx1"/>
                </a:solidFill>
                <a:effectLst/>
                <a:latin typeface="+mn-lt"/>
                <a:ea typeface="+mn-ea"/>
                <a:cs typeface="+mn-cs"/>
              </a:rPr>
              <a:t>Wrike</a:t>
            </a:r>
            <a:r>
              <a:rPr lang="fr-CA" sz="1200" b="0" i="0" kern="1200" dirty="0">
                <a:solidFill>
                  <a:schemeClr val="tx1"/>
                </a:solidFill>
                <a:effectLst/>
                <a:latin typeface="+mn-lt"/>
                <a:ea typeface="+mn-ea"/>
                <a:cs typeface="+mn-cs"/>
              </a:rPr>
              <a:t>. En Phase 3 : la rédaction assistée des réponses. L'idée, c'est de livrer de la valeur à chaque phase, pas d'attendre d'avoir tout pour lancer.</a:t>
            </a:r>
            <a:endParaRPr lang="fr-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17</a:t>
            </a:fld>
            <a:endParaRPr lang="en-CA"/>
          </a:p>
        </p:txBody>
      </p:sp>
    </p:spTree>
    <p:extLst>
      <p:ext uri="{BB962C8B-B14F-4D97-AF65-F5344CB8AC3E}">
        <p14:creationId xmlns:p14="http://schemas.microsoft.com/office/powerpoint/2010/main" val="12531706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18</a:t>
            </a:fld>
            <a:endParaRPr lang="en-CA"/>
          </a:p>
        </p:txBody>
      </p:sp>
    </p:spTree>
    <p:extLst>
      <p:ext uri="{BB962C8B-B14F-4D97-AF65-F5344CB8AC3E}">
        <p14:creationId xmlns:p14="http://schemas.microsoft.com/office/powerpoint/2010/main" val="2693282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sz="1200" b="0" i="0" kern="1200" dirty="0">
                <a:solidFill>
                  <a:schemeClr val="tx1"/>
                </a:solidFill>
                <a:effectLst/>
                <a:latin typeface="+mn-lt"/>
                <a:ea typeface="+mn-ea"/>
                <a:cs typeface="+mn-cs"/>
              </a:rPr>
              <a:t>Un mot sur comment c'est construit. L'application repose sur trois couches bien séparées. Le frontend ne communique jamais directement avec l'IA — c'est important. La base de données </a:t>
            </a:r>
            <a:r>
              <a:rPr lang="fr-CA" sz="1200" b="0" i="0" kern="1200" dirty="0" err="1">
                <a:solidFill>
                  <a:schemeClr val="tx1"/>
                </a:solidFill>
                <a:effectLst/>
                <a:latin typeface="+mn-lt"/>
                <a:ea typeface="+mn-ea"/>
                <a:cs typeface="+mn-cs"/>
              </a:rPr>
              <a:t>Supabase</a:t>
            </a:r>
            <a:r>
              <a:rPr lang="fr-CA" sz="1200" b="0" i="0" kern="1200" dirty="0">
                <a:solidFill>
                  <a:schemeClr val="tx1"/>
                </a:solidFill>
                <a:effectLst/>
                <a:latin typeface="+mn-lt"/>
                <a:ea typeface="+mn-ea"/>
                <a:cs typeface="+mn-cs"/>
              </a:rPr>
              <a:t>,. Et entre les deux, une fonction serveur fait office d'intermédiaire sécurisé avec l'API Claude. En résumé : le navigateur ne voit jamais la clé API, ne parle jamais à l'IA directement, et chaque utilisateur ne peut accéder qu'à ses propres données grâce au Row Level Security.</a:t>
            </a:r>
          </a:p>
          <a:p>
            <a:endParaRPr lang="fr-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La </a:t>
            </a:r>
            <a:r>
              <a:rPr lang="en-CA" sz="1200" b="0" i="0" kern="1200" dirty="0" err="1">
                <a:solidFill>
                  <a:schemeClr val="tx1"/>
                </a:solidFill>
                <a:effectLst/>
                <a:latin typeface="+mn-lt"/>
                <a:ea typeface="+mn-ea"/>
                <a:cs typeface="+mn-cs"/>
              </a:rPr>
              <a:t>clé</a:t>
            </a:r>
            <a:r>
              <a:rPr lang="en-CA" sz="1200" b="0" i="0" kern="1200" dirty="0">
                <a:solidFill>
                  <a:schemeClr val="tx1"/>
                </a:solidFill>
                <a:effectLst/>
                <a:latin typeface="+mn-lt"/>
                <a:ea typeface="+mn-ea"/>
                <a:cs typeface="+mn-cs"/>
              </a:rPr>
              <a:t> API Anthropic </a:t>
            </a:r>
            <a:r>
              <a:rPr lang="en-CA" sz="1200" b="0" i="0" kern="1200" dirty="0" err="1">
                <a:solidFill>
                  <a:schemeClr val="tx1"/>
                </a:solidFill>
                <a:effectLst/>
                <a:latin typeface="+mn-lt"/>
                <a:ea typeface="+mn-ea"/>
                <a:cs typeface="+mn-cs"/>
              </a:rPr>
              <a:t>n'est</a:t>
            </a:r>
            <a:r>
              <a:rPr lang="en-CA" sz="1200" b="0" i="0" kern="1200" dirty="0">
                <a:solidFill>
                  <a:schemeClr val="tx1"/>
                </a:solidFill>
                <a:effectLst/>
                <a:latin typeface="+mn-lt"/>
                <a:ea typeface="+mn-ea"/>
                <a:cs typeface="+mn-cs"/>
              </a:rPr>
              <a:t> jamais </a:t>
            </a:r>
            <a:r>
              <a:rPr lang="en-CA" sz="1200" b="0" i="0" kern="1200" dirty="0" err="1">
                <a:solidFill>
                  <a:schemeClr val="tx1"/>
                </a:solidFill>
                <a:effectLst/>
                <a:latin typeface="+mn-lt"/>
                <a:ea typeface="+mn-ea"/>
                <a:cs typeface="+mn-cs"/>
              </a:rPr>
              <a:t>exposée</a:t>
            </a:r>
            <a:r>
              <a:rPr lang="en-CA" sz="1200" b="0" i="0" kern="1200" dirty="0">
                <a:solidFill>
                  <a:schemeClr val="tx1"/>
                </a:solidFill>
                <a:effectLst/>
                <a:latin typeface="+mn-lt"/>
                <a:ea typeface="+mn-ea"/>
                <a:cs typeface="+mn-cs"/>
              </a:rPr>
              <a:t> au </a:t>
            </a:r>
            <a:r>
              <a:rPr lang="en-CA" sz="1200" b="0" i="0" kern="1200" dirty="0" err="1">
                <a:solidFill>
                  <a:schemeClr val="tx1"/>
                </a:solidFill>
                <a:effectLst/>
                <a:latin typeface="+mn-lt"/>
                <a:ea typeface="+mn-ea"/>
                <a:cs typeface="+mn-cs"/>
              </a:rPr>
              <a:t>navigateur</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elle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reste</a:t>
            </a:r>
            <a:r>
              <a:rPr lang="en-CA" sz="1200" b="0" i="0" kern="1200" dirty="0">
                <a:solidFill>
                  <a:schemeClr val="tx1"/>
                </a:solidFill>
                <a:effectLst/>
                <a:latin typeface="+mn-lt"/>
                <a:ea typeface="+mn-ea"/>
                <a:cs typeface="+mn-cs"/>
              </a:rPr>
              <a:t> un secret </a:t>
            </a:r>
            <a:r>
              <a:rPr lang="en-CA" sz="1200" b="0" i="0" kern="1200" dirty="0" err="1">
                <a:solidFill>
                  <a:schemeClr val="tx1"/>
                </a:solidFill>
                <a:effectLst/>
                <a:latin typeface="+mn-lt"/>
                <a:ea typeface="+mn-ea"/>
                <a:cs typeface="+mn-cs"/>
              </a:rPr>
              <a:t>configuré</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côté</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serveur</a:t>
            </a:r>
            <a:r>
              <a:rPr lang="en-CA" sz="1200" b="0" i="0" kern="1200" dirty="0">
                <a:solidFill>
                  <a:schemeClr val="tx1"/>
                </a:solidFill>
                <a:effectLst/>
                <a:latin typeface="+mn-lt"/>
                <a:ea typeface="+mn-ea"/>
                <a:cs typeface="+mn-cs"/>
              </a:rPr>
              <a:t>, invisible </a:t>
            </a:r>
            <a:r>
              <a:rPr lang="en-CA" sz="1200" b="0" i="0" kern="1200" dirty="0" err="1">
                <a:solidFill>
                  <a:schemeClr val="tx1"/>
                </a:solidFill>
                <a:effectLst/>
                <a:latin typeface="+mn-lt"/>
                <a:ea typeface="+mn-ea"/>
                <a:cs typeface="+mn-cs"/>
              </a:rPr>
              <a:t>même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inspectant</a:t>
            </a:r>
            <a:r>
              <a:rPr lang="en-CA" sz="1200" b="0" i="0" kern="1200" dirty="0">
                <a:solidFill>
                  <a:schemeClr val="tx1"/>
                </a:solidFill>
                <a:effectLst/>
                <a:latin typeface="+mn-lt"/>
                <a:ea typeface="+mn-ea"/>
                <a:cs typeface="+mn-cs"/>
              </a:rPr>
              <a:t> le code du frontend.</a:t>
            </a:r>
          </a:p>
          <a:p>
            <a:r>
              <a:rPr lang="en-CA" sz="1200" b="0" i="0" kern="1200" dirty="0" err="1">
                <a:solidFill>
                  <a:schemeClr val="tx1"/>
                </a:solidFill>
                <a:effectLst/>
                <a:latin typeface="+mn-lt"/>
                <a:ea typeface="+mn-ea"/>
                <a:cs typeface="+mn-cs"/>
              </a:rPr>
              <a:t>L'accès</a:t>
            </a:r>
            <a:r>
              <a:rPr lang="en-CA" sz="1200" b="0" i="0" kern="1200" dirty="0">
                <a:solidFill>
                  <a:schemeClr val="tx1"/>
                </a:solidFill>
                <a:effectLst/>
                <a:latin typeface="+mn-lt"/>
                <a:ea typeface="+mn-ea"/>
                <a:cs typeface="+mn-cs"/>
              </a:rPr>
              <a:t> à </a:t>
            </a:r>
            <a:r>
              <a:rPr lang="en-CA" sz="1200" b="0" i="0" kern="1200" dirty="0" err="1">
                <a:solidFill>
                  <a:schemeClr val="tx1"/>
                </a:solidFill>
                <a:effectLst/>
                <a:latin typeface="+mn-lt"/>
                <a:ea typeface="+mn-ea"/>
                <a:cs typeface="+mn-cs"/>
              </a:rPr>
              <a:t>l'application</a:t>
            </a:r>
            <a:r>
              <a:rPr lang="en-CA" sz="1200" b="0" i="0" kern="1200" dirty="0">
                <a:solidFill>
                  <a:schemeClr val="tx1"/>
                </a:solidFill>
                <a:effectLst/>
                <a:latin typeface="+mn-lt"/>
                <a:ea typeface="+mn-ea"/>
                <a:cs typeface="+mn-cs"/>
              </a:rPr>
              <a:t> est </a:t>
            </a:r>
            <a:r>
              <a:rPr lang="en-CA" sz="1200" b="0" i="0" kern="1200" dirty="0" err="1">
                <a:solidFill>
                  <a:schemeClr val="tx1"/>
                </a:solidFill>
                <a:effectLst/>
                <a:latin typeface="+mn-lt"/>
                <a:ea typeface="+mn-ea"/>
                <a:cs typeface="+mn-cs"/>
              </a:rPr>
              <a:t>limité</a:t>
            </a:r>
            <a:r>
              <a:rPr lang="en-CA" sz="1200" b="0" i="0" kern="1200" dirty="0">
                <a:solidFill>
                  <a:schemeClr val="tx1"/>
                </a:solidFill>
                <a:effectLst/>
                <a:latin typeface="+mn-lt"/>
                <a:ea typeface="+mn-ea"/>
                <a:cs typeface="+mn-cs"/>
              </a:rPr>
              <a:t> à un seul compte, </a:t>
            </a:r>
            <a:r>
              <a:rPr lang="en-CA" sz="1200" b="0" i="0" kern="1200" dirty="0" err="1">
                <a:solidFill>
                  <a:schemeClr val="tx1"/>
                </a:solidFill>
                <a:effectLst/>
                <a:latin typeface="+mn-lt"/>
                <a:ea typeface="+mn-ea"/>
                <a:cs typeface="+mn-cs"/>
              </a:rPr>
              <a:t>créé</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manuellement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aucune</a:t>
            </a:r>
            <a:r>
              <a:rPr lang="en-CA" sz="1200" b="0" i="0" kern="1200" dirty="0">
                <a:solidFill>
                  <a:schemeClr val="tx1"/>
                </a:solidFill>
                <a:effectLst/>
                <a:latin typeface="+mn-lt"/>
                <a:ea typeface="+mn-ea"/>
                <a:cs typeface="+mn-cs"/>
              </a:rPr>
              <a:t> inscription </a:t>
            </a:r>
            <a:r>
              <a:rPr lang="en-CA" sz="1200" b="0" i="0" kern="1200" dirty="0" err="1">
                <a:solidFill>
                  <a:schemeClr val="tx1"/>
                </a:solidFill>
                <a:effectLst/>
                <a:latin typeface="+mn-lt"/>
                <a:ea typeface="+mn-ea"/>
                <a:cs typeface="+mn-cs"/>
              </a:rPr>
              <a:t>publique</a:t>
            </a:r>
            <a:r>
              <a:rPr lang="en-CA" sz="1200" b="0" i="0" kern="1200" dirty="0">
                <a:solidFill>
                  <a:schemeClr val="tx1"/>
                </a:solidFill>
                <a:effectLst/>
                <a:latin typeface="+mn-lt"/>
                <a:ea typeface="+mn-ea"/>
                <a:cs typeface="+mn-cs"/>
              </a:rPr>
              <a:t> possible).</a:t>
            </a:r>
          </a:p>
          <a:p>
            <a:r>
              <a:rPr lang="en-CA" sz="1200" b="0" i="0" kern="1200" dirty="0" err="1">
                <a:solidFill>
                  <a:schemeClr val="tx1"/>
                </a:solidFill>
                <a:effectLst/>
                <a:latin typeface="+mn-lt"/>
                <a:ea typeface="+mn-ea"/>
                <a:cs typeface="+mn-cs"/>
              </a:rPr>
              <a:t>Chaque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enregistrement</a:t>
            </a:r>
            <a:r>
              <a:rPr lang="en-CA" sz="1200" b="0" i="0" kern="1200" dirty="0">
                <a:solidFill>
                  <a:schemeClr val="tx1"/>
                </a:solidFill>
                <a:effectLst/>
                <a:latin typeface="+mn-lt"/>
                <a:ea typeface="+mn-ea"/>
                <a:cs typeface="+mn-cs"/>
              </a:rPr>
              <a:t> de la base est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plus protégé par des </a:t>
            </a:r>
            <a:r>
              <a:rPr lang="en-CA" sz="1200" b="0" i="0" kern="1200" dirty="0" err="1">
                <a:solidFill>
                  <a:schemeClr val="tx1"/>
                </a:solidFill>
                <a:effectLst/>
                <a:latin typeface="+mn-lt"/>
                <a:ea typeface="+mn-ea"/>
                <a:cs typeface="+mn-cs"/>
              </a:rPr>
              <a:t>règles</a:t>
            </a:r>
            <a:r>
              <a:rPr lang="en-CA" sz="1200" b="0" i="0" kern="1200" dirty="0">
                <a:solidFill>
                  <a:schemeClr val="tx1"/>
                </a:solidFill>
                <a:effectLst/>
                <a:latin typeface="+mn-lt"/>
                <a:ea typeface="+mn-ea"/>
                <a:cs typeface="+mn-cs"/>
              </a:rPr>
              <a:t> de sécurité au </a:t>
            </a:r>
            <a:r>
              <a:rPr lang="en-CA" sz="1200" b="0" i="0" kern="1200" dirty="0" err="1">
                <a:solidFill>
                  <a:schemeClr val="tx1"/>
                </a:solidFill>
                <a:effectLst/>
                <a:latin typeface="+mn-lt"/>
                <a:ea typeface="+mn-ea"/>
                <a:cs typeface="+mn-cs"/>
              </a:rPr>
              <a:t>niveau</a:t>
            </a:r>
            <a:r>
              <a:rPr lang="en-CA" sz="1200" b="0" i="0" kern="1200" dirty="0">
                <a:solidFill>
                  <a:schemeClr val="tx1"/>
                </a:solidFill>
                <a:effectLst/>
                <a:latin typeface="+mn-lt"/>
                <a:ea typeface="+mn-ea"/>
                <a:cs typeface="+mn-cs"/>
              </a:rPr>
              <a:t> des </a:t>
            </a:r>
            <a:r>
              <a:rPr lang="en-CA" sz="1200" b="0" i="0" kern="1200" dirty="0" err="1">
                <a:solidFill>
                  <a:schemeClr val="tx1"/>
                </a:solidFill>
                <a:effectLst/>
                <a:latin typeface="+mn-lt"/>
                <a:ea typeface="+mn-ea"/>
                <a:cs typeface="+mn-cs"/>
              </a:rPr>
              <a:t>lignes</a:t>
            </a:r>
            <a:r>
              <a:rPr lang="en-CA" sz="1200" b="0" i="0" kern="1200" dirty="0">
                <a:solidFill>
                  <a:schemeClr val="tx1"/>
                </a:solidFill>
                <a:effectLst/>
                <a:latin typeface="+mn-lt"/>
                <a:ea typeface="+mn-ea"/>
                <a:cs typeface="+mn-cs"/>
              </a:rPr>
              <a:t> (Row Level Security) : un </a:t>
            </a:r>
            <a:r>
              <a:rPr lang="en-CA" sz="1200" b="0" i="0" kern="1200" dirty="0" err="1">
                <a:solidFill>
                  <a:schemeClr val="tx1"/>
                </a:solidFill>
                <a:effectLst/>
                <a:latin typeface="+mn-lt"/>
                <a:ea typeface="+mn-ea"/>
                <a:cs typeface="+mn-cs"/>
              </a:rPr>
              <a:t>utilisateur</a:t>
            </a:r>
            <a:r>
              <a:rPr lang="en-CA" sz="1200" b="0" i="0" kern="1200" dirty="0">
                <a:solidFill>
                  <a:schemeClr val="tx1"/>
                </a:solidFill>
                <a:effectLst/>
                <a:latin typeface="+mn-lt"/>
                <a:ea typeface="+mn-ea"/>
                <a:cs typeface="+mn-cs"/>
              </a:rPr>
              <a:t> ne </a:t>
            </a:r>
            <a:r>
              <a:rPr lang="en-CA" sz="1200" b="0" i="0" kern="1200" dirty="0" err="1">
                <a:solidFill>
                  <a:schemeClr val="tx1"/>
                </a:solidFill>
                <a:effectLst/>
                <a:latin typeface="+mn-lt"/>
                <a:ea typeface="+mn-ea"/>
                <a:cs typeface="+mn-cs"/>
              </a:rPr>
              <a:t>peut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techniquement</a:t>
            </a:r>
            <a:r>
              <a:rPr lang="en-CA" sz="1200" b="0" i="0" kern="1200" dirty="0">
                <a:solidFill>
                  <a:schemeClr val="tx1"/>
                </a:solidFill>
                <a:effectLst/>
                <a:latin typeface="+mn-lt"/>
                <a:ea typeface="+mn-ea"/>
                <a:cs typeface="+mn-cs"/>
              </a:rPr>
              <a:t> voir </a:t>
            </a:r>
            <a:r>
              <a:rPr lang="en-CA" sz="1200" b="0" i="0" kern="1200" dirty="0" err="1">
                <a:solidFill>
                  <a:schemeClr val="tx1"/>
                </a:solidFill>
                <a:effectLst/>
                <a:latin typeface="+mn-lt"/>
                <a:ea typeface="+mn-ea"/>
                <a:cs typeface="+mn-cs"/>
              </a:rPr>
              <a:t>ou</a:t>
            </a:r>
            <a:r>
              <a:rPr lang="en-CA" sz="1200" b="0" i="0" kern="1200" dirty="0">
                <a:solidFill>
                  <a:schemeClr val="tx1"/>
                </a:solidFill>
                <a:effectLst/>
                <a:latin typeface="+mn-lt"/>
                <a:ea typeface="+mn-ea"/>
                <a:cs typeface="+mn-cs"/>
              </a:rPr>
              <a:t> modifier </a:t>
            </a:r>
            <a:r>
              <a:rPr lang="en-CA" sz="1200" b="0" i="0" kern="1200" dirty="0" err="1">
                <a:solidFill>
                  <a:schemeClr val="tx1"/>
                </a:solidFill>
                <a:effectLst/>
                <a:latin typeface="+mn-lt"/>
                <a:ea typeface="+mn-ea"/>
                <a:cs typeface="+mn-cs"/>
              </a:rPr>
              <a:t>que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ses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propres</a:t>
            </a:r>
            <a:r>
              <a:rPr lang="en-CA" sz="1200" b="0" i="0" kern="1200" dirty="0">
                <a:solidFill>
                  <a:schemeClr val="tx1"/>
                </a:solidFill>
                <a:effectLst/>
                <a:latin typeface="+mn-lt"/>
                <a:ea typeface="+mn-ea"/>
                <a:cs typeface="+mn-cs"/>
              </a:rPr>
              <a:t> données, </a:t>
            </a:r>
            <a:r>
              <a:rPr lang="en-CA" sz="1200" b="0" i="0" kern="1200" dirty="0" err="1">
                <a:solidFill>
                  <a:schemeClr val="tx1"/>
                </a:solidFill>
                <a:effectLst/>
                <a:latin typeface="+mn-lt"/>
                <a:ea typeface="+mn-ea"/>
                <a:cs typeface="+mn-cs"/>
              </a:rPr>
              <a:t>même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si</a:t>
            </a:r>
            <a:r>
              <a:rPr lang="en-CA" sz="1200" b="0" i="0" kern="1200" dirty="0">
                <a:solidFill>
                  <a:schemeClr val="tx1"/>
                </a:solidFill>
                <a:effectLst/>
                <a:latin typeface="+mn-lt"/>
                <a:ea typeface="+mn-ea"/>
                <a:cs typeface="+mn-cs"/>
              </a:rPr>
              <a:t> la </a:t>
            </a:r>
            <a:r>
              <a:rPr lang="en-CA" sz="1200" b="0" i="0" kern="1200" dirty="0" err="1">
                <a:solidFill>
                  <a:schemeClr val="tx1"/>
                </a:solidFill>
                <a:effectLst/>
                <a:latin typeface="+mn-lt"/>
                <a:ea typeface="+mn-ea"/>
                <a:cs typeface="+mn-cs"/>
              </a:rPr>
              <a:t>clé</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publique</a:t>
            </a:r>
            <a:r>
              <a:rPr lang="en-CA" sz="1200" b="0" i="0" kern="1200" dirty="0">
                <a:solidFill>
                  <a:schemeClr val="tx1"/>
                </a:solidFill>
                <a:effectLst/>
                <a:latin typeface="+mn-lt"/>
                <a:ea typeface="+mn-ea"/>
                <a:cs typeface="+mn-cs"/>
              </a:rPr>
              <a:t> de </a:t>
            </a:r>
            <a:r>
              <a:rPr lang="en-CA" sz="1200" b="0" i="0" kern="1200" dirty="0" err="1">
                <a:solidFill>
                  <a:schemeClr val="tx1"/>
                </a:solidFill>
                <a:effectLst/>
                <a:latin typeface="+mn-lt"/>
                <a:ea typeface="+mn-ea"/>
                <a:cs typeface="+mn-cs"/>
              </a:rPr>
              <a:t>l'application</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était</a:t>
            </a:r>
            <a:r>
              <a:rPr lang="en-CA" sz="1200" b="0" i="0" kern="1200" dirty="0">
                <a:solidFill>
                  <a:schemeClr val="tx1"/>
                </a:solidFill>
                <a:effectLst/>
                <a:latin typeface="+mn-lt"/>
                <a:ea typeface="+mn-ea"/>
                <a:cs typeface="+mn-cs"/>
              </a:rPr>
              <a:t> un jour compromise.</a:t>
            </a:r>
            <a:endParaRPr lang="en-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19</a:t>
            </a:fld>
            <a:endParaRPr lang="en-CA"/>
          </a:p>
        </p:txBody>
      </p:sp>
    </p:spTree>
    <p:extLst>
      <p:ext uri="{BB962C8B-B14F-4D97-AF65-F5344CB8AC3E}">
        <p14:creationId xmlns:p14="http://schemas.microsoft.com/office/powerpoint/2010/main" val="33415326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62B73-7658-1FF5-74DD-623B02DFA8F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52BCBD-DE6D-008F-4A4B-50D481B888F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AACA738-C3C3-B4DF-18A4-4B05CE80EC8E}"/>
              </a:ext>
            </a:extLst>
          </p:cNvPr>
          <p:cNvSpPr>
            <a:spLocks noGrp="1"/>
          </p:cNvSpPr>
          <p:nvPr>
            <p:ph type="body" idx="1"/>
          </p:nvPr>
        </p:nvSpPr>
        <p:spPr/>
        <p:txBody>
          <a:bodyPr/>
          <a:lstStyle/>
          <a:p>
            <a:r>
              <a:rPr lang="fr-CA" sz="1200" b="0" i="0" kern="1200" dirty="0">
                <a:solidFill>
                  <a:schemeClr val="tx1"/>
                </a:solidFill>
                <a:effectLst/>
                <a:latin typeface="+mn-lt"/>
                <a:ea typeface="+mn-ea"/>
                <a:cs typeface="+mn-cs"/>
              </a:rPr>
              <a:t>Maintenant, le sujet important : la Loi 25. Deux points restent à évaluer. Premier point : la localisation des données. </a:t>
            </a:r>
            <a:r>
              <a:rPr lang="fr-CA" sz="1200" b="0" i="0" kern="1200" dirty="0" err="1">
                <a:solidFill>
                  <a:schemeClr val="tx1"/>
                </a:solidFill>
                <a:effectLst/>
                <a:latin typeface="+mn-lt"/>
                <a:ea typeface="+mn-ea"/>
                <a:cs typeface="+mn-cs"/>
              </a:rPr>
              <a:t>Supabase</a:t>
            </a:r>
            <a:r>
              <a:rPr lang="fr-CA" sz="1200" b="0" i="0" kern="1200" dirty="0">
                <a:solidFill>
                  <a:schemeClr val="tx1"/>
                </a:solidFill>
                <a:effectLst/>
                <a:latin typeface="+mn-lt"/>
                <a:ea typeface="+mn-ea"/>
                <a:cs typeface="+mn-cs"/>
              </a:rPr>
              <a:t> et </a:t>
            </a:r>
            <a:r>
              <a:rPr lang="fr-CA" sz="1200" b="0" i="0" kern="1200" dirty="0" err="1">
                <a:solidFill>
                  <a:schemeClr val="tx1"/>
                </a:solidFill>
                <a:effectLst/>
                <a:latin typeface="+mn-lt"/>
                <a:ea typeface="+mn-ea"/>
                <a:cs typeface="+mn-cs"/>
              </a:rPr>
              <a:t>Anthropic</a:t>
            </a:r>
            <a:r>
              <a:rPr lang="fr-CA" sz="1200" b="0" i="0" kern="1200" dirty="0">
                <a:solidFill>
                  <a:schemeClr val="tx1"/>
                </a:solidFill>
                <a:effectLst/>
                <a:latin typeface="+mn-lt"/>
                <a:ea typeface="+mn-ea"/>
                <a:cs typeface="+mn-cs"/>
              </a:rPr>
              <a:t> hébergent hors Québec, ce qui déclenche une obligation d'évaluation dès qu'on traite des renseignements personnels. Deuxième point : si on élargit à plusieurs utilisateurs, il faudra désigner un responsable de la protection des renseignements personnels. Je précise que ce qu'on a en place, c'est solide techniquement, mais ce n'est pas encore une attestation de conformité. Le point 1 est vraiment le sujet à trancher.</a:t>
            </a:r>
            <a:endParaRPr lang="en-CA" dirty="0"/>
          </a:p>
        </p:txBody>
      </p:sp>
      <p:sp>
        <p:nvSpPr>
          <p:cNvPr id="4" name="Espace réservé du numéro de diapositive 3">
            <a:extLst>
              <a:ext uri="{FF2B5EF4-FFF2-40B4-BE49-F238E27FC236}">
                <a16:creationId xmlns:a16="http://schemas.microsoft.com/office/drawing/2014/main" id="{99017046-D5C3-5429-1F25-1729A9B3F032}"/>
              </a:ext>
            </a:extLst>
          </p:cNvPr>
          <p:cNvSpPr>
            <a:spLocks noGrp="1"/>
          </p:cNvSpPr>
          <p:nvPr>
            <p:ph type="sldNum" sz="quarter" idx="5"/>
          </p:nvPr>
        </p:nvSpPr>
        <p:spPr/>
        <p:txBody>
          <a:bodyPr/>
          <a:lstStyle/>
          <a:p>
            <a:fld id="{0890C177-7570-4089-8FC0-8C4B9E489A28}" type="slidenum">
              <a:rPr lang="en-CA" smtClean="0"/>
              <a:t>20</a:t>
            </a:fld>
            <a:endParaRPr lang="en-CA"/>
          </a:p>
        </p:txBody>
      </p:sp>
    </p:spTree>
    <p:extLst>
      <p:ext uri="{BB962C8B-B14F-4D97-AF65-F5344CB8AC3E}">
        <p14:creationId xmlns:p14="http://schemas.microsoft.com/office/powerpoint/2010/main" val="37372318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C20C-C686-0A90-589D-C7A9BB1EA9B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6D218E-D5BB-A2EF-C5DE-A739ED906C1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C569437-A2A2-07C0-195F-E3B490E6BE3C}"/>
              </a:ext>
            </a:extLst>
          </p:cNvPr>
          <p:cNvSpPr>
            <a:spLocks noGrp="1"/>
          </p:cNvSpPr>
          <p:nvPr>
            <p:ph type="body" idx="1"/>
          </p:nvPr>
        </p:nvSpPr>
        <p:spPr/>
        <p:txBody>
          <a:bodyPr/>
          <a:lstStyle/>
          <a:p>
            <a:r>
              <a:rPr lang="fr-CA" sz="1200" b="0" i="0" kern="1200" dirty="0">
                <a:solidFill>
                  <a:schemeClr val="tx1"/>
                </a:solidFill>
                <a:effectLst/>
                <a:latin typeface="+mn-lt"/>
                <a:ea typeface="+mn-ea"/>
                <a:cs typeface="+mn-cs"/>
              </a:rPr>
              <a:t>Pour être précis sur ce que la Loi exige : avant de transférer des renseignements personnels hors Québec — et oui, envoyer des données à un fournisseur cloud américain, c'est un transfert — il faut produire une évaluation des facteurs relatifs à la vie privée, une ÉFVP. L’évaluation doit examiner la sensibilité des renseignements, les finalités d'utilisation, les mesures de protection et le cadre juridique de la destination. Si l'évaluation conclut à une protection adéquate, le transfert est permis avec une entente écrite.</a:t>
            </a:r>
            <a:endParaRPr lang="en-CA" dirty="0"/>
          </a:p>
        </p:txBody>
      </p:sp>
      <p:sp>
        <p:nvSpPr>
          <p:cNvPr id="4" name="Espace réservé du numéro de diapositive 3">
            <a:extLst>
              <a:ext uri="{FF2B5EF4-FFF2-40B4-BE49-F238E27FC236}">
                <a16:creationId xmlns:a16="http://schemas.microsoft.com/office/drawing/2014/main" id="{731B17A2-5101-617A-60ED-547855EB7E9B}"/>
              </a:ext>
            </a:extLst>
          </p:cNvPr>
          <p:cNvSpPr>
            <a:spLocks noGrp="1"/>
          </p:cNvSpPr>
          <p:nvPr>
            <p:ph type="sldNum" sz="quarter" idx="5"/>
          </p:nvPr>
        </p:nvSpPr>
        <p:spPr/>
        <p:txBody>
          <a:bodyPr/>
          <a:lstStyle/>
          <a:p>
            <a:fld id="{0890C177-7570-4089-8FC0-8C4B9E489A28}" type="slidenum">
              <a:rPr lang="en-CA" smtClean="0"/>
              <a:t>21</a:t>
            </a:fld>
            <a:endParaRPr lang="en-CA"/>
          </a:p>
        </p:txBody>
      </p:sp>
    </p:spTree>
    <p:extLst>
      <p:ext uri="{BB962C8B-B14F-4D97-AF65-F5344CB8AC3E}">
        <p14:creationId xmlns:p14="http://schemas.microsoft.com/office/powerpoint/2010/main" val="2623679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533A1-0350-FA7B-94AE-E9BAC394522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B65BADD-0E26-9249-589E-6C368D1A09E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EF35954-1356-5273-7337-B5E06BFCB53B}"/>
              </a:ext>
            </a:extLst>
          </p:cNvPr>
          <p:cNvSpPr>
            <a:spLocks noGrp="1"/>
          </p:cNvSpPr>
          <p:nvPr>
            <p:ph type="body" idx="1"/>
          </p:nvPr>
        </p:nvSpPr>
        <p:spPr/>
        <p:txBody>
          <a:bodyPr/>
          <a:lstStyle/>
          <a:p>
            <a:r>
              <a:rPr lang="fr-CA" sz="1200" b="0" i="0" kern="1200" dirty="0">
                <a:solidFill>
                  <a:schemeClr val="tx1"/>
                </a:solidFill>
                <a:effectLst/>
                <a:latin typeface="+mn-lt"/>
                <a:ea typeface="+mn-ea"/>
                <a:cs typeface="+mn-cs"/>
              </a:rPr>
              <a:t>Concrètement, pour produire cette ÉFVP, voici les étapes. D'abord, identifier quels renseignements personnels transitent — et pour DOJO, c'est probablement assez mince : des noms et courriels de répondants dans les AO, pas de données sensibles. Ensuite, documenter les finalités, les mesures techniques déjà en place, vérifier les ententes de traitement de données de </a:t>
            </a:r>
            <a:r>
              <a:rPr lang="fr-CA" sz="1200" b="0" i="0" kern="1200" dirty="0" err="1">
                <a:solidFill>
                  <a:schemeClr val="tx1"/>
                </a:solidFill>
                <a:effectLst/>
                <a:latin typeface="+mn-lt"/>
                <a:ea typeface="+mn-ea"/>
                <a:cs typeface="+mn-cs"/>
              </a:rPr>
              <a:t>Supabase</a:t>
            </a:r>
            <a:r>
              <a:rPr lang="fr-CA" sz="1200" b="0" i="0" kern="1200" dirty="0">
                <a:solidFill>
                  <a:schemeClr val="tx1"/>
                </a:solidFill>
                <a:effectLst/>
                <a:latin typeface="+mn-lt"/>
                <a:ea typeface="+mn-ea"/>
                <a:cs typeface="+mn-cs"/>
              </a:rPr>
              <a:t> et </a:t>
            </a:r>
            <a:r>
              <a:rPr lang="fr-CA" sz="1200" b="0" i="0" kern="1200" dirty="0" err="1">
                <a:solidFill>
                  <a:schemeClr val="tx1"/>
                </a:solidFill>
                <a:effectLst/>
                <a:latin typeface="+mn-lt"/>
                <a:ea typeface="+mn-ea"/>
                <a:cs typeface="+mn-cs"/>
              </a:rPr>
              <a:t>Anthropic</a:t>
            </a:r>
            <a:r>
              <a:rPr lang="fr-CA" sz="1200" b="0" i="0" kern="1200" dirty="0">
                <a:solidFill>
                  <a:schemeClr val="tx1"/>
                </a:solidFill>
                <a:effectLst/>
                <a:latin typeface="+mn-lt"/>
                <a:ea typeface="+mn-ea"/>
                <a:cs typeface="+mn-cs"/>
              </a:rPr>
              <a:t>, et faire approuver le tout par un responsable que Miyagi devra désigner. J'ai déjà une bonne base technique pour accélérer la rédaction.</a:t>
            </a:r>
            <a:endParaRPr lang="en-CA" dirty="0"/>
          </a:p>
        </p:txBody>
      </p:sp>
      <p:sp>
        <p:nvSpPr>
          <p:cNvPr id="4" name="Espace réservé du numéro de diapositive 3">
            <a:extLst>
              <a:ext uri="{FF2B5EF4-FFF2-40B4-BE49-F238E27FC236}">
                <a16:creationId xmlns:a16="http://schemas.microsoft.com/office/drawing/2014/main" id="{94FAE561-4452-EADE-5A27-B02C192B2586}"/>
              </a:ext>
            </a:extLst>
          </p:cNvPr>
          <p:cNvSpPr>
            <a:spLocks noGrp="1"/>
          </p:cNvSpPr>
          <p:nvPr>
            <p:ph type="sldNum" sz="quarter" idx="5"/>
          </p:nvPr>
        </p:nvSpPr>
        <p:spPr/>
        <p:txBody>
          <a:bodyPr/>
          <a:lstStyle/>
          <a:p>
            <a:fld id="{0890C177-7570-4089-8FC0-8C4B9E489A28}" type="slidenum">
              <a:rPr lang="en-CA" smtClean="0"/>
              <a:t>22</a:t>
            </a:fld>
            <a:endParaRPr lang="en-CA"/>
          </a:p>
        </p:txBody>
      </p:sp>
    </p:spTree>
    <p:extLst>
      <p:ext uri="{BB962C8B-B14F-4D97-AF65-F5344CB8AC3E}">
        <p14:creationId xmlns:p14="http://schemas.microsoft.com/office/powerpoint/2010/main" val="16116101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C158D-FF3D-D451-754C-E2F34B55FD7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6CAB4A3-820D-AA77-88CA-050EB6CCD1B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43F9A0B-054C-96B3-8458-3E656C2DF091}"/>
              </a:ext>
            </a:extLst>
          </p:cNvPr>
          <p:cNvSpPr>
            <a:spLocks noGrp="1"/>
          </p:cNvSpPr>
          <p:nvPr>
            <p:ph type="body" idx="1"/>
          </p:nvPr>
        </p:nvSpPr>
        <p:spPr/>
        <p:txBody>
          <a:bodyPr/>
          <a:lstStyle/>
          <a:p>
            <a:r>
              <a:rPr lang="fr-CA" sz="1200" b="0" i="0" kern="1200" dirty="0">
                <a:solidFill>
                  <a:schemeClr val="tx1"/>
                </a:solidFill>
                <a:effectLst/>
                <a:latin typeface="+mn-lt"/>
                <a:ea typeface="+mn-ea"/>
                <a:cs typeface="+mn-cs"/>
              </a:rPr>
              <a:t>La question qui vient naturellement : est-ce qu'on devrait anonymiser les documents avant de les envoyer à l'IA ? En théorie, non, si l'ÉFVP conclut à une protection adéquate. Mais en pratique, un caviardage ciblé — retirer les noms, courriels et téléphones des contacts dans les AO avant l'envoi — réduirait le périmètre de l'évaluation à presque rien. On ne parle pas d'anonymiser tout le document, juste les coordonnées des personnes. C'est un effort raisonnable pour un gain significatif en simplicité réglementaire.</a:t>
            </a:r>
            <a:endParaRPr lang="en-CA" dirty="0"/>
          </a:p>
        </p:txBody>
      </p:sp>
      <p:sp>
        <p:nvSpPr>
          <p:cNvPr id="4" name="Espace réservé du numéro de diapositive 3">
            <a:extLst>
              <a:ext uri="{FF2B5EF4-FFF2-40B4-BE49-F238E27FC236}">
                <a16:creationId xmlns:a16="http://schemas.microsoft.com/office/drawing/2014/main" id="{9592B4F4-25A3-77A7-D055-5BF351852CC0}"/>
              </a:ext>
            </a:extLst>
          </p:cNvPr>
          <p:cNvSpPr>
            <a:spLocks noGrp="1"/>
          </p:cNvSpPr>
          <p:nvPr>
            <p:ph type="sldNum" sz="quarter" idx="5"/>
          </p:nvPr>
        </p:nvSpPr>
        <p:spPr/>
        <p:txBody>
          <a:bodyPr/>
          <a:lstStyle/>
          <a:p>
            <a:fld id="{0890C177-7570-4089-8FC0-8C4B9E489A28}" type="slidenum">
              <a:rPr lang="en-CA" smtClean="0"/>
              <a:t>23</a:t>
            </a:fld>
            <a:endParaRPr lang="en-CA"/>
          </a:p>
        </p:txBody>
      </p:sp>
    </p:spTree>
    <p:extLst>
      <p:ext uri="{BB962C8B-B14F-4D97-AF65-F5344CB8AC3E}">
        <p14:creationId xmlns:p14="http://schemas.microsoft.com/office/powerpoint/2010/main" val="595912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52D9E-42C5-369D-B2BC-FB631894273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C9AA6D8-4BCA-5891-519B-73088B22220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8ACA70D-9D7F-8B18-41CF-D4134BF95B54}"/>
              </a:ext>
            </a:extLst>
          </p:cNvPr>
          <p:cNvSpPr>
            <a:spLocks noGrp="1"/>
          </p:cNvSpPr>
          <p:nvPr>
            <p:ph type="body" idx="1"/>
          </p:nvPr>
        </p:nvSpPr>
        <p:spPr/>
        <p:txBody>
          <a:bodyPr/>
          <a:lstStyle/>
          <a:p>
            <a:r>
              <a:rPr lang="fr-CA" sz="1200" b="0" i="0" kern="1200" dirty="0">
                <a:solidFill>
                  <a:schemeClr val="tx1"/>
                </a:solidFill>
                <a:effectLst/>
                <a:latin typeface="+mn-lt"/>
                <a:ea typeface="+mn-ea"/>
                <a:cs typeface="+mn-cs"/>
              </a:rPr>
              <a:t>Vous avez ici trois options sur la table. La première, que je recommande : le caviardage automatique avant l'appel API. Ça garde l'architecture actuelle, réduit le risque à la source, et demande un effort technique modéré. La deuxième : héberger sur une infrastructure canadienne. </a:t>
            </a:r>
            <a:r>
              <a:rPr lang="fr-CA" sz="1200" b="0" i="0" kern="1200" dirty="0" err="1">
                <a:solidFill>
                  <a:schemeClr val="tx1"/>
                </a:solidFill>
                <a:effectLst/>
                <a:latin typeface="+mn-lt"/>
                <a:ea typeface="+mn-ea"/>
                <a:cs typeface="+mn-cs"/>
              </a:rPr>
              <a:t>Supabase</a:t>
            </a:r>
            <a:r>
              <a:rPr lang="fr-CA" sz="1200" b="0" i="0" kern="1200" dirty="0">
                <a:solidFill>
                  <a:schemeClr val="tx1"/>
                </a:solidFill>
                <a:effectLst/>
                <a:latin typeface="+mn-lt"/>
                <a:ea typeface="+mn-ea"/>
                <a:cs typeface="+mn-cs"/>
              </a:rPr>
              <a:t> offre une région Canada, mais </a:t>
            </a:r>
            <a:r>
              <a:rPr lang="fr-CA" sz="1200" b="0" i="0" kern="1200" dirty="0" err="1">
                <a:solidFill>
                  <a:schemeClr val="tx1"/>
                </a:solidFill>
                <a:effectLst/>
                <a:latin typeface="+mn-lt"/>
                <a:ea typeface="+mn-ea"/>
                <a:cs typeface="+mn-cs"/>
              </a:rPr>
              <a:t>Anthropic</a:t>
            </a:r>
            <a:r>
              <a:rPr lang="fr-CA" sz="1200" b="0" i="0" kern="1200" dirty="0">
                <a:solidFill>
                  <a:schemeClr val="tx1"/>
                </a:solidFill>
                <a:effectLst/>
                <a:latin typeface="+mn-lt"/>
                <a:ea typeface="+mn-ea"/>
                <a:cs typeface="+mn-cs"/>
              </a:rPr>
              <a:t> ne garantit pas le traitement en sol canadien, donc ça ne règle pas tout. La troisième : produire l'ÉFVP et accepter la charge administrative récurrente. Mon avis, c'est que le caviardage ciblé offre le meilleur rapport effort-bénéfice, mais il faudra faire valider par un avocat que c'est suffisant pour notre cas d'usage.</a:t>
            </a:r>
            <a:endParaRPr lang="en-CA" dirty="0"/>
          </a:p>
        </p:txBody>
      </p:sp>
      <p:sp>
        <p:nvSpPr>
          <p:cNvPr id="4" name="Espace réservé du numéro de diapositive 3">
            <a:extLst>
              <a:ext uri="{FF2B5EF4-FFF2-40B4-BE49-F238E27FC236}">
                <a16:creationId xmlns:a16="http://schemas.microsoft.com/office/drawing/2014/main" id="{5CA0FE31-E0BD-6371-F9C5-FE35466044A2}"/>
              </a:ext>
            </a:extLst>
          </p:cNvPr>
          <p:cNvSpPr>
            <a:spLocks noGrp="1"/>
          </p:cNvSpPr>
          <p:nvPr>
            <p:ph type="sldNum" sz="quarter" idx="5"/>
          </p:nvPr>
        </p:nvSpPr>
        <p:spPr/>
        <p:txBody>
          <a:bodyPr/>
          <a:lstStyle/>
          <a:p>
            <a:fld id="{0890C177-7570-4089-8FC0-8C4B9E489A28}" type="slidenum">
              <a:rPr lang="en-CA" smtClean="0"/>
              <a:t>24</a:t>
            </a:fld>
            <a:endParaRPr lang="en-CA"/>
          </a:p>
        </p:txBody>
      </p:sp>
    </p:spTree>
    <p:extLst>
      <p:ext uri="{BB962C8B-B14F-4D97-AF65-F5344CB8AC3E}">
        <p14:creationId xmlns:p14="http://schemas.microsoft.com/office/powerpoint/2010/main" val="8291628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sz="1200" b="0" i="0" kern="1200" dirty="0">
                <a:solidFill>
                  <a:schemeClr val="tx1"/>
                </a:solidFill>
                <a:effectLst/>
                <a:latin typeface="+mn-lt"/>
                <a:ea typeface="+mn-ea"/>
                <a:cs typeface="+mn-cs"/>
              </a:rPr>
              <a:t>Pour conclure : on a besoin de fixer une date pour le prochain point de suivi, et de s'entendre sur qui fait quoi.</a:t>
            </a:r>
            <a:endParaRPr lang="fr-CA" dirty="0"/>
          </a:p>
        </p:txBody>
      </p:sp>
      <p:sp>
        <p:nvSpPr>
          <p:cNvPr id="4" name="Espace réservé du numéro de diapositive 3"/>
          <p:cNvSpPr>
            <a:spLocks noGrp="1"/>
          </p:cNvSpPr>
          <p:nvPr>
            <p:ph type="sldNum" sz="quarter" idx="5"/>
          </p:nvPr>
        </p:nvSpPr>
        <p:spPr/>
        <p:txBody>
          <a:bodyPr/>
          <a:lstStyle/>
          <a:p>
            <a:fld id="{0890C177-7570-4089-8FC0-8C4B9E489A28}" type="slidenum">
              <a:rPr lang="en-CA" smtClean="0"/>
              <a:t>25</a:t>
            </a:fld>
            <a:endParaRPr lang="en-CA"/>
          </a:p>
        </p:txBody>
      </p:sp>
    </p:spTree>
    <p:extLst>
      <p:ext uri="{BB962C8B-B14F-4D97-AF65-F5344CB8AC3E}">
        <p14:creationId xmlns:p14="http://schemas.microsoft.com/office/powerpoint/2010/main" val="2699184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F5810-2BAA-A639-C2E8-E4ECE4B9CE2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62449E5-458E-2118-DC76-4E371ADB223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1E971DB-B2EA-04B2-27B9-0894EEC11F1F}"/>
              </a:ext>
            </a:extLst>
          </p:cNvPr>
          <p:cNvSpPr>
            <a:spLocks noGrp="1"/>
          </p:cNvSpPr>
          <p:nvPr>
            <p:ph type="body" idx="1"/>
          </p:nvPr>
        </p:nvSpPr>
        <p:spPr/>
        <p:txBody>
          <a:bodyPr/>
          <a:lstStyle/>
          <a:p>
            <a:endParaRPr lang="en-CA" dirty="0"/>
          </a:p>
        </p:txBody>
      </p:sp>
      <p:sp>
        <p:nvSpPr>
          <p:cNvPr id="4" name="Espace réservé du numéro de diapositive 3">
            <a:extLst>
              <a:ext uri="{FF2B5EF4-FFF2-40B4-BE49-F238E27FC236}">
                <a16:creationId xmlns:a16="http://schemas.microsoft.com/office/drawing/2014/main" id="{285D597C-922D-FD42-50D2-3ED05008587C}"/>
              </a:ext>
            </a:extLst>
          </p:cNvPr>
          <p:cNvSpPr>
            <a:spLocks noGrp="1"/>
          </p:cNvSpPr>
          <p:nvPr>
            <p:ph type="sldNum" sz="quarter" idx="5"/>
          </p:nvPr>
        </p:nvSpPr>
        <p:spPr/>
        <p:txBody>
          <a:bodyPr/>
          <a:lstStyle/>
          <a:p>
            <a:fld id="{0890C177-7570-4089-8FC0-8C4B9E489A28}" type="slidenum">
              <a:rPr lang="en-CA" smtClean="0"/>
              <a:t>26</a:t>
            </a:fld>
            <a:endParaRPr lang="en-CA"/>
          </a:p>
        </p:txBody>
      </p:sp>
    </p:spTree>
    <p:extLst>
      <p:ext uri="{BB962C8B-B14F-4D97-AF65-F5344CB8AC3E}">
        <p14:creationId xmlns:p14="http://schemas.microsoft.com/office/powerpoint/2010/main" val="2778915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solutionsdeclik.ca/"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6" name="TextBox 5"/>
          <p:cNvSpPr txBox="1"/>
          <p:nvPr/>
        </p:nvSpPr>
        <p:spPr>
          <a:xfrm>
            <a:off x="1371600" y="5601034"/>
            <a:ext cx="9445752" cy="246221"/>
          </a:xfrm>
          <a:prstGeom prst="rect">
            <a:avLst/>
          </a:prstGeom>
          <a:noFill/>
        </p:spPr>
        <p:txBody>
          <a:bodyPr wrap="square" lIns="0" tIns="0" rIns="0" bIns="0" anchor="ctr">
            <a:spAutoFit/>
          </a:bodyPr>
          <a:lstStyle/>
          <a:p>
            <a:pPr algn="ctr"/>
            <a:r>
              <a:rPr lang="fr-CA" sz="1600" b="1" i="0" noProof="0" dirty="0">
                <a:solidFill>
                  <a:srgbClr val="FF7300"/>
                </a:solidFill>
                <a:latin typeface="Poppins"/>
              </a:rPr>
              <a:t>Mise à jour du 23 juin 2026</a:t>
            </a:r>
          </a:p>
        </p:txBody>
      </p:sp>
      <p:cxnSp>
        <p:nvCxnSpPr>
          <p:cNvPr id="8" name="Connector 7"/>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0" name="TextBox 9"/>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pic>
        <p:nvPicPr>
          <p:cNvPr id="13" name="Image 12">
            <a:extLst>
              <a:ext uri="{FF2B5EF4-FFF2-40B4-BE49-F238E27FC236}">
                <a16:creationId xmlns:a16="http://schemas.microsoft.com/office/drawing/2014/main" id="{F0C1B5B8-C94C-5604-6660-37A66EF3CFA2}"/>
              </a:ext>
            </a:extLst>
          </p:cNvPr>
          <p:cNvPicPr>
            <a:picLocks noChangeAspect="1"/>
          </p:cNvPicPr>
          <p:nvPr/>
        </p:nvPicPr>
        <p:blipFill>
          <a:blip r:embed="rId3"/>
          <a:stretch>
            <a:fillRect/>
          </a:stretch>
        </p:blipFill>
        <p:spPr>
          <a:xfrm>
            <a:off x="2279181" y="613875"/>
            <a:ext cx="7630590" cy="42677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p:cNvSpPr txBox="1"/>
          <p:nvPr/>
        </p:nvSpPr>
        <p:spPr>
          <a:xfrm>
            <a:off x="1024128" y="292608"/>
            <a:ext cx="10698480" cy="731520"/>
          </a:xfrm>
          <a:prstGeom prst="rect">
            <a:avLst/>
          </a:prstGeom>
          <a:noFill/>
        </p:spPr>
        <p:txBody>
          <a:bodyPr wrap="square" lIns="0" tIns="0" rIns="0" bIns="0" anchor="ctr">
            <a:spAutoFit/>
          </a:bodyPr>
          <a:lstStyle/>
          <a:p>
            <a:r>
              <a:rPr lang="fr-CA" sz="2800" b="1" i="0" noProof="0" dirty="0">
                <a:solidFill>
                  <a:srgbClr val="544341"/>
                </a:solidFill>
                <a:latin typeface="Poppins"/>
              </a:rPr>
              <a:t>Accueil et objectifs de la rencontre</a:t>
            </a:r>
          </a:p>
        </p:txBody>
      </p:sp>
      <p:cxnSp>
        <p:nvCxnSpPr>
          <p:cNvPr id="5" name="Connector 4"/>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1481328"/>
            <a:ext cx="3657600" cy="200055"/>
          </a:xfrm>
          <a:prstGeom prst="rect">
            <a:avLst/>
          </a:prstGeom>
          <a:noFill/>
        </p:spPr>
        <p:txBody>
          <a:bodyPr wrap="square" lIns="0" tIns="0" rIns="0" bIns="0" anchor="t">
            <a:spAutoFit/>
          </a:bodyPr>
          <a:lstStyle/>
          <a:p>
            <a:r>
              <a:rPr lang="fr-CA" sz="1300" b="1" noProof="0" dirty="0">
                <a:solidFill>
                  <a:srgbClr val="FF7300"/>
                </a:solidFill>
                <a:latin typeface="Poppins"/>
              </a:rPr>
              <a:t>AGENDA</a:t>
            </a:r>
            <a:endParaRPr lang="fr-CA" sz="1300" b="1" i="0" noProof="0" dirty="0">
              <a:solidFill>
                <a:srgbClr val="FF7300"/>
              </a:solidFill>
              <a:latin typeface="Poppins"/>
            </a:endParaRPr>
          </a:p>
        </p:txBody>
      </p:sp>
      <p:sp>
        <p:nvSpPr>
          <p:cNvPr id="7" name="TextBox 6"/>
          <p:cNvSpPr txBox="1"/>
          <p:nvPr/>
        </p:nvSpPr>
        <p:spPr>
          <a:xfrm>
            <a:off x="457200" y="1874519"/>
            <a:ext cx="10817352" cy="4785862"/>
          </a:xfrm>
          <a:prstGeom prst="rect">
            <a:avLst/>
          </a:prstGeom>
          <a:noFill/>
        </p:spPr>
        <p:txBody>
          <a:bodyPr wrap="square" lIns="0" tIns="0" rIns="0" bIns="0" anchor="t">
            <a:spAutoFit/>
          </a:bodyPr>
          <a:lstStyle/>
          <a:p>
            <a:pPr marL="342900" indent="-342900">
              <a:lnSpc>
                <a:spcPct val="125000"/>
              </a:lnSpc>
              <a:buFont typeface="Arial" panose="020B0604020202020204" pitchFamily="34" charset="0"/>
              <a:buChar char="•"/>
            </a:pPr>
            <a:r>
              <a:rPr lang="fr-CA" sz="1900" noProof="0" dirty="0">
                <a:solidFill>
                  <a:srgbClr val="544341"/>
                </a:solidFill>
                <a:latin typeface="Poppins"/>
              </a:rPr>
              <a:t>Automatiser pour gagner du temps</a:t>
            </a:r>
          </a:p>
          <a:p>
            <a:pPr marL="342900" indent="-342900">
              <a:lnSpc>
                <a:spcPct val="125000"/>
              </a:lnSpc>
              <a:buFont typeface="Arial" panose="020B0604020202020204" pitchFamily="34" charset="0"/>
              <a:buChar char="•"/>
            </a:pPr>
            <a:r>
              <a:rPr lang="fr-CA" sz="1900" noProof="0" dirty="0">
                <a:solidFill>
                  <a:srgbClr val="544341"/>
                </a:solidFill>
                <a:latin typeface="Poppins"/>
              </a:rPr>
              <a:t>Qu’est ce que Projet DOJO?</a:t>
            </a:r>
          </a:p>
          <a:p>
            <a:pPr marL="342900" indent="-342900">
              <a:lnSpc>
                <a:spcPct val="125000"/>
              </a:lnSpc>
              <a:buFont typeface="Arial" panose="020B0604020202020204" pitchFamily="34" charset="0"/>
              <a:buChar char="•"/>
            </a:pPr>
            <a:r>
              <a:rPr lang="fr-CA" sz="1900" noProof="0" dirty="0">
                <a:solidFill>
                  <a:srgbClr val="544341"/>
                </a:solidFill>
                <a:latin typeface="Poppins"/>
              </a:rPr>
              <a:t>Preuve de concept </a:t>
            </a:r>
            <a:r>
              <a:rPr lang="fr-CA" sz="1400" noProof="0" dirty="0">
                <a:solidFill>
                  <a:srgbClr val="544341"/>
                </a:solidFill>
                <a:latin typeface="Poppins"/>
              </a:rPr>
              <a:t>(Phase 1)</a:t>
            </a:r>
          </a:p>
          <a:p>
            <a:pPr marL="342900" indent="-342900">
              <a:lnSpc>
                <a:spcPct val="125000"/>
              </a:lnSpc>
              <a:buFont typeface="Arial" panose="020B0604020202020204" pitchFamily="34" charset="0"/>
              <a:buChar char="•"/>
            </a:pPr>
            <a:r>
              <a:rPr lang="fr-CA" sz="1900" noProof="0" dirty="0">
                <a:solidFill>
                  <a:srgbClr val="544341"/>
                </a:solidFill>
                <a:latin typeface="Poppins"/>
              </a:rPr>
              <a:t>Qui est DANIELSAN?</a:t>
            </a:r>
            <a:endParaRPr lang="fr-CA" sz="1400" noProof="0" dirty="0">
              <a:solidFill>
                <a:srgbClr val="544341"/>
              </a:solidFill>
              <a:latin typeface="Poppins"/>
            </a:endParaRPr>
          </a:p>
          <a:p>
            <a:pPr marL="342900" indent="-342900">
              <a:lnSpc>
                <a:spcPct val="125000"/>
              </a:lnSpc>
              <a:buFont typeface="Arial" panose="020B0604020202020204" pitchFamily="34" charset="0"/>
              <a:buChar char="•"/>
            </a:pPr>
            <a:r>
              <a:rPr lang="fr-CA" sz="1900" noProof="0" dirty="0">
                <a:solidFill>
                  <a:srgbClr val="544341"/>
                </a:solidFill>
                <a:latin typeface="Poppins"/>
              </a:rPr>
              <a:t>Prochaines étapes :</a:t>
            </a:r>
          </a:p>
          <a:p>
            <a:pPr marL="800100" lvl="1" indent="-342900">
              <a:lnSpc>
                <a:spcPct val="125000"/>
              </a:lnSpc>
              <a:buFont typeface="Arial" panose="020B0604020202020204" pitchFamily="34" charset="0"/>
              <a:buChar char="•"/>
            </a:pPr>
            <a:r>
              <a:rPr lang="fr-CA" sz="1400" noProof="0" dirty="0">
                <a:solidFill>
                  <a:srgbClr val="544341"/>
                </a:solidFill>
                <a:latin typeface="Poppins"/>
              </a:rPr>
              <a:t>Valider le périmètre du projet</a:t>
            </a:r>
          </a:p>
          <a:p>
            <a:pPr marL="800100" lvl="1" indent="-342900">
              <a:lnSpc>
                <a:spcPct val="125000"/>
              </a:lnSpc>
              <a:buFont typeface="Arial" panose="020B0604020202020204" pitchFamily="34" charset="0"/>
              <a:buChar char="•"/>
            </a:pPr>
            <a:r>
              <a:rPr lang="fr-CA" sz="1400" noProof="0" dirty="0">
                <a:solidFill>
                  <a:srgbClr val="544341"/>
                </a:solidFill>
                <a:latin typeface="Poppins"/>
              </a:rPr>
              <a:t>Créer un compte Claude Pro</a:t>
            </a:r>
          </a:p>
          <a:p>
            <a:pPr marL="800100" lvl="1" indent="-342900">
              <a:lnSpc>
                <a:spcPct val="125000"/>
              </a:lnSpc>
              <a:buFont typeface="Arial" panose="020B0604020202020204" pitchFamily="34" charset="0"/>
              <a:buChar char="•"/>
            </a:pPr>
            <a:r>
              <a:rPr lang="fr-CA" sz="1400" noProof="0" dirty="0">
                <a:solidFill>
                  <a:srgbClr val="544341"/>
                </a:solidFill>
                <a:latin typeface="Poppins"/>
              </a:rPr>
              <a:t>Développer/migrer le MVP</a:t>
            </a:r>
          </a:p>
          <a:p>
            <a:pPr marL="342900" lvl="1" indent="-342900">
              <a:lnSpc>
                <a:spcPct val="125000"/>
              </a:lnSpc>
              <a:buFont typeface="Arial" panose="020B0604020202020204" pitchFamily="34" charset="0"/>
              <a:buChar char="•"/>
            </a:pPr>
            <a:r>
              <a:rPr lang="fr-CA" sz="1900" noProof="0" dirty="0">
                <a:solidFill>
                  <a:srgbClr val="544341"/>
                </a:solidFill>
                <a:latin typeface="Poppins"/>
              </a:rPr>
              <a:t>Architecture, sécurité &amp; Loi 25</a:t>
            </a:r>
          </a:p>
          <a:p>
            <a:pPr marL="800100" lvl="1" indent="-342900">
              <a:lnSpc>
                <a:spcPct val="125000"/>
              </a:lnSpc>
              <a:buFont typeface="Arial" panose="020B0604020202020204" pitchFamily="34" charset="0"/>
              <a:buChar char="•"/>
            </a:pPr>
            <a:r>
              <a:rPr lang="fr-CA" sz="1400" noProof="0" dirty="0">
                <a:solidFill>
                  <a:srgbClr val="544341"/>
                </a:solidFill>
                <a:latin typeface="Poppins"/>
              </a:rPr>
              <a:t>Produire l’Évaluation des Facteurs relatifs à la Vie Privée</a:t>
            </a:r>
          </a:p>
          <a:p>
            <a:pPr marL="342900" indent="-342900">
              <a:lnSpc>
                <a:spcPct val="125000"/>
              </a:lnSpc>
              <a:buFont typeface="Arial" panose="020B0604020202020204" pitchFamily="34" charset="0"/>
              <a:buChar char="•"/>
            </a:pPr>
            <a:r>
              <a:rPr lang="fr-CA" sz="1900" noProof="0" dirty="0">
                <a:solidFill>
                  <a:srgbClr val="544341"/>
                </a:solidFill>
                <a:latin typeface="Poppins"/>
              </a:rPr>
              <a:t>Décisions pour la suite :</a:t>
            </a:r>
          </a:p>
          <a:p>
            <a:pPr marL="800100" lvl="1" indent="-342900">
              <a:lnSpc>
                <a:spcPct val="125000"/>
              </a:lnSpc>
              <a:buFont typeface="Arial" panose="020B0604020202020204" pitchFamily="34" charset="0"/>
              <a:buChar char="•"/>
            </a:pPr>
            <a:r>
              <a:rPr lang="fr-CA" sz="1400" noProof="0" dirty="0">
                <a:solidFill>
                  <a:srgbClr val="544341"/>
                </a:solidFill>
                <a:latin typeface="Poppins"/>
              </a:rPr>
              <a:t>Échéancier</a:t>
            </a:r>
          </a:p>
          <a:p>
            <a:pPr marL="800100" lvl="1" indent="-342900">
              <a:lnSpc>
                <a:spcPct val="125000"/>
              </a:lnSpc>
              <a:buFont typeface="Arial" panose="020B0604020202020204" pitchFamily="34" charset="0"/>
              <a:buChar char="•"/>
            </a:pPr>
            <a:r>
              <a:rPr lang="fr-CA" sz="1400" noProof="0" dirty="0">
                <a:solidFill>
                  <a:srgbClr val="544341"/>
                </a:solidFill>
                <a:latin typeface="Poppins"/>
              </a:rPr>
              <a:t>RACI</a:t>
            </a:r>
          </a:p>
          <a:p>
            <a:pPr marL="800100" lvl="1" indent="-342900">
              <a:lnSpc>
                <a:spcPct val="125000"/>
              </a:lnSpc>
              <a:buFont typeface="Arial" panose="020B0604020202020204" pitchFamily="34" charset="0"/>
              <a:buChar char="•"/>
            </a:pPr>
            <a:endParaRPr lang="fr-CA" sz="1400" noProof="0" dirty="0">
              <a:solidFill>
                <a:srgbClr val="544341"/>
              </a:solidFill>
              <a:latin typeface="Poppins"/>
            </a:endParaRPr>
          </a:p>
          <a:p>
            <a:pPr marL="800100" lvl="1" indent="-342900">
              <a:lnSpc>
                <a:spcPct val="125000"/>
              </a:lnSpc>
              <a:buFont typeface="Arial" panose="020B0604020202020204" pitchFamily="34" charset="0"/>
              <a:buChar char="•"/>
            </a:pPr>
            <a:endParaRPr lang="fr-CA" sz="1900" noProof="0" dirty="0">
              <a:solidFill>
                <a:srgbClr val="544341"/>
              </a:solidFill>
              <a:latin typeface="Poppins"/>
            </a:endParaRPr>
          </a:p>
        </p:txBody>
      </p:sp>
      <p:cxnSp>
        <p:nvCxnSpPr>
          <p:cNvPr id="9" name="Connector 8"/>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64DD1-7EFA-43BA-134D-0A88CCC9E681}"/>
            </a:ext>
          </a:extLst>
        </p:cNvPr>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F7300"/>
          </a:solidFill>
          <a:ln>
            <a:noFill/>
          </a:ln>
        </p:spPr>
        <p:txBody>
          <a:bodyPr rtlCol="0" anchor="ctr"/>
          <a:lstStyle/>
          <a:p>
            <a:pPr algn="ctr"/>
            <a:endParaRPr lang="fr-CA" noProof="0" dirty="0"/>
          </a:p>
        </p:txBody>
      </p:sp>
      <p:sp>
        <p:nvSpPr>
          <p:cNvPr id="3" name="Accent Line"/>
          <p:cNvSpPr/>
          <p:nvPr/>
        </p:nvSpPr>
        <p:spPr>
          <a:xfrm>
            <a:off x="5638800" y="2606040"/>
            <a:ext cx="914400" cy="68580"/>
          </a:xfrm>
          <a:prstGeom prst="rect">
            <a:avLst/>
          </a:prstGeom>
          <a:solidFill>
            <a:srgbClr val="F9AE00"/>
          </a:solidFill>
          <a:ln>
            <a:noFill/>
          </a:ln>
        </p:spPr>
        <p:txBody>
          <a:bodyPr rtlCol="0" anchor="ctr"/>
          <a:lstStyle/>
          <a:p>
            <a:pPr algn="ctr"/>
            <a:endParaRPr lang="fr-CA" noProof="0" dirty="0"/>
          </a:p>
        </p:txBody>
      </p:sp>
      <p:sp>
        <p:nvSpPr>
          <p:cNvPr id="4" name="Title"/>
          <p:cNvSpPr txBox="1"/>
          <p:nvPr/>
        </p:nvSpPr>
        <p:spPr>
          <a:xfrm>
            <a:off x="1371600" y="2880360"/>
            <a:ext cx="9448800" cy="1097280"/>
          </a:xfrm>
          <a:prstGeom prst="rect">
            <a:avLst/>
          </a:prstGeom>
          <a:noFill/>
        </p:spPr>
        <p:txBody>
          <a:bodyPr wrap="square" lIns="0" tIns="0" rIns="0" bIns="0" anchor="ctr"/>
          <a:lstStyle/>
          <a:p>
            <a:pPr algn="ctr"/>
            <a:r>
              <a:rPr lang="fr-CA" sz="6000" b="1" i="0" noProof="0" dirty="0">
                <a:solidFill>
                  <a:srgbClr val="FFFFFF"/>
                </a:solidFill>
                <a:latin typeface="Poppins"/>
              </a:rPr>
              <a:t>L’opportunité</a:t>
            </a:r>
          </a:p>
        </p:txBody>
      </p:sp>
      <p:sp>
        <p:nvSpPr>
          <p:cNvPr id="10" name="Footer Brand"/>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FFFFFF"/>
                </a:solidFill>
                <a:latin typeface="Poppins"/>
              </a:rPr>
              <a:t>PROJET DOJO — LANCEMENT</a:t>
            </a:r>
          </a:p>
        </p:txBody>
      </p:sp>
      <p:sp>
        <p:nvSpPr>
          <p:cNvPr id="9" name="Footer Dot"/>
          <p:cNvSpPr/>
          <p:nvPr/>
        </p:nvSpPr>
        <p:spPr>
          <a:xfrm>
            <a:off x="457200" y="6437376"/>
            <a:ext cx="146304" cy="146304"/>
          </a:xfrm>
          <a:prstGeom prst="ellipse">
            <a:avLst/>
          </a:prstGeom>
          <a:solidFill>
            <a:srgbClr val="F9AE00"/>
          </a:solidFill>
          <a:ln>
            <a:noFill/>
          </a:ln>
        </p:spPr>
        <p:txBody>
          <a:bodyPr rtlCol="0" anchor="ctr"/>
          <a:lstStyle/>
          <a:p>
            <a:pPr algn="ctr"/>
            <a:endParaRPr lang="fr-CA" noProof="0" dirty="0"/>
          </a:p>
        </p:txBody>
      </p:sp>
    </p:spTree>
    <p:extLst>
      <p:ext uri="{BB962C8B-B14F-4D97-AF65-F5344CB8AC3E}">
        <p14:creationId xmlns:p14="http://schemas.microsoft.com/office/powerpoint/2010/main" val="2332293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74C74-0491-95E7-1B5E-2757AA15E8A5}"/>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40E2252D-366F-47AB-13CF-DE7E036E7A05}"/>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E0A74EA6-13B0-871B-6C76-F384CB9E8B47}"/>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A42C8872-E3FE-5434-38CF-AB4061F02BDD}"/>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noProof="0" dirty="0">
                <a:solidFill>
                  <a:srgbClr val="544341"/>
                </a:solidFill>
                <a:latin typeface="Poppins"/>
              </a:rPr>
              <a:t>Automatiser le développement des affaires</a:t>
            </a:r>
            <a:endParaRPr lang="fr-CA" sz="2800" b="1" i="0" noProof="0" dirty="0">
              <a:solidFill>
                <a:srgbClr val="544341"/>
              </a:solidFill>
              <a:latin typeface="Poppins"/>
            </a:endParaRPr>
          </a:p>
        </p:txBody>
      </p:sp>
      <p:cxnSp>
        <p:nvCxnSpPr>
          <p:cNvPr id="5" name="Connector 4">
            <a:extLst>
              <a:ext uri="{FF2B5EF4-FFF2-40B4-BE49-F238E27FC236}">
                <a16:creationId xmlns:a16="http://schemas.microsoft.com/office/drawing/2014/main" id="{996DF170-F793-9989-8C9B-BF58F6FBAD00}"/>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cxnSp>
        <p:nvCxnSpPr>
          <p:cNvPr id="9" name="Connector 8">
            <a:extLst>
              <a:ext uri="{FF2B5EF4-FFF2-40B4-BE49-F238E27FC236}">
                <a16:creationId xmlns:a16="http://schemas.microsoft.com/office/drawing/2014/main" id="{3B084590-783E-0F0C-69BA-FA0551EE49F2}"/>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285CC26-09A4-4B25-DE4A-BEFE861ACE30}"/>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292F5D2C-F33E-1FAC-D82A-4AEC1B11C768}"/>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BF8EBDBB-1BBE-1F6A-4E02-687226D578EF}"/>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4</a:t>
            </a:r>
          </a:p>
        </p:txBody>
      </p:sp>
      <p:pic>
        <p:nvPicPr>
          <p:cNvPr id="14" name="Image 13">
            <a:extLst>
              <a:ext uri="{FF2B5EF4-FFF2-40B4-BE49-F238E27FC236}">
                <a16:creationId xmlns:a16="http://schemas.microsoft.com/office/drawing/2014/main" id="{4738392D-FE86-C658-040C-5930110B60B5}"/>
              </a:ext>
            </a:extLst>
          </p:cNvPr>
          <p:cNvPicPr>
            <a:picLocks noChangeAspect="1"/>
          </p:cNvPicPr>
          <p:nvPr/>
        </p:nvPicPr>
        <p:blipFill>
          <a:blip r:embed="rId3"/>
          <a:stretch>
            <a:fillRect/>
          </a:stretch>
        </p:blipFill>
        <p:spPr>
          <a:xfrm>
            <a:off x="2412510" y="1450706"/>
            <a:ext cx="7366980" cy="4694063"/>
          </a:xfrm>
          <a:prstGeom prst="rect">
            <a:avLst/>
          </a:prstGeom>
        </p:spPr>
      </p:pic>
    </p:spTree>
    <p:extLst>
      <p:ext uri="{BB962C8B-B14F-4D97-AF65-F5344CB8AC3E}">
        <p14:creationId xmlns:p14="http://schemas.microsoft.com/office/powerpoint/2010/main" val="884448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50EAF-EDBA-F038-27AC-2F01F6DDB3C0}"/>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09C4BEA5-8427-A65C-B96C-C633AA77DD7C}"/>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007FF049-5810-4EF0-BB90-90DF53070FE4}"/>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B66B275F-62A6-3933-4036-DD708B8F09E4}"/>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noProof="0" dirty="0">
                <a:solidFill>
                  <a:srgbClr val="544341"/>
                </a:solidFill>
                <a:latin typeface="Poppins"/>
              </a:rPr>
              <a:t>Automatiser quoi ?</a:t>
            </a:r>
          </a:p>
        </p:txBody>
      </p:sp>
      <p:cxnSp>
        <p:nvCxnSpPr>
          <p:cNvPr id="5" name="Connector 4">
            <a:extLst>
              <a:ext uri="{FF2B5EF4-FFF2-40B4-BE49-F238E27FC236}">
                <a16:creationId xmlns:a16="http://schemas.microsoft.com/office/drawing/2014/main" id="{33423DA9-CF33-96E4-710B-8487C60E1DC9}"/>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cxnSp>
        <p:nvCxnSpPr>
          <p:cNvPr id="9" name="Connector 8">
            <a:extLst>
              <a:ext uri="{FF2B5EF4-FFF2-40B4-BE49-F238E27FC236}">
                <a16:creationId xmlns:a16="http://schemas.microsoft.com/office/drawing/2014/main" id="{737B1342-FC64-3CD9-9930-44C91D219BF0}"/>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342F64B2-BCA3-E232-2C19-C165A3BF1A08}"/>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B372D04E-C62B-BB8F-506B-8D10B62EE88C}"/>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F4B226BA-CC86-69BC-336C-B8101CAE23B7}"/>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5</a:t>
            </a:r>
          </a:p>
        </p:txBody>
      </p:sp>
      <p:pic>
        <p:nvPicPr>
          <p:cNvPr id="7" name="Image 6">
            <a:extLst>
              <a:ext uri="{FF2B5EF4-FFF2-40B4-BE49-F238E27FC236}">
                <a16:creationId xmlns:a16="http://schemas.microsoft.com/office/drawing/2014/main" id="{750BF632-8D56-D875-D597-19826F0F7CB8}"/>
              </a:ext>
            </a:extLst>
          </p:cNvPr>
          <p:cNvPicPr>
            <a:picLocks noChangeAspect="1"/>
          </p:cNvPicPr>
          <p:nvPr/>
        </p:nvPicPr>
        <p:blipFill>
          <a:blip r:embed="rId3"/>
          <a:stretch>
            <a:fillRect/>
          </a:stretch>
        </p:blipFill>
        <p:spPr>
          <a:xfrm>
            <a:off x="892271" y="1437796"/>
            <a:ext cx="10407152" cy="4622488"/>
          </a:xfrm>
          <a:prstGeom prst="roundRect">
            <a:avLst>
              <a:gd name="adj" fmla="val 5212"/>
            </a:avLst>
          </a:prstGeom>
        </p:spPr>
      </p:pic>
    </p:spTree>
    <p:extLst>
      <p:ext uri="{BB962C8B-B14F-4D97-AF65-F5344CB8AC3E}">
        <p14:creationId xmlns:p14="http://schemas.microsoft.com/office/powerpoint/2010/main" val="1115809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93E42-EDE3-20C4-69E5-F9EAB51C25AD}"/>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383547A6-C3A0-86A5-E6F1-B34582FF786E}"/>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B84E2E0F-6867-311D-52B6-9D10514648FB}"/>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F5F8E3D5-723A-C97F-6C1A-D92885ABC90E}"/>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noProof="0" dirty="0">
                <a:solidFill>
                  <a:srgbClr val="544341"/>
                </a:solidFill>
                <a:latin typeface="Poppins"/>
              </a:rPr>
              <a:t>Qu’est-ce que Projet DOJO ?</a:t>
            </a:r>
            <a:endParaRPr lang="fr-CA" sz="2800" b="1" i="0" noProof="0" dirty="0">
              <a:solidFill>
                <a:srgbClr val="544341"/>
              </a:solidFill>
              <a:latin typeface="Poppins"/>
            </a:endParaRPr>
          </a:p>
        </p:txBody>
      </p:sp>
      <p:cxnSp>
        <p:nvCxnSpPr>
          <p:cNvPr id="5" name="Connector 4">
            <a:extLst>
              <a:ext uri="{FF2B5EF4-FFF2-40B4-BE49-F238E27FC236}">
                <a16:creationId xmlns:a16="http://schemas.microsoft.com/office/drawing/2014/main" id="{643CE9C9-DE4F-8D42-99DF-396C43DB833A}"/>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cxnSp>
        <p:nvCxnSpPr>
          <p:cNvPr id="9" name="Connector 8">
            <a:extLst>
              <a:ext uri="{FF2B5EF4-FFF2-40B4-BE49-F238E27FC236}">
                <a16:creationId xmlns:a16="http://schemas.microsoft.com/office/drawing/2014/main" id="{2DF96D90-18A4-8B78-103A-3FAF8BB49B33}"/>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17E1E517-6AB9-9165-F6B3-E2E99FBFC03D}"/>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CDEB8EEF-D67D-268E-5388-B847ABFCAF2C}"/>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42F57EF3-041F-B0F8-C409-AE88AAC75FCC}"/>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6</a:t>
            </a:r>
          </a:p>
        </p:txBody>
      </p:sp>
      <p:pic>
        <p:nvPicPr>
          <p:cNvPr id="8" name="Image 7">
            <a:extLst>
              <a:ext uri="{FF2B5EF4-FFF2-40B4-BE49-F238E27FC236}">
                <a16:creationId xmlns:a16="http://schemas.microsoft.com/office/drawing/2014/main" id="{D6DE2511-11FE-E938-ED34-4EA40FD37637}"/>
              </a:ext>
            </a:extLst>
          </p:cNvPr>
          <p:cNvPicPr>
            <a:picLocks noChangeAspect="1"/>
          </p:cNvPicPr>
          <p:nvPr/>
        </p:nvPicPr>
        <p:blipFill>
          <a:blip r:embed="rId3"/>
          <a:stretch>
            <a:fillRect/>
          </a:stretch>
        </p:blipFill>
        <p:spPr>
          <a:xfrm>
            <a:off x="1934638" y="1377566"/>
            <a:ext cx="8322724" cy="4913506"/>
          </a:xfrm>
          <a:prstGeom prst="rect">
            <a:avLst/>
          </a:prstGeom>
        </p:spPr>
      </p:pic>
    </p:spTree>
    <p:extLst>
      <p:ext uri="{BB962C8B-B14F-4D97-AF65-F5344CB8AC3E}">
        <p14:creationId xmlns:p14="http://schemas.microsoft.com/office/powerpoint/2010/main" val="374037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F1451-99DF-F0DC-A791-54C48B81629C}"/>
            </a:ext>
          </a:extLst>
        </p:cNvPr>
        <p:cNvGrpSpPr/>
        <p:nvPr/>
      </p:nvGrpSpPr>
      <p:grpSpPr>
        <a:xfrm>
          <a:off x="0" y="0"/>
          <a:ext cx="0" cy="0"/>
          <a:chOff x="0" y="0"/>
          <a:chExt cx="0" cy="0"/>
        </a:xfrm>
      </p:grpSpPr>
      <p:sp>
        <p:nvSpPr>
          <p:cNvPr id="2" name="Background">
            <a:extLst>
              <a:ext uri="{FF2B5EF4-FFF2-40B4-BE49-F238E27FC236}">
                <a16:creationId xmlns:a16="http://schemas.microsoft.com/office/drawing/2014/main" id="{EC5DFED1-9DCB-679A-D5EC-6DB3E965CA53}"/>
              </a:ext>
            </a:extLst>
          </p:cNvPr>
          <p:cNvSpPr/>
          <p:nvPr/>
        </p:nvSpPr>
        <p:spPr>
          <a:xfrm>
            <a:off x="0" y="0"/>
            <a:ext cx="12192000" cy="6858000"/>
          </a:xfrm>
          <a:prstGeom prst="rect">
            <a:avLst/>
          </a:prstGeom>
          <a:solidFill>
            <a:srgbClr val="ADD6C9"/>
          </a:solidFill>
          <a:ln>
            <a:noFill/>
          </a:ln>
        </p:spPr>
        <p:txBody>
          <a:bodyPr rtlCol="0" anchor="ctr"/>
          <a:lstStyle/>
          <a:p>
            <a:pPr algn="ctr"/>
            <a:endParaRPr lang="fr-CA" noProof="0" dirty="0"/>
          </a:p>
        </p:txBody>
      </p:sp>
      <p:sp>
        <p:nvSpPr>
          <p:cNvPr id="3" name="Accent Line">
            <a:extLst>
              <a:ext uri="{FF2B5EF4-FFF2-40B4-BE49-F238E27FC236}">
                <a16:creationId xmlns:a16="http://schemas.microsoft.com/office/drawing/2014/main" id="{138D76AE-517A-2DF4-8640-A253149B00B8}"/>
              </a:ext>
            </a:extLst>
          </p:cNvPr>
          <p:cNvSpPr/>
          <p:nvPr/>
        </p:nvSpPr>
        <p:spPr>
          <a:xfrm>
            <a:off x="5638800" y="2606040"/>
            <a:ext cx="914400" cy="68580"/>
          </a:xfrm>
          <a:prstGeom prst="rect">
            <a:avLst/>
          </a:prstGeom>
          <a:solidFill>
            <a:srgbClr val="F9AE00"/>
          </a:solidFill>
          <a:ln>
            <a:noFill/>
          </a:ln>
        </p:spPr>
        <p:txBody>
          <a:bodyPr rtlCol="0" anchor="ctr"/>
          <a:lstStyle/>
          <a:p>
            <a:pPr algn="ctr"/>
            <a:endParaRPr lang="fr-CA" noProof="0" dirty="0"/>
          </a:p>
        </p:txBody>
      </p:sp>
      <p:sp>
        <p:nvSpPr>
          <p:cNvPr id="4" name="Title">
            <a:extLst>
              <a:ext uri="{FF2B5EF4-FFF2-40B4-BE49-F238E27FC236}">
                <a16:creationId xmlns:a16="http://schemas.microsoft.com/office/drawing/2014/main" id="{87C1146B-CB31-431E-7726-B6D95F5215D0}"/>
              </a:ext>
            </a:extLst>
          </p:cNvPr>
          <p:cNvSpPr txBox="1"/>
          <p:nvPr/>
        </p:nvSpPr>
        <p:spPr>
          <a:xfrm>
            <a:off x="1371600" y="2880360"/>
            <a:ext cx="9448800" cy="1563821"/>
          </a:xfrm>
          <a:prstGeom prst="rect">
            <a:avLst/>
          </a:prstGeom>
          <a:solidFill>
            <a:srgbClr val="ADD6C9"/>
          </a:solidFill>
        </p:spPr>
        <p:txBody>
          <a:bodyPr wrap="square" lIns="0" tIns="0" rIns="0" bIns="0" anchor="ctr"/>
          <a:lstStyle/>
          <a:p>
            <a:pPr algn="ctr"/>
            <a:r>
              <a:rPr lang="fr-CA" sz="6000" b="1" noProof="0" dirty="0">
                <a:solidFill>
                  <a:srgbClr val="FFFFFF"/>
                </a:solidFill>
                <a:latin typeface="Poppins"/>
              </a:rPr>
              <a:t>Preuve de concept</a:t>
            </a:r>
            <a:br>
              <a:rPr lang="fr-CA" sz="6000" b="1" noProof="0" dirty="0">
                <a:solidFill>
                  <a:srgbClr val="FFFFFF"/>
                </a:solidFill>
                <a:latin typeface="Poppins"/>
              </a:rPr>
            </a:br>
            <a:r>
              <a:rPr lang="fr-CA" sz="3600" b="1" noProof="0" dirty="0">
                <a:solidFill>
                  <a:srgbClr val="FFFFFF"/>
                </a:solidFill>
                <a:latin typeface="Poppins"/>
              </a:rPr>
              <a:t>Phase 1</a:t>
            </a:r>
            <a:endParaRPr lang="fr-CA" sz="3600" b="1" i="0" noProof="0" dirty="0">
              <a:solidFill>
                <a:srgbClr val="FFFFFF"/>
              </a:solidFill>
              <a:latin typeface="Poppins"/>
            </a:endParaRPr>
          </a:p>
        </p:txBody>
      </p:sp>
      <p:sp>
        <p:nvSpPr>
          <p:cNvPr id="10" name="Footer Brand">
            <a:extLst>
              <a:ext uri="{FF2B5EF4-FFF2-40B4-BE49-F238E27FC236}">
                <a16:creationId xmlns:a16="http://schemas.microsoft.com/office/drawing/2014/main" id="{038A39C0-953B-EBAF-D2C8-76AE4D4CDDD2}"/>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FFFFFF"/>
                </a:solidFill>
                <a:latin typeface="Poppins"/>
              </a:rPr>
              <a:t>PROJET DOJO — LANCEMENT</a:t>
            </a:r>
          </a:p>
        </p:txBody>
      </p:sp>
      <p:sp>
        <p:nvSpPr>
          <p:cNvPr id="9" name="Footer Dot">
            <a:extLst>
              <a:ext uri="{FF2B5EF4-FFF2-40B4-BE49-F238E27FC236}">
                <a16:creationId xmlns:a16="http://schemas.microsoft.com/office/drawing/2014/main" id="{2C2AF825-B377-92EB-A8CF-7132A54A39B3}"/>
              </a:ext>
            </a:extLst>
          </p:cNvPr>
          <p:cNvSpPr/>
          <p:nvPr/>
        </p:nvSpPr>
        <p:spPr>
          <a:xfrm>
            <a:off x="457200" y="6437376"/>
            <a:ext cx="146304" cy="146304"/>
          </a:xfrm>
          <a:prstGeom prst="ellipse">
            <a:avLst/>
          </a:prstGeom>
          <a:solidFill>
            <a:srgbClr val="F9AE00"/>
          </a:solidFill>
          <a:ln>
            <a:noFill/>
          </a:ln>
        </p:spPr>
        <p:txBody>
          <a:bodyPr rtlCol="0" anchor="ctr"/>
          <a:lstStyle/>
          <a:p>
            <a:pPr algn="ctr"/>
            <a:endParaRPr lang="fr-CA" noProof="0" dirty="0"/>
          </a:p>
        </p:txBody>
      </p:sp>
    </p:spTree>
    <p:extLst>
      <p:ext uri="{BB962C8B-B14F-4D97-AF65-F5344CB8AC3E}">
        <p14:creationId xmlns:p14="http://schemas.microsoft.com/office/powerpoint/2010/main" val="4052318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p:cNvSpPr txBox="1"/>
          <p:nvPr/>
        </p:nvSpPr>
        <p:spPr>
          <a:xfrm>
            <a:off x="1024128" y="442924"/>
            <a:ext cx="10698480" cy="430887"/>
          </a:xfrm>
          <a:prstGeom prst="rect">
            <a:avLst/>
          </a:prstGeom>
          <a:noFill/>
        </p:spPr>
        <p:txBody>
          <a:bodyPr wrap="square" lIns="0" tIns="0" rIns="0" bIns="0" anchor="ctr">
            <a:spAutoFit/>
          </a:bodyPr>
          <a:lstStyle/>
          <a:p>
            <a:r>
              <a:rPr lang="fr-CA" sz="2800" b="1" i="0" noProof="0" dirty="0">
                <a:solidFill>
                  <a:srgbClr val="544341"/>
                </a:solidFill>
                <a:latin typeface="Poppins"/>
              </a:rPr>
              <a:t>Preuve de concept : Phase 1</a:t>
            </a:r>
          </a:p>
        </p:txBody>
      </p:sp>
      <p:cxnSp>
        <p:nvCxnSpPr>
          <p:cNvPr id="5" name="Connector 4"/>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8</a:t>
            </a:r>
          </a:p>
        </p:txBody>
      </p:sp>
      <p:pic>
        <p:nvPicPr>
          <p:cNvPr id="16" name="Image 15">
            <a:extLst>
              <a:ext uri="{FF2B5EF4-FFF2-40B4-BE49-F238E27FC236}">
                <a16:creationId xmlns:a16="http://schemas.microsoft.com/office/drawing/2014/main" id="{B8D51B32-52C2-7EF1-F271-25F83395BC72}"/>
              </a:ext>
            </a:extLst>
          </p:cNvPr>
          <p:cNvPicPr>
            <a:picLocks noChangeAspect="1"/>
          </p:cNvPicPr>
          <p:nvPr/>
        </p:nvPicPr>
        <p:blipFill>
          <a:blip r:embed="rId3"/>
          <a:stretch>
            <a:fillRect/>
          </a:stretch>
        </p:blipFill>
        <p:spPr>
          <a:xfrm>
            <a:off x="3809528" y="1758037"/>
            <a:ext cx="4572638" cy="39820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D76F2-9FCC-0BAE-FEF5-C8F8E6E53DA3}"/>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FF05B730-B477-E974-D894-BB46A66E6531}"/>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945C8B8E-E38E-3FB6-903E-2C7CE7DA8364}"/>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AFCB28B5-59B7-A289-5D6A-5039669480BE}"/>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i="0" noProof="0" dirty="0">
                <a:solidFill>
                  <a:srgbClr val="544341"/>
                </a:solidFill>
                <a:latin typeface="Poppins"/>
              </a:rPr>
              <a:t>Preuve de concept : Phase 1</a:t>
            </a:r>
          </a:p>
        </p:txBody>
      </p:sp>
      <p:cxnSp>
        <p:nvCxnSpPr>
          <p:cNvPr id="5" name="Connector 4">
            <a:extLst>
              <a:ext uri="{FF2B5EF4-FFF2-40B4-BE49-F238E27FC236}">
                <a16:creationId xmlns:a16="http://schemas.microsoft.com/office/drawing/2014/main" id="{3046A40D-0BDE-4CD0-659D-7AF094A638C7}"/>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cxnSp>
        <p:nvCxnSpPr>
          <p:cNvPr id="9" name="Connector 8">
            <a:extLst>
              <a:ext uri="{FF2B5EF4-FFF2-40B4-BE49-F238E27FC236}">
                <a16:creationId xmlns:a16="http://schemas.microsoft.com/office/drawing/2014/main" id="{54C68262-144A-8DC8-CB41-41BC4B97B852}"/>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306B2A52-B200-AE0B-FD3F-DA33C38E099D}"/>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3AFBA347-7A66-0A06-8550-636C18095D45}"/>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960E924E-9B9C-9EEF-A7CE-759DFFB09C49}"/>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9</a:t>
            </a:r>
          </a:p>
        </p:txBody>
      </p:sp>
      <p:pic>
        <p:nvPicPr>
          <p:cNvPr id="8" name="Image 7">
            <a:extLst>
              <a:ext uri="{FF2B5EF4-FFF2-40B4-BE49-F238E27FC236}">
                <a16:creationId xmlns:a16="http://schemas.microsoft.com/office/drawing/2014/main" id="{ADCBAA53-992E-AE8B-CA20-D9109BFC4E01}"/>
              </a:ext>
            </a:extLst>
          </p:cNvPr>
          <p:cNvPicPr>
            <a:picLocks noChangeAspect="1"/>
          </p:cNvPicPr>
          <p:nvPr/>
        </p:nvPicPr>
        <p:blipFill>
          <a:blip r:embed="rId3"/>
          <a:stretch>
            <a:fillRect/>
          </a:stretch>
        </p:blipFill>
        <p:spPr>
          <a:xfrm>
            <a:off x="3719181" y="1953327"/>
            <a:ext cx="4753638" cy="3591426"/>
          </a:xfrm>
          <a:prstGeom prst="rect">
            <a:avLst/>
          </a:prstGeom>
        </p:spPr>
      </p:pic>
    </p:spTree>
    <p:extLst>
      <p:ext uri="{BB962C8B-B14F-4D97-AF65-F5344CB8AC3E}">
        <p14:creationId xmlns:p14="http://schemas.microsoft.com/office/powerpoint/2010/main" val="3923163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3CF3A-678B-E412-7BF8-64DB86C82EB9}"/>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A01D8E04-99B7-3677-FD1C-3F36683E3C8B}"/>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91EDCA47-7607-FCEA-D002-DE5A4386AD4E}"/>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CFE75111-37B9-F21C-9508-62D5EDF2942F}"/>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i="0" noProof="0" dirty="0">
                <a:solidFill>
                  <a:srgbClr val="544341"/>
                </a:solidFill>
                <a:latin typeface="Poppins"/>
              </a:rPr>
              <a:t>Preuve de concept : Phase 1</a:t>
            </a:r>
          </a:p>
        </p:txBody>
      </p:sp>
      <p:cxnSp>
        <p:nvCxnSpPr>
          <p:cNvPr id="5" name="Connector 4">
            <a:extLst>
              <a:ext uri="{FF2B5EF4-FFF2-40B4-BE49-F238E27FC236}">
                <a16:creationId xmlns:a16="http://schemas.microsoft.com/office/drawing/2014/main" id="{87F141B3-71CF-B78C-82C2-2E9EC2C37AE6}"/>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cxnSp>
        <p:nvCxnSpPr>
          <p:cNvPr id="9" name="Connector 8">
            <a:extLst>
              <a:ext uri="{FF2B5EF4-FFF2-40B4-BE49-F238E27FC236}">
                <a16:creationId xmlns:a16="http://schemas.microsoft.com/office/drawing/2014/main" id="{D14F2EE6-2927-B946-88A2-A7A06AA7F766}"/>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8DE5002D-DB09-8B6A-6A1A-6A3E29D136E4}"/>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F6309F40-E9D7-3C7D-A8D5-E2D835B1CBA8}"/>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CA5D4A19-65C0-34AC-A2BD-EE4A5D866692}"/>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10</a:t>
            </a:r>
          </a:p>
        </p:txBody>
      </p:sp>
      <p:pic>
        <p:nvPicPr>
          <p:cNvPr id="8" name="Image 7">
            <a:extLst>
              <a:ext uri="{FF2B5EF4-FFF2-40B4-BE49-F238E27FC236}">
                <a16:creationId xmlns:a16="http://schemas.microsoft.com/office/drawing/2014/main" id="{6AF1F1A9-641D-5F00-B304-41505A509040}"/>
              </a:ext>
            </a:extLst>
          </p:cNvPr>
          <p:cNvPicPr>
            <a:picLocks noChangeAspect="1"/>
          </p:cNvPicPr>
          <p:nvPr/>
        </p:nvPicPr>
        <p:blipFill>
          <a:blip r:embed="rId3"/>
          <a:stretch>
            <a:fillRect/>
          </a:stretch>
        </p:blipFill>
        <p:spPr>
          <a:xfrm>
            <a:off x="3804918" y="1758037"/>
            <a:ext cx="4582164" cy="3982006"/>
          </a:xfrm>
          <a:prstGeom prst="rect">
            <a:avLst/>
          </a:prstGeom>
        </p:spPr>
      </p:pic>
    </p:spTree>
    <p:extLst>
      <p:ext uri="{BB962C8B-B14F-4D97-AF65-F5344CB8AC3E}">
        <p14:creationId xmlns:p14="http://schemas.microsoft.com/office/powerpoint/2010/main" val="3740571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3858B-7DD0-66C5-4EDD-485658672584}"/>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FB70DF56-D3E6-92EB-746A-8F47C90788D1}"/>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9AD787A9-E8AF-E856-2C6E-A91C668059A5}"/>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1D887B42-D495-906C-478F-922AD18A5531}"/>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i="0" noProof="0" dirty="0">
                <a:solidFill>
                  <a:srgbClr val="544341"/>
                </a:solidFill>
                <a:latin typeface="Poppins"/>
              </a:rPr>
              <a:t>Preuve de concept : Phase 1</a:t>
            </a:r>
          </a:p>
        </p:txBody>
      </p:sp>
      <p:cxnSp>
        <p:nvCxnSpPr>
          <p:cNvPr id="5" name="Connector 4">
            <a:extLst>
              <a:ext uri="{FF2B5EF4-FFF2-40B4-BE49-F238E27FC236}">
                <a16:creationId xmlns:a16="http://schemas.microsoft.com/office/drawing/2014/main" id="{6CCEEA4F-F441-039C-AA46-31E3AE457D13}"/>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cxnSp>
        <p:nvCxnSpPr>
          <p:cNvPr id="9" name="Connector 8">
            <a:extLst>
              <a:ext uri="{FF2B5EF4-FFF2-40B4-BE49-F238E27FC236}">
                <a16:creationId xmlns:a16="http://schemas.microsoft.com/office/drawing/2014/main" id="{A7C49AB2-3622-4DB9-D25D-54138D575BAC}"/>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3AA08CE8-AB4A-0FE9-638C-0D567AC6BAB5}"/>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720FE899-BCF0-DB29-2608-4B70FB6BF02A}"/>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AA76C5CB-94DE-9844-231C-C54D366C8C8B}"/>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11</a:t>
            </a:r>
          </a:p>
        </p:txBody>
      </p:sp>
      <p:pic>
        <p:nvPicPr>
          <p:cNvPr id="7" name="Image 6">
            <a:extLst>
              <a:ext uri="{FF2B5EF4-FFF2-40B4-BE49-F238E27FC236}">
                <a16:creationId xmlns:a16="http://schemas.microsoft.com/office/drawing/2014/main" id="{ED089835-0F56-736C-E329-F2746E28D75E}"/>
              </a:ext>
            </a:extLst>
          </p:cNvPr>
          <p:cNvPicPr>
            <a:picLocks noChangeAspect="1"/>
          </p:cNvPicPr>
          <p:nvPr/>
        </p:nvPicPr>
        <p:blipFill>
          <a:blip r:embed="rId3"/>
          <a:stretch>
            <a:fillRect/>
          </a:stretch>
        </p:blipFill>
        <p:spPr>
          <a:xfrm>
            <a:off x="3551157" y="1628147"/>
            <a:ext cx="5644421" cy="4241786"/>
          </a:xfrm>
          <a:prstGeom prst="rect">
            <a:avLst/>
          </a:prstGeom>
        </p:spPr>
      </p:pic>
    </p:spTree>
    <p:extLst>
      <p:ext uri="{BB962C8B-B14F-4D97-AF65-F5344CB8AC3E}">
        <p14:creationId xmlns:p14="http://schemas.microsoft.com/office/powerpoint/2010/main" val="769847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52D20-8869-35C6-387E-A11F0DE1FB16}"/>
            </a:ext>
          </a:extLst>
        </p:cNvPr>
        <p:cNvGrpSpPr/>
        <p:nvPr/>
      </p:nvGrpSpPr>
      <p:grpSpPr>
        <a:xfrm>
          <a:off x="0" y="0"/>
          <a:ext cx="0" cy="0"/>
          <a:chOff x="0" y="0"/>
          <a:chExt cx="0" cy="0"/>
        </a:xfrm>
      </p:grpSpPr>
      <p:sp>
        <p:nvSpPr>
          <p:cNvPr id="2" name="Background">
            <a:extLst>
              <a:ext uri="{FF2B5EF4-FFF2-40B4-BE49-F238E27FC236}">
                <a16:creationId xmlns:a16="http://schemas.microsoft.com/office/drawing/2014/main" id="{CD311CD6-39DB-F741-ED0E-00AC5081C283}"/>
              </a:ext>
            </a:extLst>
          </p:cNvPr>
          <p:cNvSpPr/>
          <p:nvPr/>
        </p:nvSpPr>
        <p:spPr>
          <a:xfrm>
            <a:off x="0" y="0"/>
            <a:ext cx="12192000" cy="6858000"/>
          </a:xfrm>
          <a:prstGeom prst="rect">
            <a:avLst/>
          </a:prstGeom>
          <a:solidFill>
            <a:srgbClr val="544341"/>
          </a:solidFill>
          <a:ln>
            <a:noFill/>
          </a:ln>
        </p:spPr>
        <p:txBody>
          <a:bodyPr rtlCol="0" anchor="ctr"/>
          <a:lstStyle/>
          <a:p>
            <a:pPr algn="ctr"/>
            <a:endParaRPr lang="fr-CA" noProof="0" dirty="0"/>
          </a:p>
        </p:txBody>
      </p:sp>
      <p:sp>
        <p:nvSpPr>
          <p:cNvPr id="3" name="Accent Line">
            <a:extLst>
              <a:ext uri="{FF2B5EF4-FFF2-40B4-BE49-F238E27FC236}">
                <a16:creationId xmlns:a16="http://schemas.microsoft.com/office/drawing/2014/main" id="{52517E58-9BEE-7BCF-EBA2-577EA179C1B9}"/>
              </a:ext>
            </a:extLst>
          </p:cNvPr>
          <p:cNvSpPr/>
          <p:nvPr/>
        </p:nvSpPr>
        <p:spPr>
          <a:xfrm>
            <a:off x="5638800" y="2606040"/>
            <a:ext cx="914400" cy="68580"/>
          </a:xfrm>
          <a:prstGeom prst="rect">
            <a:avLst/>
          </a:prstGeom>
          <a:solidFill>
            <a:srgbClr val="F9AE00"/>
          </a:solidFill>
          <a:ln>
            <a:noFill/>
          </a:ln>
        </p:spPr>
        <p:txBody>
          <a:bodyPr rtlCol="0" anchor="ctr"/>
          <a:lstStyle/>
          <a:p>
            <a:pPr algn="ctr"/>
            <a:endParaRPr lang="fr-CA" noProof="0" dirty="0"/>
          </a:p>
        </p:txBody>
      </p:sp>
      <p:sp>
        <p:nvSpPr>
          <p:cNvPr id="4" name="Title">
            <a:extLst>
              <a:ext uri="{FF2B5EF4-FFF2-40B4-BE49-F238E27FC236}">
                <a16:creationId xmlns:a16="http://schemas.microsoft.com/office/drawing/2014/main" id="{749BA549-F935-4890-55BE-0AD9FD51F283}"/>
              </a:ext>
            </a:extLst>
          </p:cNvPr>
          <p:cNvSpPr txBox="1"/>
          <p:nvPr/>
        </p:nvSpPr>
        <p:spPr>
          <a:xfrm>
            <a:off x="1371600" y="2880360"/>
            <a:ext cx="9448800" cy="1303021"/>
          </a:xfrm>
          <a:prstGeom prst="rect">
            <a:avLst/>
          </a:prstGeom>
          <a:noFill/>
        </p:spPr>
        <p:txBody>
          <a:bodyPr wrap="square" lIns="0" tIns="0" rIns="0" bIns="0" anchor="ctr"/>
          <a:lstStyle/>
          <a:p>
            <a:pPr algn="ctr"/>
            <a:r>
              <a:rPr lang="fr-CA" sz="6000" b="1" noProof="0" dirty="0">
                <a:solidFill>
                  <a:srgbClr val="FFFFFF"/>
                </a:solidFill>
                <a:latin typeface="Poppins"/>
              </a:rPr>
              <a:t>DANIELSAN</a:t>
            </a:r>
            <a:endParaRPr lang="fr-CA" sz="6000" b="1" i="0" noProof="0" dirty="0">
              <a:solidFill>
                <a:srgbClr val="FFFFFF"/>
              </a:solidFill>
              <a:latin typeface="Poppins"/>
            </a:endParaRPr>
          </a:p>
        </p:txBody>
      </p:sp>
      <p:sp>
        <p:nvSpPr>
          <p:cNvPr id="10" name="Footer Brand">
            <a:extLst>
              <a:ext uri="{FF2B5EF4-FFF2-40B4-BE49-F238E27FC236}">
                <a16:creationId xmlns:a16="http://schemas.microsoft.com/office/drawing/2014/main" id="{6BB73EDF-740F-BA0C-8AA1-3F5A3C1432EA}"/>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FFFFFF"/>
                </a:solidFill>
                <a:latin typeface="Poppins"/>
              </a:rPr>
              <a:t>PROJET DOJO — LANCEMENT</a:t>
            </a:r>
          </a:p>
        </p:txBody>
      </p:sp>
      <p:sp>
        <p:nvSpPr>
          <p:cNvPr id="9" name="Footer Dot">
            <a:extLst>
              <a:ext uri="{FF2B5EF4-FFF2-40B4-BE49-F238E27FC236}">
                <a16:creationId xmlns:a16="http://schemas.microsoft.com/office/drawing/2014/main" id="{32883332-5D93-72F1-3480-C406CFCF597E}"/>
              </a:ext>
            </a:extLst>
          </p:cNvPr>
          <p:cNvSpPr/>
          <p:nvPr/>
        </p:nvSpPr>
        <p:spPr>
          <a:xfrm>
            <a:off x="457200" y="6437376"/>
            <a:ext cx="146304" cy="146304"/>
          </a:xfrm>
          <a:prstGeom prst="ellipse">
            <a:avLst/>
          </a:prstGeom>
          <a:solidFill>
            <a:srgbClr val="F9AE00"/>
          </a:solidFill>
          <a:ln>
            <a:noFill/>
          </a:ln>
        </p:spPr>
        <p:txBody>
          <a:bodyPr rtlCol="0" anchor="ctr"/>
          <a:lstStyle/>
          <a:p>
            <a:pPr algn="ctr"/>
            <a:endParaRPr lang="fr-CA" noProof="0" dirty="0"/>
          </a:p>
        </p:txBody>
      </p:sp>
    </p:spTree>
    <p:extLst>
      <p:ext uri="{BB962C8B-B14F-4D97-AF65-F5344CB8AC3E}">
        <p14:creationId xmlns:p14="http://schemas.microsoft.com/office/powerpoint/2010/main" val="4260667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823AE-29D3-677B-89BD-26A3928609ED}"/>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5B19135E-ABD8-1711-34DB-0A31CE9D3CE2}"/>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C808AF45-0B77-98A8-A991-373A7AF52ABE}"/>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56C7EC3D-E83D-06C2-3F70-DB7D2D463DA6}"/>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noProof="0" dirty="0">
                <a:solidFill>
                  <a:srgbClr val="544341"/>
                </a:solidFill>
                <a:latin typeface="Poppins"/>
              </a:rPr>
              <a:t>Qui est DANIELSAN ?</a:t>
            </a:r>
            <a:endParaRPr lang="fr-CA" sz="2800" b="1" i="0" noProof="0" dirty="0">
              <a:solidFill>
                <a:srgbClr val="544341"/>
              </a:solidFill>
              <a:latin typeface="Poppins"/>
            </a:endParaRPr>
          </a:p>
        </p:txBody>
      </p:sp>
      <p:cxnSp>
        <p:nvCxnSpPr>
          <p:cNvPr id="5" name="Connector 4">
            <a:extLst>
              <a:ext uri="{FF2B5EF4-FFF2-40B4-BE49-F238E27FC236}">
                <a16:creationId xmlns:a16="http://schemas.microsoft.com/office/drawing/2014/main" id="{EC38D7A9-84D4-93D1-3922-3F6A42C35671}"/>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B1D8CC8-1C1C-8F27-1EF7-37E367185B33}"/>
              </a:ext>
            </a:extLst>
          </p:cNvPr>
          <p:cNvSpPr txBox="1"/>
          <p:nvPr/>
        </p:nvSpPr>
        <p:spPr>
          <a:xfrm>
            <a:off x="457200" y="1481328"/>
            <a:ext cx="3657600" cy="320040"/>
          </a:xfrm>
          <a:prstGeom prst="rect">
            <a:avLst/>
          </a:prstGeom>
          <a:noFill/>
        </p:spPr>
        <p:txBody>
          <a:bodyPr wrap="square" lIns="0" tIns="0" rIns="0" bIns="0" anchor="t">
            <a:spAutoFit/>
          </a:bodyPr>
          <a:lstStyle/>
          <a:p>
            <a:r>
              <a:rPr lang="fr-CA" sz="1300" b="1" i="0" noProof="0" dirty="0">
                <a:solidFill>
                  <a:srgbClr val="FF7300"/>
                </a:solidFill>
                <a:latin typeface="Poppins"/>
              </a:rPr>
              <a:t>OBJECTIF</a:t>
            </a:r>
          </a:p>
        </p:txBody>
      </p:sp>
      <p:sp>
        <p:nvSpPr>
          <p:cNvPr id="7" name="TextBox 6">
            <a:extLst>
              <a:ext uri="{FF2B5EF4-FFF2-40B4-BE49-F238E27FC236}">
                <a16:creationId xmlns:a16="http://schemas.microsoft.com/office/drawing/2014/main" id="{38A86C1E-143B-5300-E377-840811C58C13}"/>
              </a:ext>
            </a:extLst>
          </p:cNvPr>
          <p:cNvSpPr txBox="1"/>
          <p:nvPr/>
        </p:nvSpPr>
        <p:spPr>
          <a:xfrm>
            <a:off x="457200" y="1874519"/>
            <a:ext cx="10817352" cy="342338"/>
          </a:xfrm>
          <a:prstGeom prst="rect">
            <a:avLst/>
          </a:prstGeom>
          <a:noFill/>
        </p:spPr>
        <p:txBody>
          <a:bodyPr wrap="square" lIns="0" tIns="0" rIns="0" bIns="0" anchor="t">
            <a:spAutoFit/>
          </a:bodyPr>
          <a:lstStyle/>
          <a:p>
            <a:pPr>
              <a:lnSpc>
                <a:spcPct val="125000"/>
              </a:lnSpc>
            </a:pPr>
            <a:r>
              <a:rPr lang="fr-CA" sz="1900" b="0" i="0" noProof="0" dirty="0">
                <a:solidFill>
                  <a:srgbClr val="544341"/>
                </a:solidFill>
                <a:latin typeface="Poppins"/>
              </a:rPr>
              <a:t>Texte</a:t>
            </a:r>
          </a:p>
        </p:txBody>
      </p:sp>
      <p:cxnSp>
        <p:nvCxnSpPr>
          <p:cNvPr id="9" name="Connector 8">
            <a:extLst>
              <a:ext uri="{FF2B5EF4-FFF2-40B4-BE49-F238E27FC236}">
                <a16:creationId xmlns:a16="http://schemas.microsoft.com/office/drawing/2014/main" id="{063F1916-928A-BAF8-DB5A-167EC3566F64}"/>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E0C000AC-B042-A9FB-2CA1-B0DACB7D1B92}"/>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4DA0905D-6EEA-4FEE-FCAA-8FE5EF974005}"/>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62129B4A-0674-7C23-49F5-C8488355DCF2}"/>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13</a:t>
            </a:r>
          </a:p>
        </p:txBody>
      </p:sp>
      <p:pic>
        <p:nvPicPr>
          <p:cNvPr id="8" name="Image 7" descr="Daniel San Stickers for Sale | Redbubble">
            <a:extLst>
              <a:ext uri="{FF2B5EF4-FFF2-40B4-BE49-F238E27FC236}">
                <a16:creationId xmlns:a16="http://schemas.microsoft.com/office/drawing/2014/main" id="{E420DF38-AD80-086E-6C5A-021220158427}"/>
              </a:ext>
            </a:extLst>
          </p:cNvPr>
          <p:cNvPicPr>
            <a:picLocks noChangeAspect="1"/>
          </p:cNvPicPr>
          <p:nvPr/>
        </p:nvPicPr>
        <p:blipFill>
          <a:blip r:embed="rId3"/>
          <a:stretch>
            <a:fillRect/>
          </a:stretch>
        </p:blipFill>
        <p:spPr>
          <a:xfrm>
            <a:off x="10853962" y="156532"/>
            <a:ext cx="880533" cy="880533"/>
          </a:xfrm>
          <a:prstGeom prst="rect">
            <a:avLst/>
          </a:prstGeom>
        </p:spPr>
      </p:pic>
    </p:spTree>
    <p:extLst>
      <p:ext uri="{BB962C8B-B14F-4D97-AF65-F5344CB8AC3E}">
        <p14:creationId xmlns:p14="http://schemas.microsoft.com/office/powerpoint/2010/main" val="4017456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7B891-242C-6FB6-75F4-C86B34DF18E2}"/>
            </a:ext>
          </a:extLst>
        </p:cNvPr>
        <p:cNvGrpSpPr/>
        <p:nvPr/>
      </p:nvGrpSpPr>
      <p:grpSpPr>
        <a:xfrm>
          <a:off x="0" y="0"/>
          <a:ext cx="0" cy="0"/>
          <a:chOff x="0" y="0"/>
          <a:chExt cx="0" cy="0"/>
        </a:xfrm>
      </p:grpSpPr>
      <p:sp>
        <p:nvSpPr>
          <p:cNvPr id="2" name="Background">
            <a:extLst>
              <a:ext uri="{FF2B5EF4-FFF2-40B4-BE49-F238E27FC236}">
                <a16:creationId xmlns:a16="http://schemas.microsoft.com/office/drawing/2014/main" id="{7D0D5398-FD95-218A-3B83-FDE35A0D1E31}"/>
              </a:ext>
            </a:extLst>
          </p:cNvPr>
          <p:cNvSpPr/>
          <p:nvPr/>
        </p:nvSpPr>
        <p:spPr>
          <a:xfrm>
            <a:off x="0" y="0"/>
            <a:ext cx="12192000" cy="6858000"/>
          </a:xfrm>
          <a:prstGeom prst="rect">
            <a:avLst/>
          </a:prstGeom>
          <a:solidFill>
            <a:srgbClr val="E52F80"/>
          </a:solidFill>
          <a:ln>
            <a:noFill/>
          </a:ln>
        </p:spPr>
        <p:txBody>
          <a:bodyPr rtlCol="0" anchor="ctr"/>
          <a:lstStyle/>
          <a:p>
            <a:pPr algn="ctr"/>
            <a:endParaRPr lang="fr-CA" noProof="0" dirty="0"/>
          </a:p>
        </p:txBody>
      </p:sp>
      <p:sp>
        <p:nvSpPr>
          <p:cNvPr id="3" name="Accent Line">
            <a:extLst>
              <a:ext uri="{FF2B5EF4-FFF2-40B4-BE49-F238E27FC236}">
                <a16:creationId xmlns:a16="http://schemas.microsoft.com/office/drawing/2014/main" id="{F428A3B9-6C95-92EF-3475-1825BF48B486}"/>
              </a:ext>
            </a:extLst>
          </p:cNvPr>
          <p:cNvSpPr/>
          <p:nvPr/>
        </p:nvSpPr>
        <p:spPr>
          <a:xfrm>
            <a:off x="5638800" y="2606040"/>
            <a:ext cx="914400" cy="68580"/>
          </a:xfrm>
          <a:prstGeom prst="rect">
            <a:avLst/>
          </a:prstGeom>
          <a:solidFill>
            <a:srgbClr val="F9AE00"/>
          </a:solidFill>
          <a:ln>
            <a:noFill/>
          </a:ln>
        </p:spPr>
        <p:txBody>
          <a:bodyPr rtlCol="0" anchor="ctr"/>
          <a:lstStyle/>
          <a:p>
            <a:pPr algn="ctr"/>
            <a:endParaRPr lang="fr-CA" noProof="0" dirty="0"/>
          </a:p>
        </p:txBody>
      </p:sp>
      <p:sp>
        <p:nvSpPr>
          <p:cNvPr id="4" name="Title">
            <a:extLst>
              <a:ext uri="{FF2B5EF4-FFF2-40B4-BE49-F238E27FC236}">
                <a16:creationId xmlns:a16="http://schemas.microsoft.com/office/drawing/2014/main" id="{BA834FDB-E26E-87CE-FEE9-7D657A885248}"/>
              </a:ext>
            </a:extLst>
          </p:cNvPr>
          <p:cNvSpPr txBox="1"/>
          <p:nvPr/>
        </p:nvSpPr>
        <p:spPr>
          <a:xfrm>
            <a:off x="1371600" y="2880360"/>
            <a:ext cx="9448800" cy="1328584"/>
          </a:xfrm>
          <a:prstGeom prst="rect">
            <a:avLst/>
          </a:prstGeom>
          <a:noFill/>
        </p:spPr>
        <p:txBody>
          <a:bodyPr wrap="square" lIns="0" tIns="0" rIns="0" bIns="0" anchor="ctr"/>
          <a:lstStyle/>
          <a:p>
            <a:pPr algn="ctr"/>
            <a:r>
              <a:rPr lang="fr-CA" sz="6000" b="1" noProof="0" dirty="0">
                <a:solidFill>
                  <a:srgbClr val="FFFFFF"/>
                </a:solidFill>
                <a:latin typeface="Poppins"/>
              </a:rPr>
              <a:t>Prochaines étapes</a:t>
            </a:r>
            <a:endParaRPr lang="fr-CA" sz="6000" b="1" i="0" noProof="0" dirty="0">
              <a:solidFill>
                <a:srgbClr val="FFFFFF"/>
              </a:solidFill>
              <a:latin typeface="Poppins"/>
            </a:endParaRPr>
          </a:p>
        </p:txBody>
      </p:sp>
      <p:sp>
        <p:nvSpPr>
          <p:cNvPr id="10" name="Footer Brand">
            <a:extLst>
              <a:ext uri="{FF2B5EF4-FFF2-40B4-BE49-F238E27FC236}">
                <a16:creationId xmlns:a16="http://schemas.microsoft.com/office/drawing/2014/main" id="{6B097754-3620-91AD-87D4-9B7C4CAD5794}"/>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FFFFFF"/>
                </a:solidFill>
                <a:latin typeface="Poppins"/>
              </a:rPr>
              <a:t>PROJET DOJO — LANCEMENT</a:t>
            </a:r>
          </a:p>
        </p:txBody>
      </p:sp>
      <p:sp>
        <p:nvSpPr>
          <p:cNvPr id="9" name="Footer Dot">
            <a:extLst>
              <a:ext uri="{FF2B5EF4-FFF2-40B4-BE49-F238E27FC236}">
                <a16:creationId xmlns:a16="http://schemas.microsoft.com/office/drawing/2014/main" id="{61D4CAE7-0BB7-B1A4-B750-D427C43E3480}"/>
              </a:ext>
            </a:extLst>
          </p:cNvPr>
          <p:cNvSpPr/>
          <p:nvPr/>
        </p:nvSpPr>
        <p:spPr>
          <a:xfrm>
            <a:off x="457200" y="6437376"/>
            <a:ext cx="146304" cy="146304"/>
          </a:xfrm>
          <a:prstGeom prst="ellipse">
            <a:avLst/>
          </a:prstGeom>
          <a:solidFill>
            <a:srgbClr val="F9AE00"/>
          </a:solidFill>
          <a:ln>
            <a:noFill/>
          </a:ln>
        </p:spPr>
        <p:txBody>
          <a:bodyPr rtlCol="0" anchor="ctr"/>
          <a:lstStyle/>
          <a:p>
            <a:pPr algn="ctr"/>
            <a:endParaRPr lang="fr-CA" noProof="0" dirty="0"/>
          </a:p>
        </p:txBody>
      </p:sp>
    </p:spTree>
    <p:extLst>
      <p:ext uri="{BB962C8B-B14F-4D97-AF65-F5344CB8AC3E}">
        <p14:creationId xmlns:p14="http://schemas.microsoft.com/office/powerpoint/2010/main" val="55184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p:cNvSpPr txBox="1"/>
          <p:nvPr/>
        </p:nvSpPr>
        <p:spPr>
          <a:xfrm>
            <a:off x="1024128" y="442924"/>
            <a:ext cx="10698480" cy="430887"/>
          </a:xfrm>
          <a:prstGeom prst="rect">
            <a:avLst/>
          </a:prstGeom>
          <a:noFill/>
        </p:spPr>
        <p:txBody>
          <a:bodyPr wrap="square" lIns="0" tIns="0" rIns="0" bIns="0" anchor="ctr">
            <a:spAutoFit/>
          </a:bodyPr>
          <a:lstStyle/>
          <a:p>
            <a:r>
              <a:rPr lang="fr-CA" sz="2800" b="1" i="0" noProof="0" dirty="0">
                <a:solidFill>
                  <a:srgbClr val="544341"/>
                </a:solidFill>
                <a:latin typeface="Poppins"/>
              </a:rPr>
              <a:t>Prochaines étapes</a:t>
            </a:r>
          </a:p>
        </p:txBody>
      </p:sp>
      <p:cxnSp>
        <p:nvCxnSpPr>
          <p:cNvPr id="5" name="Connector 4"/>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1481328"/>
            <a:ext cx="3657600" cy="200055"/>
          </a:xfrm>
          <a:prstGeom prst="rect">
            <a:avLst/>
          </a:prstGeom>
          <a:noFill/>
        </p:spPr>
        <p:txBody>
          <a:bodyPr wrap="square" lIns="0" tIns="0" rIns="0" bIns="0" anchor="t">
            <a:spAutoFit/>
          </a:bodyPr>
          <a:lstStyle/>
          <a:p>
            <a:r>
              <a:rPr lang="fr-CA" sz="1300" b="1" noProof="0" dirty="0">
                <a:solidFill>
                  <a:srgbClr val="FF7300"/>
                </a:solidFill>
                <a:latin typeface="Poppins"/>
              </a:rPr>
              <a:t>VALIDER LE PÉRIMÈTRE DU PROJET</a:t>
            </a:r>
            <a:endParaRPr lang="fr-CA" sz="1300" b="1" i="0" noProof="0" dirty="0">
              <a:solidFill>
                <a:srgbClr val="FF7300"/>
              </a:solidFill>
              <a:latin typeface="Poppins"/>
            </a:endParaRPr>
          </a:p>
        </p:txBody>
      </p:sp>
      <p:sp>
        <p:nvSpPr>
          <p:cNvPr id="8" name="Rounded Rectangle 7"/>
          <p:cNvSpPr/>
          <p:nvPr/>
        </p:nvSpPr>
        <p:spPr>
          <a:xfrm>
            <a:off x="603504" y="3624098"/>
            <a:ext cx="10817352" cy="1752573"/>
          </a:xfrm>
          <a:prstGeom prst="roundRect">
            <a:avLst>
              <a:gd name="adj" fmla="val 13338"/>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228600" rtlCol="0" anchor="ctr"/>
          <a:lstStyle/>
          <a:p>
            <a:pPr algn="ctr"/>
            <a:r>
              <a:rPr lang="fr-CA" sz="2400" b="0" i="1" kern="0" noProof="0" dirty="0">
                <a:solidFill>
                  <a:srgbClr val="9C9C9C"/>
                </a:solidFill>
                <a:latin typeface="Poppins"/>
              </a:rPr>
              <a:t>Mieux vaut une application simple qui fonctionne qu’une application complexe qui ne sort jamais</a:t>
            </a:r>
            <a:r>
              <a:rPr lang="fr-CA" sz="2400" b="0" i="1" noProof="0" dirty="0">
                <a:solidFill>
                  <a:srgbClr val="9C9C9C"/>
                </a:solidFill>
                <a:latin typeface="Poppins"/>
              </a:rPr>
              <a:t>.</a:t>
            </a:r>
          </a:p>
        </p:txBody>
      </p:sp>
      <p:cxnSp>
        <p:nvCxnSpPr>
          <p:cNvPr id="9" name="Connector 8"/>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p:cNvSpPr txBox="1"/>
          <p:nvPr/>
        </p:nvSpPr>
        <p:spPr>
          <a:xfrm>
            <a:off x="4419295" y="6461016"/>
            <a:ext cx="7315200" cy="153888"/>
          </a:xfrm>
          <a:prstGeom prst="rect">
            <a:avLst/>
          </a:prstGeom>
          <a:noFill/>
        </p:spPr>
        <p:txBody>
          <a:bodyPr wrap="square" lIns="0" tIns="0" rIns="0" bIns="0" anchor="ctr">
            <a:spAutoFit/>
          </a:bodyPr>
          <a:lstStyle/>
          <a:p>
            <a:pPr algn="r"/>
            <a:r>
              <a:rPr lang="fr-CA" sz="1000" b="1" noProof="0" dirty="0">
                <a:solidFill>
                  <a:srgbClr val="FF7300"/>
                </a:solidFill>
                <a:latin typeface="Poppins"/>
              </a:rPr>
              <a:t>15</a:t>
            </a:r>
            <a:endParaRPr lang="fr-CA" sz="1000" b="1" i="0" noProof="0" dirty="0">
              <a:solidFill>
                <a:srgbClr val="FF7300"/>
              </a:solidFill>
              <a:latin typeface="Poppins"/>
            </a:endParaRPr>
          </a:p>
        </p:txBody>
      </p:sp>
      <p:sp>
        <p:nvSpPr>
          <p:cNvPr id="14" name="TextBox 6">
            <a:extLst>
              <a:ext uri="{FF2B5EF4-FFF2-40B4-BE49-F238E27FC236}">
                <a16:creationId xmlns:a16="http://schemas.microsoft.com/office/drawing/2014/main" id="{E81AFB30-F9BD-FCFF-05B0-1808E1B0A735}"/>
              </a:ext>
            </a:extLst>
          </p:cNvPr>
          <p:cNvSpPr txBox="1"/>
          <p:nvPr/>
        </p:nvSpPr>
        <p:spPr>
          <a:xfrm>
            <a:off x="457200" y="1853526"/>
            <a:ext cx="10817352" cy="707822"/>
          </a:xfrm>
          <a:prstGeom prst="rect">
            <a:avLst/>
          </a:prstGeom>
          <a:noFill/>
        </p:spPr>
        <p:txBody>
          <a:bodyPr wrap="square" lIns="0" tIns="0" rIns="0" bIns="0" anchor="t">
            <a:spAutoFit/>
          </a:bodyPr>
          <a:lstStyle/>
          <a:p>
            <a:pPr marL="342900" indent="-342900">
              <a:lnSpc>
                <a:spcPct val="125000"/>
              </a:lnSpc>
              <a:buFont typeface="Arial" panose="020B0604020202020204" pitchFamily="34" charset="0"/>
              <a:buChar char="•"/>
            </a:pPr>
            <a:r>
              <a:rPr lang="fr-CA" sz="1900" b="0" i="0" noProof="0" dirty="0">
                <a:solidFill>
                  <a:srgbClr val="544341"/>
                </a:solidFill>
                <a:latin typeface="Poppins"/>
              </a:rPr>
              <a:t>Cahier des charges : les fonctionnalités </a:t>
            </a:r>
          </a:p>
          <a:p>
            <a:pPr marL="342900" indent="-342900">
              <a:lnSpc>
                <a:spcPct val="125000"/>
              </a:lnSpc>
              <a:buFont typeface="Arial" panose="020B0604020202020204" pitchFamily="34" charset="0"/>
              <a:buChar char="•"/>
            </a:pPr>
            <a:r>
              <a:rPr lang="fr-CA" sz="1900" b="0" i="0" noProof="0" dirty="0">
                <a:solidFill>
                  <a:srgbClr val="544341"/>
                </a:solidFill>
                <a:latin typeface="Poppins"/>
              </a:rPr>
              <a:t>Inspirations design : UI &amp; UX</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58BD0-FFA4-E69E-47F4-DAC58B63BB04}"/>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9891A819-A760-3B18-9650-D9F8725F571A}"/>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4EB8B0E0-21E3-1DB0-AE0B-B7F387AC4BC8}"/>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C32FF58C-00F6-CAB5-A81A-8ADB4EDDB4C1}"/>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i="0" noProof="0" dirty="0">
                <a:solidFill>
                  <a:srgbClr val="544341"/>
                </a:solidFill>
                <a:latin typeface="Poppins"/>
              </a:rPr>
              <a:t>Prochaines étapes</a:t>
            </a:r>
          </a:p>
        </p:txBody>
      </p:sp>
      <p:cxnSp>
        <p:nvCxnSpPr>
          <p:cNvPr id="5" name="Connector 4">
            <a:extLst>
              <a:ext uri="{FF2B5EF4-FFF2-40B4-BE49-F238E27FC236}">
                <a16:creationId xmlns:a16="http://schemas.microsoft.com/office/drawing/2014/main" id="{4C8EF6BD-EFDD-7136-1CB0-B12C31288C50}"/>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C7333E5A-9DB4-B873-31A8-855F4E5A35E2}"/>
              </a:ext>
            </a:extLst>
          </p:cNvPr>
          <p:cNvSpPr txBox="1"/>
          <p:nvPr/>
        </p:nvSpPr>
        <p:spPr>
          <a:xfrm>
            <a:off x="457200" y="1481328"/>
            <a:ext cx="3657600" cy="200055"/>
          </a:xfrm>
          <a:prstGeom prst="rect">
            <a:avLst/>
          </a:prstGeom>
          <a:noFill/>
        </p:spPr>
        <p:txBody>
          <a:bodyPr wrap="square" lIns="0" tIns="0" rIns="0" bIns="0" anchor="t">
            <a:spAutoFit/>
          </a:bodyPr>
          <a:lstStyle/>
          <a:p>
            <a:r>
              <a:rPr lang="fr-CA" sz="1300" b="1" noProof="0" dirty="0">
                <a:solidFill>
                  <a:srgbClr val="FF7300"/>
                </a:solidFill>
                <a:latin typeface="Poppins"/>
              </a:rPr>
              <a:t>CRÉER UN COMPTE CLAUDE PRO </a:t>
            </a:r>
            <a:endParaRPr lang="fr-CA" sz="1300" b="1" i="0" noProof="0" dirty="0">
              <a:solidFill>
                <a:srgbClr val="FF7300"/>
              </a:solidFill>
              <a:latin typeface="Poppins"/>
            </a:endParaRPr>
          </a:p>
        </p:txBody>
      </p:sp>
      <p:cxnSp>
        <p:nvCxnSpPr>
          <p:cNvPr id="9" name="Connector 8">
            <a:extLst>
              <a:ext uri="{FF2B5EF4-FFF2-40B4-BE49-F238E27FC236}">
                <a16:creationId xmlns:a16="http://schemas.microsoft.com/office/drawing/2014/main" id="{F9D51D49-FFBA-0606-B34E-24F4B8BFD441}"/>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4873C660-D015-8D9A-1CE1-12634FCBBED8}"/>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C89A2AEC-A90D-71E9-79F9-DD19D424C674}"/>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C8B033E0-B103-EF8D-19B3-B78B22AABCAF}"/>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noProof="0" dirty="0">
                <a:solidFill>
                  <a:srgbClr val="FF7300"/>
                </a:solidFill>
                <a:latin typeface="Poppins"/>
              </a:rPr>
              <a:t>16</a:t>
            </a:r>
            <a:endParaRPr lang="fr-CA" sz="1000" b="1" i="0" noProof="0" dirty="0">
              <a:solidFill>
                <a:srgbClr val="FF7300"/>
              </a:solidFill>
              <a:latin typeface="Poppins"/>
            </a:endParaRPr>
          </a:p>
        </p:txBody>
      </p:sp>
      <p:sp>
        <p:nvSpPr>
          <p:cNvPr id="14" name="TextBox 6">
            <a:extLst>
              <a:ext uri="{FF2B5EF4-FFF2-40B4-BE49-F238E27FC236}">
                <a16:creationId xmlns:a16="http://schemas.microsoft.com/office/drawing/2014/main" id="{0EC7EB86-2A74-8A9A-2614-2F3B5C4B4888}"/>
              </a:ext>
            </a:extLst>
          </p:cNvPr>
          <p:cNvSpPr txBox="1"/>
          <p:nvPr/>
        </p:nvSpPr>
        <p:spPr>
          <a:xfrm>
            <a:off x="457200" y="1853526"/>
            <a:ext cx="10817352" cy="2169761"/>
          </a:xfrm>
          <a:prstGeom prst="rect">
            <a:avLst/>
          </a:prstGeom>
          <a:noFill/>
        </p:spPr>
        <p:txBody>
          <a:bodyPr wrap="square" lIns="0" tIns="0" rIns="0" bIns="0" anchor="t">
            <a:spAutoFit/>
          </a:bodyPr>
          <a:lstStyle/>
          <a:p>
            <a:pPr marL="342900" indent="-342900">
              <a:lnSpc>
                <a:spcPct val="125000"/>
              </a:lnSpc>
              <a:buFont typeface="Arial" panose="020B0604020202020204" pitchFamily="34" charset="0"/>
              <a:buChar char="•"/>
            </a:pPr>
            <a:r>
              <a:rPr lang="fr-CA" sz="1900" b="0" i="0" noProof="0" dirty="0">
                <a:solidFill>
                  <a:srgbClr val="544341"/>
                </a:solidFill>
                <a:latin typeface="Poppins"/>
              </a:rPr>
              <a:t>Installer Claude Code</a:t>
            </a:r>
          </a:p>
          <a:p>
            <a:pPr marL="342900" indent="-342900">
              <a:lnSpc>
                <a:spcPct val="125000"/>
              </a:lnSpc>
              <a:buFont typeface="Arial" panose="020B0604020202020204" pitchFamily="34" charset="0"/>
              <a:buChar char="•"/>
            </a:pPr>
            <a:r>
              <a:rPr lang="fr-CA" sz="1900" noProof="0" dirty="0">
                <a:solidFill>
                  <a:srgbClr val="544341"/>
                </a:solidFill>
                <a:latin typeface="Poppins"/>
              </a:rPr>
              <a:t>Importer le savoir tacite de Miyagi</a:t>
            </a:r>
          </a:p>
          <a:p>
            <a:pPr marL="342900" indent="-342900">
              <a:lnSpc>
                <a:spcPct val="125000"/>
              </a:lnSpc>
              <a:buFont typeface="Arial" panose="020B0604020202020204" pitchFamily="34" charset="0"/>
              <a:buChar char="•"/>
            </a:pPr>
            <a:r>
              <a:rPr lang="fr-CA" sz="1900" noProof="0" dirty="0">
                <a:solidFill>
                  <a:srgbClr val="544341"/>
                </a:solidFill>
                <a:latin typeface="Poppins"/>
              </a:rPr>
              <a:t>Créer un </a:t>
            </a:r>
            <a:r>
              <a:rPr lang="fr-CA" sz="1900" noProof="0" dirty="0" err="1">
                <a:solidFill>
                  <a:srgbClr val="544341"/>
                </a:solidFill>
                <a:latin typeface="Poppins"/>
              </a:rPr>
              <a:t>workspace</a:t>
            </a:r>
            <a:r>
              <a:rPr lang="fr-CA" sz="1900" noProof="0" dirty="0">
                <a:solidFill>
                  <a:srgbClr val="544341"/>
                </a:solidFill>
                <a:latin typeface="Poppins"/>
              </a:rPr>
              <a:t> avec Visual </a:t>
            </a:r>
            <a:r>
              <a:rPr lang="fr-CA" sz="1900" noProof="0" dirty="0" err="1">
                <a:solidFill>
                  <a:srgbClr val="544341"/>
                </a:solidFill>
                <a:latin typeface="Poppins"/>
              </a:rPr>
              <a:t>Stutio</a:t>
            </a:r>
            <a:r>
              <a:rPr lang="fr-CA" sz="1900" noProof="0" dirty="0">
                <a:solidFill>
                  <a:srgbClr val="544341"/>
                </a:solidFill>
                <a:latin typeface="Poppins"/>
              </a:rPr>
              <a:t> Code</a:t>
            </a:r>
          </a:p>
          <a:p>
            <a:pPr marL="342900" indent="-342900">
              <a:lnSpc>
                <a:spcPct val="125000"/>
              </a:lnSpc>
              <a:buFont typeface="Arial" panose="020B0604020202020204" pitchFamily="34" charset="0"/>
              <a:buChar char="•"/>
            </a:pPr>
            <a:r>
              <a:rPr lang="fr-CA" sz="1900" noProof="0" dirty="0">
                <a:solidFill>
                  <a:srgbClr val="544341"/>
                </a:solidFill>
                <a:latin typeface="Poppins"/>
              </a:rPr>
              <a:t>Mettre à jour les clés API (Miyagi)</a:t>
            </a:r>
            <a:endParaRPr lang="fr-CA" sz="1900" b="0" i="0" noProof="0" dirty="0">
              <a:solidFill>
                <a:srgbClr val="544341"/>
              </a:solidFill>
              <a:latin typeface="Poppins"/>
            </a:endParaRPr>
          </a:p>
          <a:p>
            <a:pPr marL="342900" indent="-342900">
              <a:lnSpc>
                <a:spcPct val="125000"/>
              </a:lnSpc>
              <a:buFont typeface="Arial" panose="020B0604020202020204" pitchFamily="34" charset="0"/>
              <a:buChar char="•"/>
            </a:pPr>
            <a:endParaRPr lang="fr-CA" sz="1900" b="0" i="0" noProof="0" dirty="0">
              <a:solidFill>
                <a:srgbClr val="544341"/>
              </a:solidFill>
              <a:latin typeface="Poppins"/>
            </a:endParaRPr>
          </a:p>
          <a:p>
            <a:pPr marL="342900" indent="-342900">
              <a:lnSpc>
                <a:spcPct val="125000"/>
              </a:lnSpc>
              <a:buFont typeface="Arial" panose="020B0604020202020204" pitchFamily="34" charset="0"/>
              <a:buChar char="•"/>
            </a:pPr>
            <a:endParaRPr lang="fr-CA" sz="1900" b="0" i="0" noProof="0" dirty="0">
              <a:solidFill>
                <a:srgbClr val="544341"/>
              </a:solidFill>
              <a:latin typeface="Poppins"/>
            </a:endParaRPr>
          </a:p>
        </p:txBody>
      </p:sp>
    </p:spTree>
    <p:extLst>
      <p:ext uri="{BB962C8B-B14F-4D97-AF65-F5344CB8AC3E}">
        <p14:creationId xmlns:p14="http://schemas.microsoft.com/office/powerpoint/2010/main" val="2029760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92ED9-E125-03C5-1DD4-EB745CD3EA3E}"/>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00F982A1-4632-565F-0231-F68220903686}"/>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C5230F7F-0337-8B0E-D71B-A5670300D094}"/>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4EEEC034-19EB-B8C6-36BB-3FB369513142}"/>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i="0" noProof="0" dirty="0">
                <a:solidFill>
                  <a:srgbClr val="544341"/>
                </a:solidFill>
                <a:latin typeface="Poppins"/>
              </a:rPr>
              <a:t>Prochaines étapes</a:t>
            </a:r>
          </a:p>
        </p:txBody>
      </p:sp>
      <p:cxnSp>
        <p:nvCxnSpPr>
          <p:cNvPr id="5" name="Connector 4">
            <a:extLst>
              <a:ext uri="{FF2B5EF4-FFF2-40B4-BE49-F238E27FC236}">
                <a16:creationId xmlns:a16="http://schemas.microsoft.com/office/drawing/2014/main" id="{48A312BD-CCAF-D214-E688-C51F48A967C4}"/>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3587C40-F1AC-463F-2FE8-AAD8DD174912}"/>
              </a:ext>
            </a:extLst>
          </p:cNvPr>
          <p:cNvSpPr txBox="1"/>
          <p:nvPr/>
        </p:nvSpPr>
        <p:spPr>
          <a:xfrm>
            <a:off x="457200" y="1481328"/>
            <a:ext cx="3657600" cy="200055"/>
          </a:xfrm>
          <a:prstGeom prst="rect">
            <a:avLst/>
          </a:prstGeom>
          <a:noFill/>
        </p:spPr>
        <p:txBody>
          <a:bodyPr wrap="square" lIns="0" tIns="0" rIns="0" bIns="0" anchor="t">
            <a:spAutoFit/>
          </a:bodyPr>
          <a:lstStyle/>
          <a:p>
            <a:r>
              <a:rPr lang="fr-CA" sz="1300" b="1" i="0" noProof="0" dirty="0">
                <a:solidFill>
                  <a:srgbClr val="FF7300"/>
                </a:solidFill>
                <a:latin typeface="Poppins"/>
              </a:rPr>
              <a:t>DÉVELOPPER LE MVP</a:t>
            </a:r>
          </a:p>
        </p:txBody>
      </p:sp>
      <p:cxnSp>
        <p:nvCxnSpPr>
          <p:cNvPr id="9" name="Connector 8">
            <a:extLst>
              <a:ext uri="{FF2B5EF4-FFF2-40B4-BE49-F238E27FC236}">
                <a16:creationId xmlns:a16="http://schemas.microsoft.com/office/drawing/2014/main" id="{D35D515B-A5D5-09E5-CEB2-137BD7E8374E}"/>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E13414B0-0833-EA54-D5D6-DD7A5039083A}"/>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852B1A17-29C0-6739-D076-AF155C2CDCF3}"/>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10091A91-7BF0-119F-D6D1-757BDEE08A54}"/>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noProof="0" dirty="0">
                <a:solidFill>
                  <a:srgbClr val="FF7300"/>
                </a:solidFill>
                <a:latin typeface="Poppins"/>
              </a:rPr>
              <a:t>17</a:t>
            </a:r>
            <a:endParaRPr lang="fr-CA" sz="1000" b="1" i="0" noProof="0" dirty="0">
              <a:solidFill>
                <a:srgbClr val="FF7300"/>
              </a:solidFill>
              <a:latin typeface="Poppins"/>
            </a:endParaRPr>
          </a:p>
        </p:txBody>
      </p:sp>
      <p:sp>
        <p:nvSpPr>
          <p:cNvPr id="13" name="TextBox 6">
            <a:extLst>
              <a:ext uri="{FF2B5EF4-FFF2-40B4-BE49-F238E27FC236}">
                <a16:creationId xmlns:a16="http://schemas.microsoft.com/office/drawing/2014/main" id="{9E7EB1E3-F514-91CC-F6B9-67289A903603}"/>
              </a:ext>
            </a:extLst>
          </p:cNvPr>
          <p:cNvSpPr txBox="1"/>
          <p:nvPr/>
        </p:nvSpPr>
        <p:spPr>
          <a:xfrm>
            <a:off x="457200" y="1874519"/>
            <a:ext cx="10817352" cy="2169761"/>
          </a:xfrm>
          <a:prstGeom prst="rect">
            <a:avLst/>
          </a:prstGeom>
          <a:noFill/>
        </p:spPr>
        <p:txBody>
          <a:bodyPr wrap="square" lIns="0" tIns="0" rIns="0" bIns="0" anchor="t">
            <a:spAutoFit/>
          </a:bodyPr>
          <a:lstStyle/>
          <a:p>
            <a:pPr>
              <a:lnSpc>
                <a:spcPct val="125000"/>
              </a:lnSpc>
            </a:pPr>
            <a:r>
              <a:rPr lang="fr-CA" sz="1900" b="0" i="0" noProof="0" dirty="0">
                <a:solidFill>
                  <a:srgbClr val="544341"/>
                </a:solidFill>
                <a:latin typeface="Poppins"/>
              </a:rPr>
              <a:t>Minimal Viable Product comprenant :</a:t>
            </a:r>
          </a:p>
          <a:p>
            <a:pPr>
              <a:lnSpc>
                <a:spcPct val="125000"/>
              </a:lnSpc>
            </a:pPr>
            <a:endParaRPr lang="fr-CA" sz="1900" b="0" i="0" noProof="0" dirty="0">
              <a:solidFill>
                <a:srgbClr val="544341"/>
              </a:solidFill>
              <a:latin typeface="Poppins"/>
            </a:endParaRPr>
          </a:p>
          <a:p>
            <a:pPr marL="342900" indent="-342900">
              <a:lnSpc>
                <a:spcPct val="125000"/>
              </a:lnSpc>
              <a:buFont typeface="Arial" panose="020B0604020202020204" pitchFamily="34" charset="0"/>
              <a:buChar char="•"/>
            </a:pPr>
            <a:r>
              <a:rPr lang="fr-CA" sz="1900" b="0" i="0" noProof="0" dirty="0">
                <a:solidFill>
                  <a:srgbClr val="544341"/>
                </a:solidFill>
                <a:latin typeface="Poppins"/>
              </a:rPr>
              <a:t>Analyse d’appel d’offre – rapport adéquation – clauses légales (Phase 1)</a:t>
            </a:r>
          </a:p>
          <a:p>
            <a:pPr marL="342900" indent="-342900">
              <a:lnSpc>
                <a:spcPct val="125000"/>
              </a:lnSpc>
              <a:buFont typeface="Arial" panose="020B0604020202020204" pitchFamily="34" charset="0"/>
              <a:buChar char="•"/>
            </a:pPr>
            <a:r>
              <a:rPr lang="fr-CA" sz="1900" noProof="0" dirty="0">
                <a:solidFill>
                  <a:srgbClr val="544341"/>
                </a:solidFill>
                <a:latin typeface="Poppins"/>
              </a:rPr>
              <a:t>Export vers formulaire Miyagi &amp; création du projet dans </a:t>
            </a:r>
            <a:r>
              <a:rPr lang="fr-CA" sz="1900" noProof="0" dirty="0" err="1">
                <a:solidFill>
                  <a:srgbClr val="544341"/>
                </a:solidFill>
                <a:latin typeface="Poppins"/>
              </a:rPr>
              <a:t>Wrike</a:t>
            </a:r>
            <a:r>
              <a:rPr lang="fr-CA" sz="1900" noProof="0" dirty="0">
                <a:solidFill>
                  <a:srgbClr val="544341"/>
                </a:solidFill>
                <a:latin typeface="Poppins"/>
              </a:rPr>
              <a:t> (Phase 2)</a:t>
            </a:r>
          </a:p>
          <a:p>
            <a:pPr marL="342900" indent="-342900">
              <a:lnSpc>
                <a:spcPct val="125000"/>
              </a:lnSpc>
              <a:buFont typeface="Arial" panose="020B0604020202020204" pitchFamily="34" charset="0"/>
              <a:buChar char="•"/>
            </a:pPr>
            <a:r>
              <a:rPr lang="fr-CA" sz="1900" noProof="0" dirty="0">
                <a:solidFill>
                  <a:srgbClr val="544341"/>
                </a:solidFill>
                <a:latin typeface="Poppins"/>
              </a:rPr>
              <a:t>Rédaction assistée des réponses (Phase 3)</a:t>
            </a:r>
          </a:p>
          <a:p>
            <a:pPr marL="342900" indent="-342900">
              <a:lnSpc>
                <a:spcPct val="125000"/>
              </a:lnSpc>
              <a:buFont typeface="Arial" panose="020B0604020202020204" pitchFamily="34" charset="0"/>
              <a:buChar char="•"/>
            </a:pPr>
            <a:endParaRPr lang="fr-CA" sz="1900" b="0" i="0" noProof="0" dirty="0">
              <a:solidFill>
                <a:srgbClr val="544341"/>
              </a:solidFill>
              <a:latin typeface="Poppins"/>
            </a:endParaRPr>
          </a:p>
        </p:txBody>
      </p:sp>
    </p:spTree>
    <p:extLst>
      <p:ext uri="{BB962C8B-B14F-4D97-AF65-F5344CB8AC3E}">
        <p14:creationId xmlns:p14="http://schemas.microsoft.com/office/powerpoint/2010/main" val="2915667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BB7AD-D519-955E-A688-1CF7596C0E17}"/>
            </a:ext>
          </a:extLst>
        </p:cNvPr>
        <p:cNvGrpSpPr/>
        <p:nvPr/>
      </p:nvGrpSpPr>
      <p:grpSpPr>
        <a:xfrm>
          <a:off x="0" y="0"/>
          <a:ext cx="0" cy="0"/>
          <a:chOff x="0" y="0"/>
          <a:chExt cx="0" cy="0"/>
        </a:xfrm>
      </p:grpSpPr>
      <p:sp>
        <p:nvSpPr>
          <p:cNvPr id="2" name="Background">
            <a:extLst>
              <a:ext uri="{FF2B5EF4-FFF2-40B4-BE49-F238E27FC236}">
                <a16:creationId xmlns:a16="http://schemas.microsoft.com/office/drawing/2014/main" id="{73AC968E-D3DA-9B41-1C8D-CFB5525D7EED}"/>
              </a:ext>
            </a:extLst>
          </p:cNvPr>
          <p:cNvSpPr/>
          <p:nvPr/>
        </p:nvSpPr>
        <p:spPr>
          <a:xfrm>
            <a:off x="0" y="0"/>
            <a:ext cx="12192000" cy="6858000"/>
          </a:xfrm>
          <a:prstGeom prst="rect">
            <a:avLst/>
          </a:prstGeom>
          <a:solidFill>
            <a:srgbClr val="0056A0"/>
          </a:solidFill>
          <a:ln>
            <a:noFill/>
          </a:ln>
        </p:spPr>
        <p:txBody>
          <a:bodyPr rtlCol="0" anchor="ctr"/>
          <a:lstStyle/>
          <a:p>
            <a:pPr algn="ctr"/>
            <a:endParaRPr lang="fr-CA" noProof="0" dirty="0"/>
          </a:p>
        </p:txBody>
      </p:sp>
      <p:sp>
        <p:nvSpPr>
          <p:cNvPr id="3" name="Accent Line">
            <a:extLst>
              <a:ext uri="{FF2B5EF4-FFF2-40B4-BE49-F238E27FC236}">
                <a16:creationId xmlns:a16="http://schemas.microsoft.com/office/drawing/2014/main" id="{2C13E941-8799-F574-B5E8-678666DAE483}"/>
              </a:ext>
            </a:extLst>
          </p:cNvPr>
          <p:cNvSpPr/>
          <p:nvPr/>
        </p:nvSpPr>
        <p:spPr>
          <a:xfrm>
            <a:off x="5638800" y="2606040"/>
            <a:ext cx="914400" cy="68580"/>
          </a:xfrm>
          <a:prstGeom prst="rect">
            <a:avLst/>
          </a:prstGeom>
          <a:solidFill>
            <a:srgbClr val="F9AE00"/>
          </a:solidFill>
          <a:ln>
            <a:noFill/>
          </a:ln>
        </p:spPr>
        <p:txBody>
          <a:bodyPr rtlCol="0" anchor="ctr"/>
          <a:lstStyle/>
          <a:p>
            <a:pPr algn="ctr"/>
            <a:endParaRPr lang="fr-CA" noProof="0" dirty="0"/>
          </a:p>
        </p:txBody>
      </p:sp>
      <p:sp>
        <p:nvSpPr>
          <p:cNvPr id="4" name="Title">
            <a:extLst>
              <a:ext uri="{FF2B5EF4-FFF2-40B4-BE49-F238E27FC236}">
                <a16:creationId xmlns:a16="http://schemas.microsoft.com/office/drawing/2014/main" id="{E4263D9D-BB75-C9BB-0190-AA0C7F787BA1}"/>
              </a:ext>
            </a:extLst>
          </p:cNvPr>
          <p:cNvSpPr txBox="1"/>
          <p:nvPr/>
        </p:nvSpPr>
        <p:spPr>
          <a:xfrm>
            <a:off x="1371600" y="2880360"/>
            <a:ext cx="9448800" cy="1966944"/>
          </a:xfrm>
          <a:prstGeom prst="rect">
            <a:avLst/>
          </a:prstGeom>
          <a:noFill/>
        </p:spPr>
        <p:txBody>
          <a:bodyPr wrap="square" lIns="0" tIns="0" rIns="0" bIns="0" anchor="ctr"/>
          <a:lstStyle/>
          <a:p>
            <a:pPr algn="ctr"/>
            <a:r>
              <a:rPr lang="fr-CA" sz="6000" b="1" noProof="0" dirty="0">
                <a:solidFill>
                  <a:srgbClr val="FFFFFF"/>
                </a:solidFill>
                <a:latin typeface="Poppins"/>
              </a:rPr>
              <a:t>Architecture, s</a:t>
            </a:r>
            <a:r>
              <a:rPr lang="fr-CA" sz="6000" b="1" i="0" noProof="0" dirty="0">
                <a:solidFill>
                  <a:srgbClr val="FFFFFF"/>
                </a:solidFill>
                <a:latin typeface="Poppins"/>
              </a:rPr>
              <a:t>écurité</a:t>
            </a:r>
          </a:p>
          <a:p>
            <a:pPr algn="ctr"/>
            <a:r>
              <a:rPr lang="fr-CA" sz="6000" b="1" noProof="0" dirty="0">
                <a:solidFill>
                  <a:srgbClr val="FFFFFF"/>
                </a:solidFill>
                <a:latin typeface="Poppins"/>
              </a:rPr>
              <a:t>&amp; Loi 25</a:t>
            </a:r>
            <a:endParaRPr lang="fr-CA" sz="6000" b="1" i="0" noProof="0" dirty="0">
              <a:solidFill>
                <a:srgbClr val="FFFFFF"/>
              </a:solidFill>
              <a:latin typeface="Poppins"/>
            </a:endParaRPr>
          </a:p>
        </p:txBody>
      </p:sp>
      <p:sp>
        <p:nvSpPr>
          <p:cNvPr id="10" name="Footer Brand">
            <a:extLst>
              <a:ext uri="{FF2B5EF4-FFF2-40B4-BE49-F238E27FC236}">
                <a16:creationId xmlns:a16="http://schemas.microsoft.com/office/drawing/2014/main" id="{122BAD3C-7446-5DF6-0881-32BCCC4F54B4}"/>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FFFFFF"/>
                </a:solidFill>
                <a:latin typeface="Poppins"/>
              </a:rPr>
              <a:t>PROJET DOJO — LANCEMENT</a:t>
            </a:r>
          </a:p>
        </p:txBody>
      </p:sp>
      <p:sp>
        <p:nvSpPr>
          <p:cNvPr id="9" name="Footer Dot">
            <a:extLst>
              <a:ext uri="{FF2B5EF4-FFF2-40B4-BE49-F238E27FC236}">
                <a16:creationId xmlns:a16="http://schemas.microsoft.com/office/drawing/2014/main" id="{E60CC17F-96F7-8680-52BC-3FE3ABF839C2}"/>
              </a:ext>
            </a:extLst>
          </p:cNvPr>
          <p:cNvSpPr/>
          <p:nvPr/>
        </p:nvSpPr>
        <p:spPr>
          <a:xfrm>
            <a:off x="457200" y="6437376"/>
            <a:ext cx="146304" cy="146304"/>
          </a:xfrm>
          <a:prstGeom prst="ellipse">
            <a:avLst/>
          </a:prstGeom>
          <a:solidFill>
            <a:srgbClr val="F9AE00"/>
          </a:solidFill>
          <a:ln>
            <a:noFill/>
          </a:ln>
        </p:spPr>
        <p:txBody>
          <a:bodyPr rtlCol="0" anchor="ctr"/>
          <a:lstStyle/>
          <a:p>
            <a:pPr algn="ctr"/>
            <a:endParaRPr lang="fr-CA" noProof="0" dirty="0"/>
          </a:p>
        </p:txBody>
      </p:sp>
    </p:spTree>
    <p:extLst>
      <p:ext uri="{BB962C8B-B14F-4D97-AF65-F5344CB8AC3E}">
        <p14:creationId xmlns:p14="http://schemas.microsoft.com/office/powerpoint/2010/main" val="1437126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40437-E6C0-FA5D-B41C-B06D9F09870B}"/>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1AE46B8A-BE60-D446-B464-DDFB2ED855B4}"/>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1B8D5568-8133-4F20-6C93-B520A642AD32}"/>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AEE133BF-0265-5E87-94CB-ACB895866528}"/>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noProof="0" dirty="0">
                <a:solidFill>
                  <a:srgbClr val="544341"/>
                </a:solidFill>
                <a:latin typeface="Poppins"/>
              </a:rPr>
              <a:t>Architecture et sécurité du DOJO</a:t>
            </a:r>
            <a:endParaRPr lang="fr-CA" sz="2800" b="1" i="0" noProof="0" dirty="0">
              <a:solidFill>
                <a:srgbClr val="544341"/>
              </a:solidFill>
              <a:latin typeface="Poppins"/>
            </a:endParaRPr>
          </a:p>
        </p:txBody>
      </p:sp>
      <p:cxnSp>
        <p:nvCxnSpPr>
          <p:cNvPr id="5" name="Connector 4">
            <a:extLst>
              <a:ext uri="{FF2B5EF4-FFF2-40B4-BE49-F238E27FC236}">
                <a16:creationId xmlns:a16="http://schemas.microsoft.com/office/drawing/2014/main" id="{0E9C0AE6-24D3-9742-58F5-4AD5C17E321D}"/>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42796CE-892F-E461-35D9-55515E6BCCE1}"/>
              </a:ext>
            </a:extLst>
          </p:cNvPr>
          <p:cNvSpPr txBox="1"/>
          <p:nvPr/>
        </p:nvSpPr>
        <p:spPr>
          <a:xfrm>
            <a:off x="457200" y="1481328"/>
            <a:ext cx="3657600" cy="200055"/>
          </a:xfrm>
          <a:prstGeom prst="rect">
            <a:avLst/>
          </a:prstGeom>
          <a:noFill/>
        </p:spPr>
        <p:txBody>
          <a:bodyPr wrap="square" lIns="0" tIns="0" rIns="0" bIns="0" anchor="t">
            <a:spAutoFit/>
          </a:bodyPr>
          <a:lstStyle/>
          <a:p>
            <a:r>
              <a:rPr lang="fr-CA" sz="1300" b="1" noProof="0" dirty="0">
                <a:solidFill>
                  <a:srgbClr val="FF7300"/>
                </a:solidFill>
                <a:latin typeface="Poppins"/>
              </a:rPr>
              <a:t>ARCHITECTURE – SÉCURITÉ  </a:t>
            </a:r>
            <a:endParaRPr lang="fr-CA" sz="1300" b="1" i="0" noProof="0" dirty="0">
              <a:solidFill>
                <a:srgbClr val="FF7300"/>
              </a:solidFill>
              <a:latin typeface="Poppins"/>
            </a:endParaRPr>
          </a:p>
        </p:txBody>
      </p:sp>
      <p:sp>
        <p:nvSpPr>
          <p:cNvPr id="7" name="TextBox 6">
            <a:extLst>
              <a:ext uri="{FF2B5EF4-FFF2-40B4-BE49-F238E27FC236}">
                <a16:creationId xmlns:a16="http://schemas.microsoft.com/office/drawing/2014/main" id="{928A03D2-295F-94B6-6194-00E84547D30D}"/>
              </a:ext>
            </a:extLst>
          </p:cNvPr>
          <p:cNvSpPr txBox="1"/>
          <p:nvPr/>
        </p:nvSpPr>
        <p:spPr>
          <a:xfrm>
            <a:off x="457200" y="1874519"/>
            <a:ext cx="10817352" cy="2060436"/>
          </a:xfrm>
          <a:prstGeom prst="rect">
            <a:avLst/>
          </a:prstGeom>
          <a:noFill/>
        </p:spPr>
        <p:txBody>
          <a:bodyPr wrap="square" lIns="0" tIns="0" rIns="0" bIns="0" anchor="t">
            <a:spAutoFit/>
          </a:bodyPr>
          <a:lstStyle/>
          <a:p>
            <a:pPr>
              <a:lnSpc>
                <a:spcPct val="125000"/>
              </a:lnSpc>
            </a:pPr>
            <a:r>
              <a:rPr lang="fr-CA" sz="1900" noProof="0" dirty="0">
                <a:solidFill>
                  <a:srgbClr val="544341"/>
                </a:solidFill>
                <a:latin typeface="Poppins"/>
              </a:rPr>
              <a:t>L'application repose sur trois couches :</a:t>
            </a:r>
          </a:p>
          <a:p>
            <a:pPr>
              <a:lnSpc>
                <a:spcPct val="125000"/>
              </a:lnSpc>
            </a:pPr>
            <a:endParaRPr lang="fr-CA" sz="1900" noProof="0" dirty="0">
              <a:solidFill>
                <a:srgbClr val="544341"/>
              </a:solidFill>
              <a:latin typeface="Poppins"/>
            </a:endParaRPr>
          </a:p>
          <a:p>
            <a:pPr marL="285750" indent="-285750">
              <a:lnSpc>
                <a:spcPct val="125000"/>
              </a:lnSpc>
              <a:buFont typeface="Arial" panose="020B0604020202020204" pitchFamily="34" charset="0"/>
              <a:buChar char="•"/>
            </a:pPr>
            <a:r>
              <a:rPr lang="fr-CA" sz="1400" noProof="0" dirty="0">
                <a:solidFill>
                  <a:srgbClr val="544341"/>
                </a:solidFill>
                <a:latin typeface="Poppins"/>
              </a:rPr>
              <a:t>un frontend qui ne communique jamais directement avec l’IA</a:t>
            </a:r>
          </a:p>
          <a:p>
            <a:pPr marL="285750" indent="-285750">
              <a:lnSpc>
                <a:spcPct val="125000"/>
              </a:lnSpc>
              <a:buFont typeface="Arial" panose="020B0604020202020204" pitchFamily="34" charset="0"/>
              <a:buChar char="•"/>
            </a:pPr>
            <a:r>
              <a:rPr lang="fr-CA" sz="1400" noProof="0" dirty="0">
                <a:solidFill>
                  <a:srgbClr val="544341"/>
                </a:solidFill>
                <a:latin typeface="Poppins"/>
              </a:rPr>
              <a:t>une base de données </a:t>
            </a:r>
            <a:r>
              <a:rPr lang="fr-CA" sz="1400" noProof="0" dirty="0" err="1">
                <a:solidFill>
                  <a:srgbClr val="544341"/>
                </a:solidFill>
                <a:latin typeface="Poppins"/>
              </a:rPr>
              <a:t>Supabase</a:t>
            </a:r>
            <a:r>
              <a:rPr lang="fr-CA" sz="1400" noProof="0" dirty="0">
                <a:solidFill>
                  <a:srgbClr val="544341"/>
                </a:solidFill>
                <a:latin typeface="Poppins"/>
              </a:rPr>
              <a:t> (PostgreSQL) avec authentification intégrée</a:t>
            </a:r>
          </a:p>
          <a:p>
            <a:pPr marL="285750" indent="-285750">
              <a:lnSpc>
                <a:spcPct val="125000"/>
              </a:lnSpc>
              <a:buFont typeface="Arial" panose="020B0604020202020204" pitchFamily="34" charset="0"/>
              <a:buChar char="•"/>
            </a:pPr>
            <a:r>
              <a:rPr lang="fr-CA" sz="1400" noProof="0" dirty="0">
                <a:solidFill>
                  <a:srgbClr val="544341"/>
                </a:solidFill>
                <a:latin typeface="Poppins"/>
              </a:rPr>
              <a:t>une fonction serveur (Edge </a:t>
            </a:r>
            <a:r>
              <a:rPr lang="fr-CA" sz="1400" noProof="0" dirty="0" err="1">
                <a:solidFill>
                  <a:srgbClr val="544341"/>
                </a:solidFill>
                <a:latin typeface="Poppins"/>
              </a:rPr>
              <a:t>Function</a:t>
            </a:r>
            <a:r>
              <a:rPr lang="fr-CA" sz="1400" noProof="0" dirty="0">
                <a:solidFill>
                  <a:srgbClr val="544341"/>
                </a:solidFill>
                <a:latin typeface="Poppins"/>
              </a:rPr>
              <a:t>) qui agit comme intermédiaire sécurisé avec l'API Claude d'</a:t>
            </a:r>
            <a:r>
              <a:rPr lang="fr-CA" sz="1400" noProof="0" dirty="0" err="1">
                <a:solidFill>
                  <a:srgbClr val="544341"/>
                </a:solidFill>
                <a:latin typeface="Poppins"/>
              </a:rPr>
              <a:t>Anthropic</a:t>
            </a:r>
            <a:r>
              <a:rPr lang="fr-CA" sz="1400" noProof="0" dirty="0">
                <a:solidFill>
                  <a:srgbClr val="544341"/>
                </a:solidFill>
                <a:latin typeface="Poppins"/>
              </a:rPr>
              <a:t>.</a:t>
            </a:r>
          </a:p>
          <a:p>
            <a:pPr marL="285750" indent="-285750">
              <a:lnSpc>
                <a:spcPct val="125000"/>
              </a:lnSpc>
              <a:buFont typeface="Arial" panose="020B0604020202020204" pitchFamily="34" charset="0"/>
              <a:buChar char="•"/>
            </a:pPr>
            <a:endParaRPr lang="fr-CA" sz="1400" b="0" i="0" noProof="0" dirty="0">
              <a:solidFill>
                <a:srgbClr val="544341"/>
              </a:solidFill>
              <a:latin typeface="Poppins"/>
            </a:endParaRPr>
          </a:p>
          <a:p>
            <a:pPr marL="285750" indent="-285750">
              <a:lnSpc>
                <a:spcPct val="125000"/>
              </a:lnSpc>
              <a:buFont typeface="Arial" panose="020B0604020202020204" pitchFamily="34" charset="0"/>
              <a:buChar char="•"/>
            </a:pPr>
            <a:endParaRPr lang="fr-CA" sz="1400" noProof="0" dirty="0">
              <a:solidFill>
                <a:srgbClr val="544341"/>
              </a:solidFill>
              <a:latin typeface="Poppins"/>
            </a:endParaRPr>
          </a:p>
        </p:txBody>
      </p:sp>
      <p:cxnSp>
        <p:nvCxnSpPr>
          <p:cNvPr id="9" name="Connector 8">
            <a:extLst>
              <a:ext uri="{FF2B5EF4-FFF2-40B4-BE49-F238E27FC236}">
                <a16:creationId xmlns:a16="http://schemas.microsoft.com/office/drawing/2014/main" id="{E15A304D-C217-C451-4484-5EF8A8DACC80}"/>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5C5E9351-4978-C496-2632-20E0CF4E75FC}"/>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A24796A7-6116-EF54-B067-64C5BCEF2BFB}"/>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5BE926D3-B11D-B847-276C-63AE54367133}"/>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19</a:t>
            </a:r>
          </a:p>
        </p:txBody>
      </p:sp>
      <p:sp>
        <p:nvSpPr>
          <p:cNvPr id="13" name="ZoneTexte 12">
            <a:extLst>
              <a:ext uri="{FF2B5EF4-FFF2-40B4-BE49-F238E27FC236}">
                <a16:creationId xmlns:a16="http://schemas.microsoft.com/office/drawing/2014/main" id="{9F2D6598-D674-2623-1C5A-0ECE532A35E3}"/>
              </a:ext>
            </a:extLst>
          </p:cNvPr>
          <p:cNvSpPr txBox="1"/>
          <p:nvPr/>
        </p:nvSpPr>
        <p:spPr>
          <a:xfrm>
            <a:off x="1292425" y="4118888"/>
            <a:ext cx="9606844" cy="1246495"/>
          </a:xfrm>
          <a:prstGeom prst="rect">
            <a:avLst/>
          </a:prstGeom>
          <a:noFill/>
        </p:spPr>
        <p:txBody>
          <a:bodyPr wrap="square" rtlCol="0">
            <a:spAutoFit/>
          </a:bodyPr>
          <a:lstStyle/>
          <a:p>
            <a:r>
              <a:rPr lang="fr-CA" b="1" noProof="0" dirty="0">
                <a:solidFill>
                  <a:srgbClr val="544341"/>
                </a:solidFill>
                <a:latin typeface="Poppins"/>
              </a:rPr>
              <a:t>Trois couches, zéro accès direct : le frontend ne parle jamais à l'IA ni aux secrets, tout passe par un serveur qui vérifie qui est l'utilisateur avant de le laisser voir ses propres données, et seulement les siennes.</a:t>
            </a:r>
          </a:p>
          <a:p>
            <a:endParaRPr lang="fr-CA" noProof="0" dirty="0"/>
          </a:p>
        </p:txBody>
      </p:sp>
    </p:spTree>
    <p:extLst>
      <p:ext uri="{BB962C8B-B14F-4D97-AF65-F5344CB8AC3E}">
        <p14:creationId xmlns:p14="http://schemas.microsoft.com/office/powerpoint/2010/main" val="15451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F53C9-6BD4-4C78-CC86-DBF58042D28E}"/>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F91E91CC-5715-592A-3BAA-E61D478E1C2A}"/>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878463CA-46F0-5BDB-39DD-CD7D544C00D4}"/>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661301D0-1192-75CF-BD6F-42B2C45ACC5E}"/>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noProof="0" dirty="0">
                <a:solidFill>
                  <a:srgbClr val="544341"/>
                </a:solidFill>
                <a:latin typeface="Poppins"/>
              </a:rPr>
              <a:t>Loi 25</a:t>
            </a:r>
            <a:endParaRPr lang="fr-CA" sz="2800" b="1" i="0" noProof="0" dirty="0">
              <a:solidFill>
                <a:srgbClr val="544341"/>
              </a:solidFill>
              <a:latin typeface="Poppins"/>
            </a:endParaRPr>
          </a:p>
        </p:txBody>
      </p:sp>
      <p:cxnSp>
        <p:nvCxnSpPr>
          <p:cNvPr id="5" name="Connector 4">
            <a:extLst>
              <a:ext uri="{FF2B5EF4-FFF2-40B4-BE49-F238E27FC236}">
                <a16:creationId xmlns:a16="http://schemas.microsoft.com/office/drawing/2014/main" id="{8721FCF3-253F-22B6-37CB-0BD4109A5BC1}"/>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C50CC1ED-9B74-5E33-CD46-1EB11CD3AA46}"/>
              </a:ext>
            </a:extLst>
          </p:cNvPr>
          <p:cNvSpPr txBox="1"/>
          <p:nvPr/>
        </p:nvSpPr>
        <p:spPr>
          <a:xfrm>
            <a:off x="457200" y="1481328"/>
            <a:ext cx="3657600" cy="200055"/>
          </a:xfrm>
          <a:prstGeom prst="rect">
            <a:avLst/>
          </a:prstGeom>
          <a:noFill/>
        </p:spPr>
        <p:txBody>
          <a:bodyPr wrap="square" lIns="0" tIns="0" rIns="0" bIns="0" anchor="t">
            <a:spAutoFit/>
          </a:bodyPr>
          <a:lstStyle/>
          <a:p>
            <a:r>
              <a:rPr lang="fr-CA" sz="1300" b="1" noProof="0" dirty="0">
                <a:solidFill>
                  <a:srgbClr val="FF7300"/>
                </a:solidFill>
                <a:latin typeface="Poppins"/>
              </a:rPr>
              <a:t>ARCHITECTURE – SÉCURITÉ  </a:t>
            </a:r>
            <a:endParaRPr lang="fr-CA" sz="1300" b="1" i="0" noProof="0" dirty="0">
              <a:solidFill>
                <a:srgbClr val="FF7300"/>
              </a:solidFill>
              <a:latin typeface="Poppins"/>
            </a:endParaRPr>
          </a:p>
        </p:txBody>
      </p:sp>
      <p:sp>
        <p:nvSpPr>
          <p:cNvPr id="7" name="TextBox 6">
            <a:extLst>
              <a:ext uri="{FF2B5EF4-FFF2-40B4-BE49-F238E27FC236}">
                <a16:creationId xmlns:a16="http://schemas.microsoft.com/office/drawing/2014/main" id="{29019F41-BEBB-8224-FF48-F8ED9DDFAFB9}"/>
              </a:ext>
            </a:extLst>
          </p:cNvPr>
          <p:cNvSpPr txBox="1"/>
          <p:nvPr/>
        </p:nvSpPr>
        <p:spPr>
          <a:xfrm>
            <a:off x="457200" y="1874519"/>
            <a:ext cx="10817352" cy="3137654"/>
          </a:xfrm>
          <a:prstGeom prst="rect">
            <a:avLst/>
          </a:prstGeom>
          <a:noFill/>
        </p:spPr>
        <p:txBody>
          <a:bodyPr wrap="square" lIns="0" tIns="0" rIns="0" bIns="0" anchor="t">
            <a:spAutoFit/>
          </a:bodyPr>
          <a:lstStyle/>
          <a:p>
            <a:pPr>
              <a:lnSpc>
                <a:spcPct val="125000"/>
              </a:lnSpc>
            </a:pPr>
            <a:r>
              <a:rPr lang="fr-CA" sz="1900" noProof="0" dirty="0">
                <a:solidFill>
                  <a:srgbClr val="544341"/>
                </a:solidFill>
                <a:latin typeface="Poppins"/>
              </a:rPr>
              <a:t>Deux points restent à évaluer :</a:t>
            </a:r>
          </a:p>
          <a:p>
            <a:pPr>
              <a:lnSpc>
                <a:spcPct val="125000"/>
              </a:lnSpc>
            </a:pPr>
            <a:endParaRPr lang="fr-CA" sz="1900" noProof="0" dirty="0">
              <a:solidFill>
                <a:srgbClr val="544341"/>
              </a:solidFill>
              <a:latin typeface="Poppins"/>
            </a:endParaRPr>
          </a:p>
          <a:p>
            <a:pPr marL="342900" indent="-342900">
              <a:lnSpc>
                <a:spcPct val="125000"/>
              </a:lnSpc>
              <a:buFont typeface="+mj-lt"/>
              <a:buAutoNum type="arabicPeriod"/>
            </a:pPr>
            <a:r>
              <a:rPr lang="fr-CA" sz="1400" b="1" noProof="0" dirty="0">
                <a:solidFill>
                  <a:srgbClr val="544341"/>
                </a:solidFill>
                <a:latin typeface="Poppins"/>
              </a:rPr>
              <a:t>Localisation des données : </a:t>
            </a:r>
            <a:r>
              <a:rPr lang="fr-CA" sz="1400" noProof="0" dirty="0" err="1">
                <a:solidFill>
                  <a:srgbClr val="544341"/>
                </a:solidFill>
                <a:latin typeface="Poppins"/>
              </a:rPr>
              <a:t>Supabase</a:t>
            </a:r>
            <a:r>
              <a:rPr lang="fr-CA" sz="1400" noProof="0" dirty="0">
                <a:solidFill>
                  <a:srgbClr val="544341"/>
                </a:solidFill>
                <a:latin typeface="Poppins"/>
              </a:rPr>
              <a:t> et </a:t>
            </a:r>
            <a:r>
              <a:rPr lang="fr-CA" sz="1400" noProof="0" dirty="0" err="1">
                <a:solidFill>
                  <a:srgbClr val="544341"/>
                </a:solidFill>
                <a:latin typeface="Poppins"/>
              </a:rPr>
              <a:t>Anthropic</a:t>
            </a:r>
            <a:r>
              <a:rPr lang="fr-CA" sz="1400" noProof="0" dirty="0">
                <a:solidFill>
                  <a:srgbClr val="544341"/>
                </a:solidFill>
                <a:latin typeface="Poppins"/>
              </a:rPr>
              <a:t> hébergent leur infrastructure hors Québec. La Loi 25 exige une évaluation des facteurs relatifs aux renseignements personnels avant tout transfert hors Québec, dès que les documents traités contiennent des renseignements identifiant des personnes (ex: noms de répondants, d'évaluateurs).</a:t>
            </a:r>
          </a:p>
          <a:p>
            <a:pPr marL="285750" indent="-285750">
              <a:lnSpc>
                <a:spcPct val="125000"/>
              </a:lnSpc>
              <a:buFont typeface="Arial" panose="020B0604020202020204" pitchFamily="34" charset="0"/>
              <a:buChar char="•"/>
            </a:pPr>
            <a:endParaRPr lang="fr-CA" sz="1400" noProof="0" dirty="0">
              <a:solidFill>
                <a:srgbClr val="544341"/>
              </a:solidFill>
              <a:latin typeface="Poppins"/>
            </a:endParaRPr>
          </a:p>
          <a:p>
            <a:pPr marL="342900" indent="-342900">
              <a:lnSpc>
                <a:spcPct val="125000"/>
              </a:lnSpc>
              <a:buFont typeface="+mj-lt"/>
              <a:buAutoNum type="arabicPeriod" startAt="2"/>
            </a:pPr>
            <a:r>
              <a:rPr lang="fr-CA" sz="1400" b="1" noProof="0" dirty="0">
                <a:solidFill>
                  <a:srgbClr val="544341"/>
                </a:solidFill>
                <a:latin typeface="Poppins"/>
              </a:rPr>
              <a:t>Élargissement à plusieurs utilisateurs : </a:t>
            </a:r>
            <a:r>
              <a:rPr lang="fr-CA" sz="1400" noProof="0" dirty="0">
                <a:solidFill>
                  <a:srgbClr val="544341"/>
                </a:solidFill>
                <a:latin typeface="Poppins"/>
              </a:rPr>
              <a:t>la structure (RLS) est déjà prête pour plusieurs comptes, mais l'ajout d'utilisateurs Miyagi nécessitera de désigner formellement un responsable de la protection des renseignements personnels et de documenter les mesures de sécurité, comme l'exige la loi pour toute organisation québécoise.</a:t>
            </a:r>
            <a:endParaRPr lang="fr-CA" sz="1400" b="0" i="0" noProof="0" dirty="0">
              <a:solidFill>
                <a:srgbClr val="544341"/>
              </a:solidFill>
              <a:latin typeface="Poppins"/>
            </a:endParaRPr>
          </a:p>
          <a:p>
            <a:pPr marL="285750" indent="-285750">
              <a:lnSpc>
                <a:spcPct val="125000"/>
              </a:lnSpc>
              <a:buFont typeface="Arial" panose="020B0604020202020204" pitchFamily="34" charset="0"/>
              <a:buChar char="•"/>
            </a:pPr>
            <a:endParaRPr lang="fr-CA" sz="1400" noProof="0" dirty="0">
              <a:solidFill>
                <a:srgbClr val="544341"/>
              </a:solidFill>
              <a:latin typeface="Poppins"/>
            </a:endParaRPr>
          </a:p>
        </p:txBody>
      </p:sp>
      <p:cxnSp>
        <p:nvCxnSpPr>
          <p:cNvPr id="9" name="Connector 8">
            <a:extLst>
              <a:ext uri="{FF2B5EF4-FFF2-40B4-BE49-F238E27FC236}">
                <a16:creationId xmlns:a16="http://schemas.microsoft.com/office/drawing/2014/main" id="{6DDB8CA5-CCBF-A08B-5A02-8B70EDB50224}"/>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58FCD7D9-A042-AB54-07A9-2147A5D22EC2}"/>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0506BF07-9C34-7D30-2F5F-711E5C702290}"/>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753E77EA-8CF0-CB16-6AAE-B83D381D9E5B}"/>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20</a:t>
            </a:r>
          </a:p>
        </p:txBody>
      </p:sp>
      <p:sp>
        <p:nvSpPr>
          <p:cNvPr id="13" name="ZoneTexte 12">
            <a:extLst>
              <a:ext uri="{FF2B5EF4-FFF2-40B4-BE49-F238E27FC236}">
                <a16:creationId xmlns:a16="http://schemas.microsoft.com/office/drawing/2014/main" id="{542BCDB2-B8B4-CD2A-D856-5CCE466C45A5}"/>
              </a:ext>
            </a:extLst>
          </p:cNvPr>
          <p:cNvSpPr txBox="1"/>
          <p:nvPr/>
        </p:nvSpPr>
        <p:spPr>
          <a:xfrm>
            <a:off x="1299915" y="5128213"/>
            <a:ext cx="9131921" cy="1077218"/>
          </a:xfrm>
          <a:prstGeom prst="rect">
            <a:avLst/>
          </a:prstGeom>
          <a:noFill/>
        </p:spPr>
        <p:txBody>
          <a:bodyPr wrap="square" rtlCol="0">
            <a:spAutoFit/>
          </a:bodyPr>
          <a:lstStyle/>
          <a:p>
            <a:pPr marL="285750" indent="-285750">
              <a:buFont typeface="Arial" panose="020B0604020202020204" pitchFamily="34" charset="0"/>
              <a:buChar char="•"/>
            </a:pPr>
            <a:r>
              <a:rPr lang="fr-CA" sz="1600" b="1" noProof="0" dirty="0">
                <a:solidFill>
                  <a:srgbClr val="544341"/>
                </a:solidFill>
                <a:latin typeface="Poppins"/>
              </a:rPr>
              <a:t>Ce texte couvre ce qui est techniquement en place, ce n’est pas une attestation de conformité.</a:t>
            </a:r>
          </a:p>
          <a:p>
            <a:pPr marL="285750" indent="-285750">
              <a:buFont typeface="Arial" panose="020B0604020202020204" pitchFamily="34" charset="0"/>
              <a:buChar char="•"/>
            </a:pPr>
            <a:endParaRPr lang="fr-CA" sz="1600" b="1" noProof="0" dirty="0">
              <a:solidFill>
                <a:srgbClr val="544341"/>
              </a:solidFill>
              <a:latin typeface="Poppins"/>
            </a:endParaRPr>
          </a:p>
          <a:p>
            <a:pPr marL="285750" indent="-285750">
              <a:buFont typeface="Arial" panose="020B0604020202020204" pitchFamily="34" charset="0"/>
              <a:buChar char="•"/>
            </a:pPr>
            <a:r>
              <a:rPr lang="fr-CA" sz="1600" b="1" noProof="0" dirty="0">
                <a:solidFill>
                  <a:srgbClr val="544341"/>
                </a:solidFill>
                <a:latin typeface="Poppins"/>
              </a:rPr>
              <a:t>Le point 1 est le vrai sujet à trancher avant que ça devienne un outil Miyagi officiel.</a:t>
            </a:r>
            <a:endParaRPr lang="fr-CA" sz="1600" noProof="0" dirty="0"/>
          </a:p>
        </p:txBody>
      </p:sp>
    </p:spTree>
    <p:extLst>
      <p:ext uri="{BB962C8B-B14F-4D97-AF65-F5344CB8AC3E}">
        <p14:creationId xmlns:p14="http://schemas.microsoft.com/office/powerpoint/2010/main" val="2209024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5C6ED-AFC2-5CBF-B3F4-616FE8E30FDB}"/>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40D22681-6D24-5A56-3F52-24B7DDFB0D34}"/>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0A96602E-DFD3-AD71-166A-3C2CB15258E8}"/>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7CA74F6B-E247-A69F-C80F-EA8D97F3B519}"/>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noProof="0" dirty="0">
                <a:solidFill>
                  <a:srgbClr val="544341"/>
                </a:solidFill>
                <a:latin typeface="Poppins"/>
              </a:rPr>
              <a:t>Loi 25 – Localisation des données</a:t>
            </a:r>
            <a:endParaRPr lang="fr-CA" sz="2800" b="1" i="0" noProof="0" dirty="0">
              <a:solidFill>
                <a:srgbClr val="544341"/>
              </a:solidFill>
              <a:latin typeface="Poppins"/>
            </a:endParaRPr>
          </a:p>
        </p:txBody>
      </p:sp>
      <p:cxnSp>
        <p:nvCxnSpPr>
          <p:cNvPr id="5" name="Connector 4">
            <a:extLst>
              <a:ext uri="{FF2B5EF4-FFF2-40B4-BE49-F238E27FC236}">
                <a16:creationId xmlns:a16="http://schemas.microsoft.com/office/drawing/2014/main" id="{B57FC43D-2F39-D864-3F5C-3DE630B2EDE0}"/>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D0F2CBA-3C88-8AF8-E9DC-26244E88EFC2}"/>
              </a:ext>
            </a:extLst>
          </p:cNvPr>
          <p:cNvSpPr txBox="1"/>
          <p:nvPr/>
        </p:nvSpPr>
        <p:spPr>
          <a:xfrm>
            <a:off x="457200" y="1481328"/>
            <a:ext cx="3657600" cy="200055"/>
          </a:xfrm>
          <a:prstGeom prst="rect">
            <a:avLst/>
          </a:prstGeom>
          <a:noFill/>
        </p:spPr>
        <p:txBody>
          <a:bodyPr wrap="square" lIns="0" tIns="0" rIns="0" bIns="0" anchor="t">
            <a:spAutoFit/>
          </a:bodyPr>
          <a:lstStyle/>
          <a:p>
            <a:r>
              <a:rPr lang="fr-CA" sz="1300" b="1" noProof="0" dirty="0">
                <a:solidFill>
                  <a:srgbClr val="FF7300"/>
                </a:solidFill>
                <a:latin typeface="Poppins"/>
              </a:rPr>
              <a:t>ARCHITECTURE – SÉCURITÉ  </a:t>
            </a:r>
            <a:endParaRPr lang="fr-CA" sz="1300" b="1" i="0" noProof="0" dirty="0">
              <a:solidFill>
                <a:srgbClr val="FF7300"/>
              </a:solidFill>
              <a:latin typeface="Poppins"/>
            </a:endParaRPr>
          </a:p>
        </p:txBody>
      </p:sp>
      <p:cxnSp>
        <p:nvCxnSpPr>
          <p:cNvPr id="9" name="Connector 8">
            <a:extLst>
              <a:ext uri="{FF2B5EF4-FFF2-40B4-BE49-F238E27FC236}">
                <a16:creationId xmlns:a16="http://schemas.microsoft.com/office/drawing/2014/main" id="{65545F44-40E5-BAF8-05AA-5D06F7C63C12}"/>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307DEE9D-FA56-1C1C-FB8F-2F186BDB89B1}"/>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36CB3F44-81EC-11FA-F9F4-F2FD9C6C6E2F}"/>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5062832B-954A-FF53-9E2D-14DB3F1B43E0}"/>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21</a:t>
            </a:r>
          </a:p>
        </p:txBody>
      </p:sp>
      <p:sp>
        <p:nvSpPr>
          <p:cNvPr id="7" name="TextBox 6">
            <a:extLst>
              <a:ext uri="{FF2B5EF4-FFF2-40B4-BE49-F238E27FC236}">
                <a16:creationId xmlns:a16="http://schemas.microsoft.com/office/drawing/2014/main" id="{7E896164-EF84-AE28-79E2-5090A3933A0B}"/>
              </a:ext>
            </a:extLst>
          </p:cNvPr>
          <p:cNvSpPr txBox="1"/>
          <p:nvPr/>
        </p:nvSpPr>
        <p:spPr>
          <a:xfrm>
            <a:off x="457200" y="1874519"/>
            <a:ext cx="10817352" cy="3676263"/>
          </a:xfrm>
          <a:prstGeom prst="rect">
            <a:avLst/>
          </a:prstGeom>
          <a:noFill/>
        </p:spPr>
        <p:txBody>
          <a:bodyPr wrap="square" lIns="0" tIns="0" rIns="0" bIns="0" anchor="t">
            <a:spAutoFit/>
          </a:bodyPr>
          <a:lstStyle/>
          <a:p>
            <a:pPr>
              <a:lnSpc>
                <a:spcPct val="125000"/>
              </a:lnSpc>
            </a:pPr>
            <a:r>
              <a:rPr lang="fr-CA" sz="1900" noProof="0" dirty="0">
                <a:solidFill>
                  <a:srgbClr val="544341"/>
                </a:solidFill>
                <a:latin typeface="Poppins"/>
              </a:rPr>
              <a:t>Ce que la Loi exige :</a:t>
            </a:r>
          </a:p>
          <a:p>
            <a:pPr>
              <a:lnSpc>
                <a:spcPct val="125000"/>
              </a:lnSpc>
            </a:pPr>
            <a:endParaRPr lang="fr-CA" sz="1900" noProof="0" dirty="0">
              <a:solidFill>
                <a:srgbClr val="544341"/>
              </a:solidFill>
              <a:latin typeface="Poppins"/>
            </a:endParaRPr>
          </a:p>
          <a:p>
            <a:pPr>
              <a:lnSpc>
                <a:spcPct val="125000"/>
              </a:lnSpc>
            </a:pPr>
            <a:r>
              <a:rPr lang="fr-CA" sz="1400" b="1" noProof="0" dirty="0">
                <a:solidFill>
                  <a:srgbClr val="544341"/>
                </a:solidFill>
                <a:latin typeface="Poppins"/>
              </a:rPr>
              <a:t>Avant de transférer des renseignements personnels hors </a:t>
            </a:r>
            <a:r>
              <a:rPr lang="fr-CA" sz="1400" noProof="0" dirty="0">
                <a:solidFill>
                  <a:srgbClr val="544341"/>
                </a:solidFill>
                <a:latin typeface="Poppins"/>
              </a:rPr>
              <a:t>Québec (ce qui inclut les envoyer à un fournisseur infonuagique américain comme </a:t>
            </a:r>
            <a:r>
              <a:rPr lang="fr-CA" sz="1400" noProof="0" dirty="0" err="1">
                <a:solidFill>
                  <a:srgbClr val="544341"/>
                </a:solidFill>
                <a:latin typeface="Poppins"/>
              </a:rPr>
              <a:t>Supabase</a:t>
            </a:r>
            <a:r>
              <a:rPr lang="fr-CA" sz="1400" noProof="0" dirty="0">
                <a:solidFill>
                  <a:srgbClr val="544341"/>
                </a:solidFill>
                <a:latin typeface="Poppins"/>
              </a:rPr>
              <a:t> ou </a:t>
            </a:r>
            <a:r>
              <a:rPr lang="fr-CA" sz="1400" noProof="0" dirty="0" err="1">
                <a:solidFill>
                  <a:srgbClr val="544341"/>
                </a:solidFill>
                <a:latin typeface="Poppins"/>
              </a:rPr>
              <a:t>Anthropic</a:t>
            </a:r>
            <a:r>
              <a:rPr lang="fr-CA" sz="1400" noProof="0" dirty="0">
                <a:solidFill>
                  <a:srgbClr val="544341"/>
                </a:solidFill>
                <a:latin typeface="Poppins"/>
              </a:rPr>
              <a:t>, même pour du simple traitement), </a:t>
            </a:r>
            <a:r>
              <a:rPr lang="fr-CA" sz="1400" b="1" noProof="0" dirty="0">
                <a:solidFill>
                  <a:srgbClr val="544341"/>
                </a:solidFill>
                <a:latin typeface="Poppins"/>
              </a:rPr>
              <a:t>l'organisation doit produire une évaluation des facteurs relatifs à la vie privée (ÉFVP) qui examine :</a:t>
            </a:r>
          </a:p>
          <a:p>
            <a:pPr marL="342900" indent="-342900">
              <a:lnSpc>
                <a:spcPct val="125000"/>
              </a:lnSpc>
              <a:buFont typeface="+mj-lt"/>
              <a:buAutoNum type="arabicPeriod"/>
            </a:pPr>
            <a:endParaRPr lang="fr-CA" sz="1400" b="1" noProof="0" dirty="0">
              <a:solidFill>
                <a:srgbClr val="544341"/>
              </a:solidFill>
              <a:latin typeface="Poppins"/>
            </a:endParaRPr>
          </a:p>
          <a:p>
            <a:pPr marL="342900" indent="-342900">
              <a:lnSpc>
                <a:spcPct val="125000"/>
              </a:lnSpc>
              <a:buFont typeface="+mj-lt"/>
              <a:buAutoNum type="arabicPeriod"/>
            </a:pPr>
            <a:r>
              <a:rPr lang="fr-CA" sz="1400" noProof="0" dirty="0">
                <a:solidFill>
                  <a:srgbClr val="544341"/>
                </a:solidFill>
                <a:latin typeface="Poppins"/>
              </a:rPr>
              <a:t>la sensibilité des renseignements</a:t>
            </a:r>
          </a:p>
          <a:p>
            <a:pPr marL="342900" indent="-342900">
              <a:lnSpc>
                <a:spcPct val="125000"/>
              </a:lnSpc>
              <a:buFont typeface="+mj-lt"/>
              <a:buAutoNum type="arabicPeriod"/>
            </a:pPr>
            <a:r>
              <a:rPr lang="fr-CA" sz="1400" noProof="0" dirty="0">
                <a:solidFill>
                  <a:srgbClr val="544341"/>
                </a:solidFill>
                <a:latin typeface="Poppins"/>
              </a:rPr>
              <a:t>les finalités de leur utilisation</a:t>
            </a:r>
          </a:p>
          <a:p>
            <a:pPr marL="342900" indent="-342900">
              <a:lnSpc>
                <a:spcPct val="125000"/>
              </a:lnSpc>
              <a:buFont typeface="+mj-lt"/>
              <a:buAutoNum type="arabicPeriod"/>
            </a:pPr>
            <a:r>
              <a:rPr lang="fr-CA" sz="1400" noProof="0" dirty="0">
                <a:solidFill>
                  <a:srgbClr val="544341"/>
                </a:solidFill>
                <a:latin typeface="Poppins"/>
              </a:rPr>
              <a:t>les mesures de protection en place, y compris contractuelles</a:t>
            </a:r>
          </a:p>
          <a:p>
            <a:pPr marL="342900" indent="-342900">
              <a:lnSpc>
                <a:spcPct val="125000"/>
              </a:lnSpc>
              <a:buFont typeface="+mj-lt"/>
              <a:buAutoNum type="arabicPeriod"/>
            </a:pPr>
            <a:r>
              <a:rPr lang="fr-CA" sz="1400" noProof="0" dirty="0">
                <a:solidFill>
                  <a:srgbClr val="544341"/>
                </a:solidFill>
                <a:latin typeface="Poppins"/>
              </a:rPr>
              <a:t>le cadre juridique de l'État de destination (les États-Unis sont généralement jugés insuffisants par la CAI, sauf clauses contractuelles compensatoires)</a:t>
            </a:r>
          </a:p>
          <a:p>
            <a:pPr marL="342900" indent="-342900">
              <a:lnSpc>
                <a:spcPct val="125000"/>
              </a:lnSpc>
              <a:buFont typeface="+mj-lt"/>
              <a:buAutoNum type="arabicPeriod"/>
            </a:pPr>
            <a:r>
              <a:rPr lang="fr-CA" sz="1400" noProof="0" dirty="0">
                <a:solidFill>
                  <a:srgbClr val="544341"/>
                </a:solidFill>
                <a:latin typeface="Poppins"/>
              </a:rPr>
              <a:t>Si l'évaluation conclut à une protection adéquate, le transfert est permis, à condition de l'accompagner d'une entente écrite avec clauses de protection des renseignements personnels.</a:t>
            </a:r>
          </a:p>
        </p:txBody>
      </p:sp>
    </p:spTree>
    <p:extLst>
      <p:ext uri="{BB962C8B-B14F-4D97-AF65-F5344CB8AC3E}">
        <p14:creationId xmlns:p14="http://schemas.microsoft.com/office/powerpoint/2010/main" val="674356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188D1-F09C-B701-5612-BBA3678D5B0D}"/>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0EF06E93-5475-D8E4-C070-890665B9407A}"/>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FF8CDE2A-7ECF-7627-89DA-B9E0726A2538}"/>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25F27D02-09B3-566A-4EEF-81ADFA7F7F12}"/>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noProof="0" dirty="0">
                <a:solidFill>
                  <a:srgbClr val="544341"/>
                </a:solidFill>
                <a:latin typeface="Poppins"/>
              </a:rPr>
              <a:t>Loi 25 – Produire l’ÉFVP</a:t>
            </a:r>
            <a:endParaRPr lang="fr-CA" sz="2800" b="1" i="0" noProof="0" dirty="0">
              <a:solidFill>
                <a:srgbClr val="544341"/>
              </a:solidFill>
              <a:latin typeface="Poppins"/>
            </a:endParaRPr>
          </a:p>
        </p:txBody>
      </p:sp>
      <p:cxnSp>
        <p:nvCxnSpPr>
          <p:cNvPr id="5" name="Connector 4">
            <a:extLst>
              <a:ext uri="{FF2B5EF4-FFF2-40B4-BE49-F238E27FC236}">
                <a16:creationId xmlns:a16="http://schemas.microsoft.com/office/drawing/2014/main" id="{CB09877A-8872-4F13-4999-96DA7D32064D}"/>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1A0EDA9-8FAF-3DF9-08A6-4316C5F98DC7}"/>
              </a:ext>
            </a:extLst>
          </p:cNvPr>
          <p:cNvSpPr txBox="1"/>
          <p:nvPr/>
        </p:nvSpPr>
        <p:spPr>
          <a:xfrm>
            <a:off x="457200" y="1481328"/>
            <a:ext cx="3657600" cy="200055"/>
          </a:xfrm>
          <a:prstGeom prst="rect">
            <a:avLst/>
          </a:prstGeom>
          <a:noFill/>
        </p:spPr>
        <p:txBody>
          <a:bodyPr wrap="square" lIns="0" tIns="0" rIns="0" bIns="0" anchor="t">
            <a:spAutoFit/>
          </a:bodyPr>
          <a:lstStyle/>
          <a:p>
            <a:r>
              <a:rPr lang="fr-CA" sz="1300" b="1" noProof="0" dirty="0">
                <a:solidFill>
                  <a:srgbClr val="FF7300"/>
                </a:solidFill>
                <a:latin typeface="Poppins"/>
              </a:rPr>
              <a:t>ARCHITECTURE – SÉCURITÉ  </a:t>
            </a:r>
            <a:endParaRPr lang="fr-CA" sz="1300" b="1" i="0" noProof="0" dirty="0">
              <a:solidFill>
                <a:srgbClr val="FF7300"/>
              </a:solidFill>
              <a:latin typeface="Poppins"/>
            </a:endParaRPr>
          </a:p>
        </p:txBody>
      </p:sp>
      <p:cxnSp>
        <p:nvCxnSpPr>
          <p:cNvPr id="9" name="Connector 8">
            <a:extLst>
              <a:ext uri="{FF2B5EF4-FFF2-40B4-BE49-F238E27FC236}">
                <a16:creationId xmlns:a16="http://schemas.microsoft.com/office/drawing/2014/main" id="{9B28C1E3-3315-9730-4B5C-4CE88ACFE516}"/>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89E26A76-D49B-B6DF-F8F0-B4584729DD6C}"/>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8DB5CADA-AEA4-FDC5-DFB0-D284B494755E}"/>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FF687877-E51C-A3EA-7115-8DA0D3DC591F}"/>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22</a:t>
            </a:r>
          </a:p>
        </p:txBody>
      </p:sp>
      <p:sp>
        <p:nvSpPr>
          <p:cNvPr id="7" name="TextBox 6">
            <a:extLst>
              <a:ext uri="{FF2B5EF4-FFF2-40B4-BE49-F238E27FC236}">
                <a16:creationId xmlns:a16="http://schemas.microsoft.com/office/drawing/2014/main" id="{9EAE7BEA-52DE-E6FA-AD63-03A3B9A0C910}"/>
              </a:ext>
            </a:extLst>
          </p:cNvPr>
          <p:cNvSpPr txBox="1"/>
          <p:nvPr/>
        </p:nvSpPr>
        <p:spPr>
          <a:xfrm>
            <a:off x="457200" y="1874519"/>
            <a:ext cx="10817352" cy="4054956"/>
          </a:xfrm>
          <a:prstGeom prst="rect">
            <a:avLst/>
          </a:prstGeom>
          <a:noFill/>
        </p:spPr>
        <p:txBody>
          <a:bodyPr wrap="square" lIns="0" tIns="0" rIns="0" bIns="0" anchor="t">
            <a:spAutoFit/>
          </a:bodyPr>
          <a:lstStyle/>
          <a:p>
            <a:pPr>
              <a:lnSpc>
                <a:spcPct val="125000"/>
              </a:lnSpc>
            </a:pPr>
            <a:r>
              <a:rPr lang="fr-CA" sz="1900" noProof="0" dirty="0">
                <a:solidFill>
                  <a:srgbClr val="544341"/>
                </a:solidFill>
                <a:latin typeface="Poppins"/>
              </a:rPr>
              <a:t>Évaluation des Facteurs relatifs à la Vie Privée : </a:t>
            </a:r>
          </a:p>
          <a:p>
            <a:pPr>
              <a:lnSpc>
                <a:spcPct val="125000"/>
              </a:lnSpc>
            </a:pPr>
            <a:endParaRPr lang="fr-CA" sz="1900" noProof="0" dirty="0">
              <a:solidFill>
                <a:srgbClr val="544341"/>
              </a:solidFill>
              <a:latin typeface="Poppins"/>
            </a:endParaRPr>
          </a:p>
          <a:p>
            <a:pPr marL="342900" indent="-342900">
              <a:buFont typeface="+mj-lt"/>
              <a:buAutoNum type="arabicPeriod"/>
            </a:pPr>
            <a:r>
              <a:rPr lang="fr-CA" sz="1400" noProof="0" dirty="0">
                <a:solidFill>
                  <a:srgbClr val="544341"/>
                </a:solidFill>
                <a:latin typeface="Poppins"/>
              </a:rPr>
              <a:t>Identifier précisément quels renseignements personnels vont transiter par l’application.</a:t>
            </a:r>
            <a:br>
              <a:rPr lang="fr-CA" sz="1400" noProof="0" dirty="0">
                <a:solidFill>
                  <a:srgbClr val="544341"/>
                </a:solidFill>
                <a:latin typeface="Poppins"/>
              </a:rPr>
            </a:br>
            <a:r>
              <a:rPr lang="fr-CA" sz="1200" noProof="0" dirty="0">
                <a:solidFill>
                  <a:srgbClr val="544341"/>
                </a:solidFill>
                <a:latin typeface="Poppins"/>
              </a:rPr>
              <a:t>Pour DOJO, c'est probablement mince : des noms et courriels de répondants d'organismes publics mentionnés dans les AO, pas de données sensibles.</a:t>
            </a:r>
          </a:p>
          <a:p>
            <a:pPr marL="342900" indent="-342900">
              <a:buFont typeface="+mj-lt"/>
              <a:buAutoNum type="arabicPeriod"/>
            </a:pPr>
            <a:endParaRPr lang="fr-CA" sz="1400" noProof="0" dirty="0">
              <a:solidFill>
                <a:srgbClr val="544341"/>
              </a:solidFill>
              <a:latin typeface="Poppins"/>
            </a:endParaRPr>
          </a:p>
          <a:p>
            <a:pPr marL="342900" indent="-342900">
              <a:buFont typeface="+mj-lt"/>
              <a:buAutoNum type="arabicPeriod"/>
            </a:pPr>
            <a:r>
              <a:rPr lang="fr-CA" sz="1400" noProof="0" dirty="0">
                <a:solidFill>
                  <a:srgbClr val="544341"/>
                </a:solidFill>
                <a:latin typeface="Poppins"/>
              </a:rPr>
              <a:t>Documenter les finalités (analyse de pertinence d'un AO, pas de profilage de personnes).</a:t>
            </a:r>
          </a:p>
          <a:p>
            <a:pPr marL="342900" indent="-342900">
              <a:buFont typeface="+mj-lt"/>
              <a:buAutoNum type="arabicPeriod"/>
            </a:pPr>
            <a:endParaRPr lang="fr-CA" sz="1400" noProof="0" dirty="0">
              <a:solidFill>
                <a:srgbClr val="544341"/>
              </a:solidFill>
              <a:latin typeface="Poppins"/>
            </a:endParaRPr>
          </a:p>
          <a:p>
            <a:pPr marL="342900" indent="-342900">
              <a:buFont typeface="+mj-lt"/>
              <a:buAutoNum type="arabicPeriod"/>
            </a:pPr>
            <a:r>
              <a:rPr lang="fr-CA" sz="1400" noProof="0" dirty="0">
                <a:solidFill>
                  <a:srgbClr val="544341"/>
                </a:solidFill>
                <a:latin typeface="Poppins"/>
              </a:rPr>
              <a:t>Documenter les mesures techniques déjà en place : chiffrement, RLS, accès restreint à un compte.</a:t>
            </a:r>
            <a:br>
              <a:rPr lang="fr-CA" sz="1400" noProof="0" dirty="0">
                <a:solidFill>
                  <a:srgbClr val="544341"/>
                </a:solidFill>
                <a:latin typeface="Poppins"/>
              </a:rPr>
            </a:br>
            <a:r>
              <a:rPr lang="fr-CA" sz="1200" noProof="0" dirty="0">
                <a:solidFill>
                  <a:srgbClr val="544341"/>
                </a:solidFill>
                <a:latin typeface="Poppins"/>
              </a:rPr>
              <a:t>(J’ai déjà une bonne base pour cette section dans un fichier README)</a:t>
            </a:r>
          </a:p>
          <a:p>
            <a:pPr marL="342900" indent="-342900">
              <a:buFont typeface="+mj-lt"/>
              <a:buAutoNum type="arabicPeriod"/>
            </a:pPr>
            <a:endParaRPr lang="fr-CA" sz="1400" noProof="0" dirty="0">
              <a:solidFill>
                <a:srgbClr val="544341"/>
              </a:solidFill>
              <a:latin typeface="Poppins"/>
            </a:endParaRPr>
          </a:p>
          <a:p>
            <a:pPr marL="342900" indent="-342900">
              <a:buFont typeface="+mj-lt"/>
              <a:buAutoNum type="arabicPeriod"/>
            </a:pPr>
            <a:r>
              <a:rPr lang="fr-CA" sz="1400" noProof="0" dirty="0">
                <a:solidFill>
                  <a:srgbClr val="544341"/>
                </a:solidFill>
                <a:latin typeface="Poppins"/>
              </a:rPr>
              <a:t>Vérifier les ententes de traitement de données (DPA) de </a:t>
            </a:r>
            <a:r>
              <a:rPr lang="fr-CA" sz="1400" noProof="0" dirty="0" err="1">
                <a:solidFill>
                  <a:srgbClr val="544341"/>
                </a:solidFill>
                <a:latin typeface="Poppins"/>
              </a:rPr>
              <a:t>Supabase</a:t>
            </a:r>
            <a:r>
              <a:rPr lang="fr-CA" sz="1400" noProof="0" dirty="0">
                <a:solidFill>
                  <a:srgbClr val="544341"/>
                </a:solidFill>
                <a:latin typeface="Poppins"/>
              </a:rPr>
              <a:t> et d'</a:t>
            </a:r>
            <a:r>
              <a:rPr lang="fr-CA" sz="1400" noProof="0" dirty="0" err="1">
                <a:solidFill>
                  <a:srgbClr val="544341"/>
                </a:solidFill>
                <a:latin typeface="Poppins"/>
              </a:rPr>
              <a:t>Anthropic</a:t>
            </a:r>
            <a:r>
              <a:rPr lang="fr-CA" sz="1400" noProof="0" dirty="0">
                <a:solidFill>
                  <a:srgbClr val="544341"/>
                </a:solidFill>
                <a:latin typeface="Poppins"/>
              </a:rPr>
              <a:t>, voir si elles offrent des clauses suffisantes.</a:t>
            </a:r>
          </a:p>
          <a:p>
            <a:pPr marL="342900" indent="-342900">
              <a:buFont typeface="+mj-lt"/>
              <a:buAutoNum type="arabicPeriod"/>
            </a:pPr>
            <a:endParaRPr lang="fr-CA" sz="1400" noProof="0" dirty="0">
              <a:solidFill>
                <a:srgbClr val="544341"/>
              </a:solidFill>
              <a:latin typeface="Poppins"/>
            </a:endParaRPr>
          </a:p>
          <a:p>
            <a:pPr marL="342900" indent="-342900">
              <a:buFont typeface="+mj-lt"/>
              <a:buAutoNum type="arabicPeriod"/>
            </a:pPr>
            <a:r>
              <a:rPr lang="fr-CA" sz="1400" noProof="0" dirty="0">
                <a:solidFill>
                  <a:srgbClr val="544341"/>
                </a:solidFill>
                <a:latin typeface="Poppins"/>
              </a:rPr>
              <a:t>Faire approuver l'évaluation par le responsable de la protection des renseignements personnels</a:t>
            </a:r>
            <a:br>
              <a:rPr lang="fr-CA" sz="1400" noProof="0" dirty="0">
                <a:solidFill>
                  <a:srgbClr val="544341"/>
                </a:solidFill>
                <a:latin typeface="Poppins"/>
              </a:rPr>
            </a:br>
            <a:r>
              <a:rPr lang="fr-CA" sz="1200" noProof="0" dirty="0">
                <a:solidFill>
                  <a:srgbClr val="544341"/>
                </a:solidFill>
                <a:latin typeface="Poppins"/>
              </a:rPr>
              <a:t>(Miyagi doit en désigner un, c'est une obligation distincte de la Loi 25).</a:t>
            </a:r>
          </a:p>
          <a:p>
            <a:pPr marL="342900" indent="-342900">
              <a:buFont typeface="+mj-lt"/>
              <a:buAutoNum type="arabicPeriod"/>
            </a:pPr>
            <a:endParaRPr lang="fr-CA" sz="1400" noProof="0" dirty="0">
              <a:solidFill>
                <a:srgbClr val="544341"/>
              </a:solidFill>
              <a:latin typeface="Poppins"/>
            </a:endParaRPr>
          </a:p>
          <a:p>
            <a:pPr marL="342900" indent="-342900">
              <a:buFont typeface="+mj-lt"/>
              <a:buAutoNum type="arabicPeriod"/>
            </a:pPr>
            <a:r>
              <a:rPr lang="fr-CA" sz="1400" noProof="0" dirty="0">
                <a:solidFill>
                  <a:srgbClr val="544341"/>
                </a:solidFill>
                <a:latin typeface="Poppins"/>
              </a:rPr>
              <a:t>Conserver le document : la CAI peut le demander en cas de plainte ou d'audit.</a:t>
            </a:r>
          </a:p>
        </p:txBody>
      </p:sp>
    </p:spTree>
    <p:extLst>
      <p:ext uri="{BB962C8B-B14F-4D97-AF65-F5344CB8AC3E}">
        <p14:creationId xmlns:p14="http://schemas.microsoft.com/office/powerpoint/2010/main" val="3982096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4" end="4"/>
                                            </p:txEl>
                                          </p:spTgt>
                                        </p:tgtEl>
                                        <p:attrNameLst>
                                          <p:attrName>style.visibility</p:attrName>
                                        </p:attrNameLst>
                                      </p:cBhvr>
                                      <p:to>
                                        <p:strVal val="visible"/>
                                      </p:to>
                                    </p:set>
                                    <p:animEffect transition="in" filter="fade">
                                      <p:cBhvr>
                                        <p:cTn id="14" dur="1000"/>
                                        <p:tgtEl>
                                          <p:spTgt spid="7">
                                            <p:txEl>
                                              <p:pRg st="4" end="4"/>
                                            </p:txEl>
                                          </p:spTgt>
                                        </p:tgtEl>
                                      </p:cBhvr>
                                    </p:animEffect>
                                    <p:anim calcmode="lin" valueType="num">
                                      <p:cBhvr>
                                        <p:cTn id="1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animEffect transition="in" filter="fade">
                                      <p:cBhvr>
                                        <p:cTn id="21" dur="1000"/>
                                        <p:tgtEl>
                                          <p:spTgt spid="7">
                                            <p:txEl>
                                              <p:pRg st="6" end="6"/>
                                            </p:txEl>
                                          </p:spTgt>
                                        </p:tgtEl>
                                      </p:cBhvr>
                                    </p:animEffect>
                                    <p:anim calcmode="lin" valueType="num">
                                      <p:cBhvr>
                                        <p:cTn id="2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8" end="8"/>
                                            </p:txEl>
                                          </p:spTgt>
                                        </p:tgtEl>
                                        <p:attrNameLst>
                                          <p:attrName>style.visibility</p:attrName>
                                        </p:attrNameLst>
                                      </p:cBhvr>
                                      <p:to>
                                        <p:strVal val="visible"/>
                                      </p:to>
                                    </p:set>
                                    <p:animEffect transition="in" filter="fade">
                                      <p:cBhvr>
                                        <p:cTn id="28" dur="1000"/>
                                        <p:tgtEl>
                                          <p:spTgt spid="7">
                                            <p:txEl>
                                              <p:pRg st="8" end="8"/>
                                            </p:txEl>
                                          </p:spTgt>
                                        </p:tgtEl>
                                      </p:cBhvr>
                                    </p:animEffect>
                                    <p:anim calcmode="lin" valueType="num">
                                      <p:cBhvr>
                                        <p:cTn id="29"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10" end="10"/>
                                            </p:txEl>
                                          </p:spTgt>
                                        </p:tgtEl>
                                        <p:attrNameLst>
                                          <p:attrName>style.visibility</p:attrName>
                                        </p:attrNameLst>
                                      </p:cBhvr>
                                      <p:to>
                                        <p:strVal val="visible"/>
                                      </p:to>
                                    </p:set>
                                    <p:animEffect transition="in" filter="fade">
                                      <p:cBhvr>
                                        <p:cTn id="35" dur="1000"/>
                                        <p:tgtEl>
                                          <p:spTgt spid="7">
                                            <p:txEl>
                                              <p:pRg st="10" end="10"/>
                                            </p:txEl>
                                          </p:spTgt>
                                        </p:tgtEl>
                                      </p:cBhvr>
                                    </p:animEffect>
                                    <p:anim calcmode="lin" valueType="num">
                                      <p:cBhvr>
                                        <p:cTn id="36"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2" end="12"/>
                                            </p:txEl>
                                          </p:spTgt>
                                        </p:tgtEl>
                                        <p:attrNameLst>
                                          <p:attrName>style.visibility</p:attrName>
                                        </p:attrNameLst>
                                      </p:cBhvr>
                                      <p:to>
                                        <p:strVal val="visible"/>
                                      </p:to>
                                    </p:set>
                                    <p:animEffect transition="in" filter="fade">
                                      <p:cBhvr>
                                        <p:cTn id="42" dur="1000"/>
                                        <p:tgtEl>
                                          <p:spTgt spid="7">
                                            <p:txEl>
                                              <p:pRg st="12" end="12"/>
                                            </p:txEl>
                                          </p:spTgt>
                                        </p:tgtEl>
                                      </p:cBhvr>
                                    </p:animEffect>
                                    <p:anim calcmode="lin" valueType="num">
                                      <p:cBhvr>
                                        <p:cTn id="43"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FE046-5580-3C20-303C-5F556CDD31C6}"/>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26A7E739-22EA-AD3F-54FC-8ACEB9377294}"/>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786E05DC-6DF0-D303-2D8B-DC158F47CBDF}"/>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0AFD9B8A-DF99-394D-1D9A-1837D7DE26FD}"/>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noProof="0" dirty="0">
                <a:solidFill>
                  <a:srgbClr val="544341"/>
                </a:solidFill>
                <a:latin typeface="Poppins"/>
              </a:rPr>
              <a:t>Loi 25 – Faut-il anonymiser les données ?</a:t>
            </a:r>
            <a:endParaRPr lang="fr-CA" sz="2800" b="1" i="0" noProof="0" dirty="0">
              <a:solidFill>
                <a:srgbClr val="544341"/>
              </a:solidFill>
              <a:latin typeface="Poppins"/>
            </a:endParaRPr>
          </a:p>
        </p:txBody>
      </p:sp>
      <p:cxnSp>
        <p:nvCxnSpPr>
          <p:cNvPr id="5" name="Connector 4">
            <a:extLst>
              <a:ext uri="{FF2B5EF4-FFF2-40B4-BE49-F238E27FC236}">
                <a16:creationId xmlns:a16="http://schemas.microsoft.com/office/drawing/2014/main" id="{20C567F1-D9B9-6595-49AC-C8838CAF8BFA}"/>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6A5103F-B6EC-2935-A474-EB7EF8C2BB1A}"/>
              </a:ext>
            </a:extLst>
          </p:cNvPr>
          <p:cNvSpPr txBox="1"/>
          <p:nvPr/>
        </p:nvSpPr>
        <p:spPr>
          <a:xfrm>
            <a:off x="457200" y="1481328"/>
            <a:ext cx="3657600" cy="200055"/>
          </a:xfrm>
          <a:prstGeom prst="rect">
            <a:avLst/>
          </a:prstGeom>
          <a:noFill/>
        </p:spPr>
        <p:txBody>
          <a:bodyPr wrap="square" lIns="0" tIns="0" rIns="0" bIns="0" anchor="t">
            <a:spAutoFit/>
          </a:bodyPr>
          <a:lstStyle/>
          <a:p>
            <a:r>
              <a:rPr lang="fr-CA" sz="1300" b="1" noProof="0" dirty="0">
                <a:solidFill>
                  <a:srgbClr val="FF7300"/>
                </a:solidFill>
                <a:latin typeface="Poppins"/>
              </a:rPr>
              <a:t>ARCHITECTURE – SÉCURITÉ  </a:t>
            </a:r>
            <a:endParaRPr lang="fr-CA" sz="1300" b="1" i="0" noProof="0" dirty="0">
              <a:solidFill>
                <a:srgbClr val="FF7300"/>
              </a:solidFill>
              <a:latin typeface="Poppins"/>
            </a:endParaRPr>
          </a:p>
        </p:txBody>
      </p:sp>
      <p:cxnSp>
        <p:nvCxnSpPr>
          <p:cNvPr id="9" name="Connector 8">
            <a:extLst>
              <a:ext uri="{FF2B5EF4-FFF2-40B4-BE49-F238E27FC236}">
                <a16:creationId xmlns:a16="http://schemas.microsoft.com/office/drawing/2014/main" id="{DF2CF0E3-F92A-D9F4-6A44-D2C8D27674CE}"/>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F67F8EAD-3C3A-9401-C9E1-69397002C4E3}"/>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06CCE7E8-2B6E-1E31-5103-9794CBD28A0C}"/>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AE0D76FC-EC30-3E3A-3A64-730FE27D4B91}"/>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23</a:t>
            </a:r>
          </a:p>
        </p:txBody>
      </p:sp>
      <p:sp>
        <p:nvSpPr>
          <p:cNvPr id="13" name="TextBox 6">
            <a:extLst>
              <a:ext uri="{FF2B5EF4-FFF2-40B4-BE49-F238E27FC236}">
                <a16:creationId xmlns:a16="http://schemas.microsoft.com/office/drawing/2014/main" id="{1DF380D6-6172-DBA9-4ECB-56E1C23A9FE2}"/>
              </a:ext>
            </a:extLst>
          </p:cNvPr>
          <p:cNvSpPr txBox="1"/>
          <p:nvPr/>
        </p:nvSpPr>
        <p:spPr>
          <a:xfrm>
            <a:off x="457200" y="1874519"/>
            <a:ext cx="10817352" cy="2868349"/>
          </a:xfrm>
          <a:prstGeom prst="rect">
            <a:avLst/>
          </a:prstGeom>
          <a:noFill/>
        </p:spPr>
        <p:txBody>
          <a:bodyPr wrap="square" lIns="0" tIns="0" rIns="0" bIns="0" anchor="t">
            <a:spAutoFit/>
          </a:bodyPr>
          <a:lstStyle/>
          <a:p>
            <a:pPr>
              <a:lnSpc>
                <a:spcPct val="125000"/>
              </a:lnSpc>
            </a:pPr>
            <a:r>
              <a:rPr lang="fr-CA" sz="1900" noProof="0" dirty="0">
                <a:solidFill>
                  <a:srgbClr val="544341"/>
                </a:solidFill>
                <a:latin typeface="Poppins"/>
              </a:rPr>
              <a:t>Anonymiser un document d'AO complet serait lourd et peu utile.</a:t>
            </a:r>
          </a:p>
          <a:p>
            <a:pPr>
              <a:lnSpc>
                <a:spcPct val="125000"/>
              </a:lnSpc>
            </a:pPr>
            <a:endParaRPr lang="fr-CA" sz="1900" noProof="0" dirty="0">
              <a:solidFill>
                <a:srgbClr val="544341"/>
              </a:solidFill>
              <a:latin typeface="Poppins"/>
            </a:endParaRPr>
          </a:p>
          <a:p>
            <a:pPr>
              <a:lnSpc>
                <a:spcPct val="125000"/>
              </a:lnSpc>
            </a:pPr>
            <a:r>
              <a:rPr lang="fr-CA" sz="1400" noProof="0" dirty="0">
                <a:solidFill>
                  <a:srgbClr val="544341"/>
                </a:solidFill>
                <a:latin typeface="Poppins"/>
              </a:rPr>
              <a:t>Non, ce n'est pas obligatoire si l'évaluation conclut à une protection adéquate. Mais anonymiser élimine carrément l'exigence : si rien ne permet d'identifier une personne, la Loi 25 ne s'applique pas du tout.</a:t>
            </a:r>
            <a:br>
              <a:rPr lang="fr-CA" sz="1400" noProof="0" dirty="0">
                <a:solidFill>
                  <a:srgbClr val="544341"/>
                </a:solidFill>
                <a:latin typeface="Poppins"/>
              </a:rPr>
            </a:br>
            <a:endParaRPr lang="fr-CA" sz="1400" noProof="0" dirty="0">
              <a:solidFill>
                <a:srgbClr val="544341"/>
              </a:solidFill>
              <a:latin typeface="Poppins"/>
            </a:endParaRPr>
          </a:p>
          <a:p>
            <a:pPr>
              <a:lnSpc>
                <a:spcPct val="125000"/>
              </a:lnSpc>
            </a:pPr>
            <a:r>
              <a:rPr lang="fr-CA" sz="1400" noProof="0" dirty="0">
                <a:solidFill>
                  <a:srgbClr val="544341"/>
                </a:solidFill>
                <a:latin typeface="Poppins"/>
              </a:rPr>
              <a:t>La vraie cible, c'est probablement juste les noms et coordonnées de contacts qui apparaissent dans le document.</a:t>
            </a:r>
            <a:br>
              <a:rPr lang="fr-CA" sz="1400" noProof="0" dirty="0">
                <a:solidFill>
                  <a:srgbClr val="544341"/>
                </a:solidFill>
                <a:latin typeface="Poppins"/>
              </a:rPr>
            </a:br>
            <a:r>
              <a:rPr lang="fr-CA" sz="1400" noProof="0" dirty="0">
                <a:solidFill>
                  <a:srgbClr val="544341"/>
                </a:solidFill>
                <a:latin typeface="Poppins"/>
              </a:rPr>
              <a:t>Pas le contenu du mandat lui-même.</a:t>
            </a:r>
          </a:p>
          <a:p>
            <a:pPr>
              <a:lnSpc>
                <a:spcPct val="125000"/>
              </a:lnSpc>
            </a:pPr>
            <a:endParaRPr lang="fr-CA" sz="1400" noProof="0" dirty="0">
              <a:solidFill>
                <a:srgbClr val="544341"/>
              </a:solidFill>
              <a:latin typeface="Poppins"/>
            </a:endParaRPr>
          </a:p>
          <a:p>
            <a:pPr>
              <a:lnSpc>
                <a:spcPct val="125000"/>
              </a:lnSpc>
            </a:pPr>
            <a:r>
              <a:rPr lang="fr-CA" sz="1400" noProof="0" dirty="0">
                <a:solidFill>
                  <a:srgbClr val="544341"/>
                </a:solidFill>
                <a:latin typeface="Poppins"/>
              </a:rPr>
              <a:t>Une étape de caviardage ciblé (retirer ou masquer noms/courriels/téléphones avant l'envoi à Claude) réduirait le périmètre de l'évaluation à presque rien, pour un effort beaucoup plus petit qu'une anonymisation complète.</a:t>
            </a:r>
          </a:p>
        </p:txBody>
      </p:sp>
    </p:spTree>
    <p:extLst>
      <p:ext uri="{BB962C8B-B14F-4D97-AF65-F5344CB8AC3E}">
        <p14:creationId xmlns:p14="http://schemas.microsoft.com/office/powerpoint/2010/main" val="1711394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ADE75-3991-293D-0552-56F7DA22D51E}"/>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7DC51B87-5668-F93D-A538-9CE4D82B1973}"/>
              </a:ext>
            </a:extLst>
          </p:cNvPr>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a:extLst>
              <a:ext uri="{FF2B5EF4-FFF2-40B4-BE49-F238E27FC236}">
                <a16:creationId xmlns:a16="http://schemas.microsoft.com/office/drawing/2014/main" id="{26CDBB95-2C48-C9B1-353E-9CBE3057CCC7}"/>
              </a:ext>
            </a:extLst>
          </p:cNvPr>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a:extLst>
              <a:ext uri="{FF2B5EF4-FFF2-40B4-BE49-F238E27FC236}">
                <a16:creationId xmlns:a16="http://schemas.microsoft.com/office/drawing/2014/main" id="{33C8288D-17DF-9619-8F3C-2DD3325083A6}"/>
              </a:ext>
            </a:extLst>
          </p:cNvPr>
          <p:cNvSpPr txBox="1"/>
          <p:nvPr/>
        </p:nvSpPr>
        <p:spPr>
          <a:xfrm>
            <a:off x="1024128" y="442924"/>
            <a:ext cx="10698480" cy="430887"/>
          </a:xfrm>
          <a:prstGeom prst="rect">
            <a:avLst/>
          </a:prstGeom>
          <a:noFill/>
        </p:spPr>
        <p:txBody>
          <a:bodyPr wrap="square" lIns="0" tIns="0" rIns="0" bIns="0" anchor="ctr">
            <a:spAutoFit/>
          </a:bodyPr>
          <a:lstStyle/>
          <a:p>
            <a:r>
              <a:rPr lang="fr-CA" sz="2800" b="1" noProof="0" dirty="0">
                <a:solidFill>
                  <a:srgbClr val="544341"/>
                </a:solidFill>
                <a:latin typeface="Poppins"/>
              </a:rPr>
              <a:t>Loi 25 – Faut-il anonymiser les données ?</a:t>
            </a:r>
            <a:endParaRPr lang="fr-CA" sz="2800" b="1" i="0" noProof="0" dirty="0">
              <a:solidFill>
                <a:srgbClr val="544341"/>
              </a:solidFill>
              <a:latin typeface="Poppins"/>
            </a:endParaRPr>
          </a:p>
        </p:txBody>
      </p:sp>
      <p:cxnSp>
        <p:nvCxnSpPr>
          <p:cNvPr id="5" name="Connector 4">
            <a:extLst>
              <a:ext uri="{FF2B5EF4-FFF2-40B4-BE49-F238E27FC236}">
                <a16:creationId xmlns:a16="http://schemas.microsoft.com/office/drawing/2014/main" id="{B0943BDC-AA9A-174C-6E70-786C2828C2CC}"/>
              </a:ext>
            </a:extLst>
          </p:cNvPr>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13BAE031-533A-C7DD-DADA-4A08D2AC4E5B}"/>
              </a:ext>
            </a:extLst>
          </p:cNvPr>
          <p:cNvSpPr txBox="1"/>
          <p:nvPr/>
        </p:nvSpPr>
        <p:spPr>
          <a:xfrm>
            <a:off x="457200" y="1481328"/>
            <a:ext cx="3657600" cy="200055"/>
          </a:xfrm>
          <a:prstGeom prst="rect">
            <a:avLst/>
          </a:prstGeom>
          <a:noFill/>
        </p:spPr>
        <p:txBody>
          <a:bodyPr wrap="square" lIns="0" tIns="0" rIns="0" bIns="0" anchor="t">
            <a:spAutoFit/>
          </a:bodyPr>
          <a:lstStyle/>
          <a:p>
            <a:r>
              <a:rPr lang="fr-CA" sz="1300" b="1" noProof="0" dirty="0">
                <a:solidFill>
                  <a:srgbClr val="FF7300"/>
                </a:solidFill>
                <a:latin typeface="Poppins"/>
              </a:rPr>
              <a:t>ARCHITECTURE – SÉCURITÉ  </a:t>
            </a:r>
            <a:endParaRPr lang="fr-CA" sz="1300" b="1" i="0" noProof="0" dirty="0">
              <a:solidFill>
                <a:srgbClr val="FF7300"/>
              </a:solidFill>
              <a:latin typeface="Poppins"/>
            </a:endParaRPr>
          </a:p>
        </p:txBody>
      </p:sp>
      <p:cxnSp>
        <p:nvCxnSpPr>
          <p:cNvPr id="9" name="Connector 8">
            <a:extLst>
              <a:ext uri="{FF2B5EF4-FFF2-40B4-BE49-F238E27FC236}">
                <a16:creationId xmlns:a16="http://schemas.microsoft.com/office/drawing/2014/main" id="{B8AF9936-4C8C-BA14-D39E-E402E0858914}"/>
              </a:ext>
            </a:extLst>
          </p:cNvPr>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2BDAA199-24C8-7A1D-DC37-8C46047D258F}"/>
              </a:ext>
            </a:extLst>
          </p:cNvPr>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a:extLst>
              <a:ext uri="{FF2B5EF4-FFF2-40B4-BE49-F238E27FC236}">
                <a16:creationId xmlns:a16="http://schemas.microsoft.com/office/drawing/2014/main" id="{904152C8-312C-8C2D-5FC1-E404480F1E4E}"/>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a:extLst>
              <a:ext uri="{FF2B5EF4-FFF2-40B4-BE49-F238E27FC236}">
                <a16:creationId xmlns:a16="http://schemas.microsoft.com/office/drawing/2014/main" id="{C72BC201-EBD1-488D-BC42-20CEE139E200}"/>
              </a:ext>
            </a:extLst>
          </p:cNvPr>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24</a:t>
            </a:r>
          </a:p>
        </p:txBody>
      </p:sp>
      <p:sp>
        <p:nvSpPr>
          <p:cNvPr id="13" name="TextBox 6">
            <a:extLst>
              <a:ext uri="{FF2B5EF4-FFF2-40B4-BE49-F238E27FC236}">
                <a16:creationId xmlns:a16="http://schemas.microsoft.com/office/drawing/2014/main" id="{4FAF0B4A-90C1-9534-5CD5-FA5CE8CBA172}"/>
              </a:ext>
            </a:extLst>
          </p:cNvPr>
          <p:cNvSpPr txBox="1"/>
          <p:nvPr/>
        </p:nvSpPr>
        <p:spPr>
          <a:xfrm>
            <a:off x="457200" y="1874519"/>
            <a:ext cx="10817352" cy="342338"/>
          </a:xfrm>
          <a:prstGeom prst="rect">
            <a:avLst/>
          </a:prstGeom>
          <a:noFill/>
        </p:spPr>
        <p:txBody>
          <a:bodyPr wrap="square" lIns="0" tIns="0" rIns="0" bIns="0" anchor="t">
            <a:spAutoFit/>
          </a:bodyPr>
          <a:lstStyle/>
          <a:p>
            <a:pPr>
              <a:lnSpc>
                <a:spcPct val="125000"/>
              </a:lnSpc>
            </a:pPr>
            <a:r>
              <a:rPr lang="fr-CA" sz="1900" noProof="0" dirty="0">
                <a:solidFill>
                  <a:srgbClr val="544341"/>
                </a:solidFill>
                <a:latin typeface="Poppins"/>
              </a:rPr>
              <a:t>Comment éviter cette gestion additionnelle ?</a:t>
            </a:r>
            <a:endParaRPr lang="fr-CA" sz="1400" noProof="0" dirty="0">
              <a:solidFill>
                <a:srgbClr val="544341"/>
              </a:solidFill>
              <a:latin typeface="Poppins"/>
            </a:endParaRPr>
          </a:p>
        </p:txBody>
      </p:sp>
      <p:graphicFrame>
        <p:nvGraphicFramePr>
          <p:cNvPr id="7" name="Tableau 6">
            <a:extLst>
              <a:ext uri="{FF2B5EF4-FFF2-40B4-BE49-F238E27FC236}">
                <a16:creationId xmlns:a16="http://schemas.microsoft.com/office/drawing/2014/main" id="{8677B980-12B3-3127-C9E5-1D5F0965EBB2}"/>
              </a:ext>
            </a:extLst>
          </p:cNvPr>
          <p:cNvGraphicFramePr>
            <a:graphicFrameLocks noGrp="1"/>
          </p:cNvGraphicFramePr>
          <p:nvPr>
            <p:extLst>
              <p:ext uri="{D42A27DB-BD31-4B8C-83A1-F6EECF244321}">
                <p14:modId xmlns:p14="http://schemas.microsoft.com/office/powerpoint/2010/main" val="576189042"/>
              </p:ext>
            </p:extLst>
          </p:nvPr>
        </p:nvGraphicFramePr>
        <p:xfrm>
          <a:off x="457200" y="2485738"/>
          <a:ext cx="11265408" cy="3536452"/>
        </p:xfrm>
        <a:graphic>
          <a:graphicData uri="http://schemas.openxmlformats.org/drawingml/2006/table">
            <a:tbl>
              <a:tblPr firstRow="1" bandRow="1">
                <a:tableStyleId>{5C22544A-7EE6-4342-B048-85BDC9FD1C3A}</a:tableStyleId>
              </a:tblPr>
              <a:tblGrid>
                <a:gridCol w="3755136">
                  <a:extLst>
                    <a:ext uri="{9D8B030D-6E8A-4147-A177-3AD203B41FA5}">
                      <a16:colId xmlns:a16="http://schemas.microsoft.com/office/drawing/2014/main" val="3993170422"/>
                    </a:ext>
                  </a:extLst>
                </a:gridCol>
                <a:gridCol w="3755136">
                  <a:extLst>
                    <a:ext uri="{9D8B030D-6E8A-4147-A177-3AD203B41FA5}">
                      <a16:colId xmlns:a16="http://schemas.microsoft.com/office/drawing/2014/main" val="2738673331"/>
                    </a:ext>
                  </a:extLst>
                </a:gridCol>
                <a:gridCol w="3755136">
                  <a:extLst>
                    <a:ext uri="{9D8B030D-6E8A-4147-A177-3AD203B41FA5}">
                      <a16:colId xmlns:a16="http://schemas.microsoft.com/office/drawing/2014/main" val="2080098346"/>
                    </a:ext>
                  </a:extLst>
                </a:gridCol>
              </a:tblGrid>
              <a:tr h="488452">
                <a:tc>
                  <a:txBody>
                    <a:bodyPr/>
                    <a:lstStyle/>
                    <a:p>
                      <a:pPr algn="ctr"/>
                      <a:r>
                        <a:rPr lang="fr-CA" sz="1900" kern="1200" noProof="0" dirty="0">
                          <a:solidFill>
                            <a:schemeClr val="bg1"/>
                          </a:solidFill>
                          <a:latin typeface="Poppins"/>
                          <a:ea typeface="+mn-ea"/>
                          <a:cs typeface="+mn-cs"/>
                        </a:rPr>
                        <a:t>Option</a:t>
                      </a:r>
                    </a:p>
                  </a:txBody>
                  <a:tcPr anchor="ctr"/>
                </a:tc>
                <a:tc>
                  <a:txBody>
                    <a:bodyPr/>
                    <a:lstStyle/>
                    <a:p>
                      <a:pPr marL="0" algn="ctr" defTabSz="457200" rtl="0" eaLnBrk="1" latinLnBrk="0" hangingPunct="1"/>
                      <a:r>
                        <a:rPr lang="fr-CA" sz="1900" b="1" kern="1200" noProof="0" dirty="0">
                          <a:solidFill>
                            <a:schemeClr val="bg1"/>
                          </a:solidFill>
                          <a:latin typeface="Poppins"/>
                          <a:ea typeface="+mn-ea"/>
                          <a:cs typeface="+mn-cs"/>
                        </a:rPr>
                        <a:t>Avantage</a:t>
                      </a:r>
                    </a:p>
                  </a:txBody>
                  <a:tcPr anchor="ctr"/>
                </a:tc>
                <a:tc>
                  <a:txBody>
                    <a:bodyPr/>
                    <a:lstStyle/>
                    <a:p>
                      <a:pPr marL="0" algn="ctr" defTabSz="457200" rtl="0" eaLnBrk="1" latinLnBrk="0" hangingPunct="1"/>
                      <a:r>
                        <a:rPr lang="fr-CA" sz="1900" b="1" kern="1200" noProof="0" dirty="0">
                          <a:solidFill>
                            <a:schemeClr val="bg1"/>
                          </a:solidFill>
                          <a:latin typeface="Poppins"/>
                          <a:ea typeface="+mn-ea"/>
                          <a:cs typeface="+mn-cs"/>
                        </a:rPr>
                        <a:t>Inconvénient</a:t>
                      </a:r>
                    </a:p>
                  </a:txBody>
                  <a:tcPr anchor="ctr"/>
                </a:tc>
                <a:extLst>
                  <a:ext uri="{0D108BD9-81ED-4DB2-BD59-A6C34878D82A}">
                    <a16:rowId xmlns:a16="http://schemas.microsoft.com/office/drawing/2014/main" val="3879227160"/>
                  </a:ext>
                </a:extLst>
              </a:tr>
              <a:tr h="632051">
                <a:tc>
                  <a:txBody>
                    <a:bodyPr/>
                    <a:lstStyle/>
                    <a:p>
                      <a:r>
                        <a:rPr lang="fr-CA" sz="1400" kern="1200" noProof="0" dirty="0">
                          <a:solidFill>
                            <a:srgbClr val="544341"/>
                          </a:solidFill>
                          <a:latin typeface="Poppins"/>
                          <a:ea typeface="+mn-ea"/>
                          <a:cs typeface="+mn-cs"/>
                        </a:rPr>
                        <a:t>Caviardage automatique des renseignements personnels avant l'appel à l'API (recommandé)</a:t>
                      </a:r>
                    </a:p>
                  </a:txBody>
                  <a:tcPr/>
                </a:tc>
                <a:tc>
                  <a:txBody>
                    <a:bodyPr/>
                    <a:lstStyle/>
                    <a:p>
                      <a:r>
                        <a:rPr lang="fr-CA" sz="1400" kern="1200" noProof="0" dirty="0">
                          <a:solidFill>
                            <a:srgbClr val="544341"/>
                          </a:solidFill>
                          <a:latin typeface="Poppins"/>
                          <a:ea typeface="+mn-ea"/>
                          <a:cs typeface="+mn-cs"/>
                        </a:rPr>
                        <a:t>Garde l'architecture actuelle, réduit le risque à la source, effort technique modéré</a:t>
                      </a:r>
                    </a:p>
                    <a:p>
                      <a:endParaRPr lang="fr-CA" sz="1400" kern="1200" noProof="0" dirty="0">
                        <a:solidFill>
                          <a:srgbClr val="544341"/>
                        </a:solidFill>
                        <a:latin typeface="Poppins"/>
                        <a:ea typeface="+mn-ea"/>
                        <a:cs typeface="+mn-cs"/>
                      </a:endParaRPr>
                    </a:p>
                  </a:txBody>
                  <a:tcPr/>
                </a:tc>
                <a:tc>
                  <a:txBody>
                    <a:bodyPr/>
                    <a:lstStyle/>
                    <a:p>
                      <a:r>
                        <a:rPr lang="fr-CA" sz="1400" kern="1200" noProof="0" dirty="0">
                          <a:solidFill>
                            <a:srgbClr val="544341"/>
                          </a:solidFill>
                          <a:latin typeface="Poppins"/>
                          <a:ea typeface="+mn-ea"/>
                          <a:cs typeface="+mn-cs"/>
                        </a:rPr>
                        <a:t>Demande d'ajouter une étape de détection de noms/courriels dans l'Edge </a:t>
                      </a:r>
                      <a:r>
                        <a:rPr lang="fr-CA" sz="1400" kern="1200" noProof="0" dirty="0" err="1">
                          <a:solidFill>
                            <a:srgbClr val="544341"/>
                          </a:solidFill>
                          <a:latin typeface="Poppins"/>
                          <a:ea typeface="+mn-ea"/>
                          <a:cs typeface="+mn-cs"/>
                        </a:rPr>
                        <a:t>Function</a:t>
                      </a:r>
                      <a:r>
                        <a:rPr lang="fr-CA" sz="1400" kern="1200" noProof="0" dirty="0">
                          <a:solidFill>
                            <a:srgbClr val="544341"/>
                          </a:solidFill>
                          <a:latin typeface="Poppins"/>
                          <a:ea typeface="+mn-ea"/>
                          <a:cs typeface="+mn-cs"/>
                        </a:rPr>
                        <a:t>.</a:t>
                      </a:r>
                    </a:p>
                  </a:txBody>
                  <a:tcPr/>
                </a:tc>
                <a:extLst>
                  <a:ext uri="{0D108BD9-81ED-4DB2-BD59-A6C34878D82A}">
                    <a16:rowId xmlns:a16="http://schemas.microsoft.com/office/drawing/2014/main" val="1107145804"/>
                  </a:ext>
                </a:extLst>
              </a:tr>
              <a:tr h="488452">
                <a:tc>
                  <a:txBody>
                    <a:bodyPr/>
                    <a:lstStyle/>
                    <a:p>
                      <a:pPr algn="l"/>
                      <a:r>
                        <a:rPr lang="fr-CA" sz="1400" kern="1200" noProof="0" dirty="0">
                          <a:solidFill>
                            <a:srgbClr val="544341"/>
                          </a:solidFill>
                          <a:latin typeface="Poppins"/>
                          <a:ea typeface="+mn-ea"/>
                          <a:cs typeface="+mn-cs"/>
                        </a:rPr>
                        <a:t>Héberger sur une infrastructure canadienne</a:t>
                      </a:r>
                    </a:p>
                  </a:txBody>
                  <a:tcPr/>
                </a:tc>
                <a:tc>
                  <a:txBody>
                    <a:bodyPr/>
                    <a:lstStyle/>
                    <a:p>
                      <a:pPr algn="l"/>
                      <a:r>
                        <a:rPr lang="fr-CA" sz="1400" kern="1200" noProof="0" dirty="0">
                          <a:solidFill>
                            <a:srgbClr val="544341"/>
                          </a:solidFill>
                          <a:latin typeface="Poppins"/>
                          <a:ea typeface="+mn-ea"/>
                          <a:cs typeface="+mn-cs"/>
                        </a:rPr>
                        <a:t>Élimine le problème à la source</a:t>
                      </a:r>
                    </a:p>
                  </a:txBody>
                  <a:tcPr/>
                </a:tc>
                <a:tc>
                  <a:txBody>
                    <a:bodyPr/>
                    <a:lstStyle/>
                    <a:p>
                      <a:pPr algn="l"/>
                      <a:r>
                        <a:rPr lang="fr-CA" sz="1400" kern="1200" noProof="0" dirty="0" err="1">
                          <a:solidFill>
                            <a:srgbClr val="544341"/>
                          </a:solidFill>
                          <a:latin typeface="Poppins"/>
                          <a:ea typeface="+mn-ea"/>
                          <a:cs typeface="+mn-cs"/>
                        </a:rPr>
                        <a:t>Supabase</a:t>
                      </a:r>
                      <a:r>
                        <a:rPr lang="fr-CA" sz="1400" kern="1200" noProof="0" dirty="0">
                          <a:solidFill>
                            <a:srgbClr val="544341"/>
                          </a:solidFill>
                          <a:latin typeface="Poppins"/>
                          <a:ea typeface="+mn-ea"/>
                          <a:cs typeface="+mn-cs"/>
                        </a:rPr>
                        <a:t> offre une région Canada, mais l'API Claude d'</a:t>
                      </a:r>
                      <a:r>
                        <a:rPr lang="fr-CA" sz="1400" kern="1200" noProof="0" dirty="0" err="1">
                          <a:solidFill>
                            <a:srgbClr val="544341"/>
                          </a:solidFill>
                          <a:latin typeface="Poppins"/>
                          <a:ea typeface="+mn-ea"/>
                          <a:cs typeface="+mn-cs"/>
                        </a:rPr>
                        <a:t>Anthropic</a:t>
                      </a:r>
                      <a:r>
                        <a:rPr lang="fr-CA" sz="1400" kern="1200" noProof="0" dirty="0">
                          <a:solidFill>
                            <a:srgbClr val="544341"/>
                          </a:solidFill>
                          <a:latin typeface="Poppins"/>
                          <a:ea typeface="+mn-ea"/>
                          <a:cs typeface="+mn-cs"/>
                        </a:rPr>
                        <a:t> n'offre pas de garantie de traitement en sol canadien à ma connaissance, donc ça ne réglerait pas tout.</a:t>
                      </a:r>
                    </a:p>
                    <a:p>
                      <a:pPr algn="l"/>
                      <a:endParaRPr lang="fr-CA" sz="1400" kern="1200" noProof="0" dirty="0">
                        <a:solidFill>
                          <a:srgbClr val="544341"/>
                        </a:solidFill>
                        <a:latin typeface="Poppins"/>
                        <a:ea typeface="+mn-ea"/>
                        <a:cs typeface="+mn-cs"/>
                      </a:endParaRPr>
                    </a:p>
                  </a:txBody>
                  <a:tcPr/>
                </a:tc>
                <a:extLst>
                  <a:ext uri="{0D108BD9-81ED-4DB2-BD59-A6C34878D82A}">
                    <a16:rowId xmlns:a16="http://schemas.microsoft.com/office/drawing/2014/main" val="1257727559"/>
                  </a:ext>
                </a:extLst>
              </a:tr>
              <a:tr h="488452">
                <a:tc>
                  <a:txBody>
                    <a:bodyPr/>
                    <a:lstStyle/>
                    <a:p>
                      <a:pPr algn="l"/>
                      <a:r>
                        <a:rPr lang="fr-CA" sz="1400" kern="1200" noProof="0" dirty="0">
                          <a:solidFill>
                            <a:srgbClr val="544341"/>
                          </a:solidFill>
                          <a:latin typeface="Poppins"/>
                          <a:ea typeface="+mn-ea"/>
                          <a:cs typeface="+mn-cs"/>
                        </a:rPr>
                        <a:t>Traiter l'ÉFVP une fois pour de bon et l'accepter comme coût récurrent</a:t>
                      </a:r>
                    </a:p>
                  </a:txBody>
                  <a:tcPr/>
                </a:tc>
                <a:tc>
                  <a:txBody>
                    <a:bodyPr/>
                    <a:lstStyle/>
                    <a:p>
                      <a:pPr algn="l"/>
                      <a:r>
                        <a:rPr lang="fr-CA" sz="1400" kern="1200" noProof="0" dirty="0">
                          <a:solidFill>
                            <a:srgbClr val="544341"/>
                          </a:solidFill>
                          <a:latin typeface="Poppins"/>
                          <a:ea typeface="+mn-ea"/>
                          <a:cs typeface="+mn-cs"/>
                        </a:rPr>
                        <a:t>Pas de changement technique</a:t>
                      </a:r>
                    </a:p>
                  </a:txBody>
                  <a:tcPr/>
                </a:tc>
                <a:tc>
                  <a:txBody>
                    <a:bodyPr/>
                    <a:lstStyle/>
                    <a:p>
                      <a:pPr algn="l"/>
                      <a:r>
                        <a:rPr lang="fr-CA" sz="1400" kern="1200" noProof="0" dirty="0">
                          <a:solidFill>
                            <a:srgbClr val="544341"/>
                          </a:solidFill>
                          <a:latin typeface="Poppins"/>
                          <a:ea typeface="+mn-ea"/>
                          <a:cs typeface="+mn-cs"/>
                        </a:rPr>
                        <a:t>Charge administrative permanente, à refaire si les fournisseurs changent leurs conditions.</a:t>
                      </a:r>
                    </a:p>
                  </a:txBody>
                  <a:tcPr/>
                </a:tc>
                <a:extLst>
                  <a:ext uri="{0D108BD9-81ED-4DB2-BD59-A6C34878D82A}">
                    <a16:rowId xmlns:a16="http://schemas.microsoft.com/office/drawing/2014/main" val="2681915339"/>
                  </a:ext>
                </a:extLst>
              </a:tr>
            </a:tbl>
          </a:graphicData>
        </a:graphic>
      </p:graphicFrame>
    </p:spTree>
    <p:extLst>
      <p:ext uri="{BB962C8B-B14F-4D97-AF65-F5344CB8AC3E}">
        <p14:creationId xmlns:p14="http://schemas.microsoft.com/office/powerpoint/2010/main" val="518111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457200" y="384048"/>
            <a:ext cx="420624" cy="420624"/>
          </a:xfrm>
          <a:prstGeom prst="ellipse">
            <a:avLst/>
          </a:prstGeom>
          <a:noFill/>
          <a:ln w="19050">
            <a:solidFill>
              <a:srgbClr val="F9A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3" name="Right Arrow 2"/>
          <p:cNvSpPr/>
          <p:nvPr/>
        </p:nvSpPr>
        <p:spPr>
          <a:xfrm>
            <a:off x="566928" y="521208"/>
            <a:ext cx="201168" cy="146304"/>
          </a:xfrm>
          <a:prstGeom prst="rightArrow">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4" name="TextBox 3"/>
          <p:cNvSpPr txBox="1"/>
          <p:nvPr/>
        </p:nvSpPr>
        <p:spPr>
          <a:xfrm>
            <a:off x="1024128" y="442924"/>
            <a:ext cx="10698480" cy="430887"/>
          </a:xfrm>
          <a:prstGeom prst="rect">
            <a:avLst/>
          </a:prstGeom>
          <a:noFill/>
        </p:spPr>
        <p:txBody>
          <a:bodyPr wrap="square" lIns="0" tIns="0" rIns="0" bIns="0" anchor="ctr">
            <a:spAutoFit/>
          </a:bodyPr>
          <a:lstStyle/>
          <a:p>
            <a:r>
              <a:rPr lang="fr-CA" sz="2800" b="1" i="0" noProof="0" dirty="0">
                <a:solidFill>
                  <a:srgbClr val="544341"/>
                </a:solidFill>
                <a:latin typeface="Poppins"/>
              </a:rPr>
              <a:t>La suite ?</a:t>
            </a:r>
          </a:p>
        </p:txBody>
      </p:sp>
      <p:cxnSp>
        <p:nvCxnSpPr>
          <p:cNvPr id="5" name="Connector 4"/>
          <p:cNvCxnSpPr/>
          <p:nvPr/>
        </p:nvCxnSpPr>
        <p:spPr>
          <a:xfrm>
            <a:off x="457200" y="1207008"/>
            <a:ext cx="11277295" cy="0"/>
          </a:xfrm>
          <a:prstGeom prst="line">
            <a:avLst/>
          </a:prstGeom>
          <a:ln w="12700">
            <a:solidFill>
              <a:srgbClr val="F9AE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1481328"/>
            <a:ext cx="3657600" cy="320040"/>
          </a:xfrm>
          <a:prstGeom prst="rect">
            <a:avLst/>
          </a:prstGeom>
          <a:noFill/>
        </p:spPr>
        <p:txBody>
          <a:bodyPr wrap="square" lIns="0" tIns="0" rIns="0" bIns="0" anchor="t">
            <a:spAutoFit/>
          </a:bodyPr>
          <a:lstStyle/>
          <a:p>
            <a:r>
              <a:rPr lang="fr-CA" sz="1300" b="1" i="0" noProof="0" dirty="0">
                <a:solidFill>
                  <a:srgbClr val="FF7300"/>
                </a:solidFill>
                <a:latin typeface="Poppins"/>
              </a:rPr>
              <a:t>OBJECTIF</a:t>
            </a:r>
          </a:p>
        </p:txBody>
      </p:sp>
      <p:sp>
        <p:nvSpPr>
          <p:cNvPr id="7" name="TextBox 6"/>
          <p:cNvSpPr txBox="1"/>
          <p:nvPr/>
        </p:nvSpPr>
        <p:spPr>
          <a:xfrm>
            <a:off x="457200" y="1874519"/>
            <a:ext cx="10817352" cy="1073307"/>
          </a:xfrm>
          <a:prstGeom prst="rect">
            <a:avLst/>
          </a:prstGeom>
          <a:noFill/>
        </p:spPr>
        <p:txBody>
          <a:bodyPr wrap="square" lIns="0" tIns="0" rIns="0" bIns="0" anchor="t">
            <a:spAutoFit/>
          </a:bodyPr>
          <a:lstStyle/>
          <a:p>
            <a:pPr>
              <a:lnSpc>
                <a:spcPct val="125000"/>
              </a:lnSpc>
            </a:pPr>
            <a:r>
              <a:rPr lang="fr-CA" sz="1900" b="0" i="0" noProof="0" dirty="0">
                <a:solidFill>
                  <a:srgbClr val="544341"/>
                </a:solidFill>
                <a:latin typeface="Poppins"/>
              </a:rPr>
              <a:t>Date du prochain point de suivi</a:t>
            </a:r>
            <a:r>
              <a:rPr lang="fr-CA" sz="1900" noProof="0" dirty="0">
                <a:solidFill>
                  <a:srgbClr val="544341"/>
                </a:solidFill>
                <a:latin typeface="Poppins"/>
              </a:rPr>
              <a:t> ?</a:t>
            </a:r>
          </a:p>
          <a:p>
            <a:pPr>
              <a:lnSpc>
                <a:spcPct val="125000"/>
              </a:lnSpc>
            </a:pPr>
            <a:endParaRPr lang="fr-CA" sz="1900" b="0" i="0" noProof="0" dirty="0">
              <a:solidFill>
                <a:srgbClr val="544341"/>
              </a:solidFill>
              <a:latin typeface="Poppins"/>
            </a:endParaRPr>
          </a:p>
          <a:p>
            <a:pPr>
              <a:lnSpc>
                <a:spcPct val="125000"/>
              </a:lnSpc>
            </a:pPr>
            <a:r>
              <a:rPr lang="fr-CA" sz="1900" noProof="0" dirty="0">
                <a:solidFill>
                  <a:srgbClr val="544341"/>
                </a:solidFill>
                <a:latin typeface="Poppins"/>
              </a:rPr>
              <a:t>D’ici là : </a:t>
            </a:r>
            <a:r>
              <a:rPr lang="fr-CA" sz="1900" noProof="0" dirty="0">
                <a:solidFill>
                  <a:srgbClr val="544341"/>
                </a:solidFill>
                <a:latin typeface="Poppins"/>
                <a:hlinkClick r:id="rId3"/>
              </a:rPr>
              <a:t>https://solutionsdeclik.ca/</a:t>
            </a:r>
            <a:endParaRPr lang="fr-CA" sz="1900" b="0" i="0" noProof="0" dirty="0">
              <a:solidFill>
                <a:srgbClr val="544341"/>
              </a:solidFill>
              <a:latin typeface="Poppins"/>
            </a:endParaRPr>
          </a:p>
        </p:txBody>
      </p:sp>
      <p:cxnSp>
        <p:nvCxnSpPr>
          <p:cNvPr id="9" name="Connector 8"/>
          <p:cNvCxnSpPr/>
          <p:nvPr/>
        </p:nvCxnSpPr>
        <p:spPr>
          <a:xfrm>
            <a:off x="457200" y="6291072"/>
            <a:ext cx="11277295" cy="0"/>
          </a:xfrm>
          <a:prstGeom prst="line">
            <a:avLst/>
          </a:prstGeom>
          <a:ln w="9525">
            <a:solidFill>
              <a:srgbClr val="D9D5D3"/>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457200" y="6437376"/>
            <a:ext cx="146304" cy="146304"/>
          </a:xfrm>
          <a:prstGeom prst="ellipse">
            <a:avLst/>
          </a:prstGeom>
          <a:solidFill>
            <a:srgbClr val="F9A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A" noProof="0" dirty="0"/>
          </a:p>
        </p:txBody>
      </p:sp>
      <p:sp>
        <p:nvSpPr>
          <p:cNvPr id="11" name="TextBox 10"/>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544341"/>
                </a:solidFill>
                <a:latin typeface="Poppins"/>
              </a:rPr>
              <a:t>PROJET DOJO — LANCEMENT</a:t>
            </a:r>
          </a:p>
        </p:txBody>
      </p:sp>
      <p:sp>
        <p:nvSpPr>
          <p:cNvPr id="12" name="TextBox 11"/>
          <p:cNvSpPr txBox="1"/>
          <p:nvPr/>
        </p:nvSpPr>
        <p:spPr>
          <a:xfrm>
            <a:off x="4419295" y="6461016"/>
            <a:ext cx="7315200" cy="153888"/>
          </a:xfrm>
          <a:prstGeom prst="rect">
            <a:avLst/>
          </a:prstGeom>
          <a:noFill/>
        </p:spPr>
        <p:txBody>
          <a:bodyPr wrap="square" lIns="0" tIns="0" rIns="0" bIns="0" anchor="ctr">
            <a:spAutoFit/>
          </a:bodyPr>
          <a:lstStyle/>
          <a:p>
            <a:pPr algn="r"/>
            <a:r>
              <a:rPr lang="fr-CA" sz="1000" b="1" i="0" noProof="0" dirty="0">
                <a:solidFill>
                  <a:srgbClr val="FF7300"/>
                </a:solidFill>
                <a:latin typeface="Poppins"/>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056A3-EF10-2F2D-E5CE-D4DE76D0900E}"/>
            </a:ext>
          </a:extLst>
        </p:cNvPr>
        <p:cNvGrpSpPr/>
        <p:nvPr/>
      </p:nvGrpSpPr>
      <p:grpSpPr>
        <a:xfrm>
          <a:off x="0" y="0"/>
          <a:ext cx="0" cy="0"/>
          <a:chOff x="0" y="0"/>
          <a:chExt cx="0" cy="0"/>
        </a:xfrm>
      </p:grpSpPr>
      <p:sp>
        <p:nvSpPr>
          <p:cNvPr id="2" name="Background">
            <a:extLst>
              <a:ext uri="{FF2B5EF4-FFF2-40B4-BE49-F238E27FC236}">
                <a16:creationId xmlns:a16="http://schemas.microsoft.com/office/drawing/2014/main" id="{FD22C1EB-BF61-0AE9-6EE6-BD09AFF14E3A}"/>
              </a:ext>
            </a:extLst>
          </p:cNvPr>
          <p:cNvSpPr/>
          <p:nvPr/>
        </p:nvSpPr>
        <p:spPr>
          <a:xfrm>
            <a:off x="0" y="0"/>
            <a:ext cx="12192000" cy="6858000"/>
          </a:xfrm>
          <a:prstGeom prst="rect">
            <a:avLst/>
          </a:prstGeom>
          <a:solidFill>
            <a:srgbClr val="FF7300"/>
          </a:solidFill>
          <a:ln>
            <a:noFill/>
          </a:ln>
        </p:spPr>
        <p:txBody>
          <a:bodyPr rtlCol="0" anchor="ctr"/>
          <a:lstStyle/>
          <a:p>
            <a:pPr algn="ctr"/>
            <a:endParaRPr lang="fr-CA" noProof="0" dirty="0"/>
          </a:p>
        </p:txBody>
      </p:sp>
      <p:sp>
        <p:nvSpPr>
          <p:cNvPr id="3" name="Accent Line">
            <a:extLst>
              <a:ext uri="{FF2B5EF4-FFF2-40B4-BE49-F238E27FC236}">
                <a16:creationId xmlns:a16="http://schemas.microsoft.com/office/drawing/2014/main" id="{98738AB3-E23E-60C6-B21F-9B6CCC3F446D}"/>
              </a:ext>
            </a:extLst>
          </p:cNvPr>
          <p:cNvSpPr/>
          <p:nvPr/>
        </p:nvSpPr>
        <p:spPr>
          <a:xfrm>
            <a:off x="5638800" y="2606040"/>
            <a:ext cx="914400" cy="68580"/>
          </a:xfrm>
          <a:prstGeom prst="rect">
            <a:avLst/>
          </a:prstGeom>
          <a:solidFill>
            <a:srgbClr val="F9AE00"/>
          </a:solidFill>
          <a:ln>
            <a:noFill/>
          </a:ln>
        </p:spPr>
        <p:txBody>
          <a:bodyPr rtlCol="0" anchor="ctr"/>
          <a:lstStyle/>
          <a:p>
            <a:pPr algn="ctr"/>
            <a:endParaRPr lang="fr-CA" noProof="0" dirty="0"/>
          </a:p>
        </p:txBody>
      </p:sp>
      <p:sp>
        <p:nvSpPr>
          <p:cNvPr id="4" name="Title">
            <a:extLst>
              <a:ext uri="{FF2B5EF4-FFF2-40B4-BE49-F238E27FC236}">
                <a16:creationId xmlns:a16="http://schemas.microsoft.com/office/drawing/2014/main" id="{21BFB229-9F50-A7CF-E77B-160467F6A133}"/>
              </a:ext>
            </a:extLst>
          </p:cNvPr>
          <p:cNvSpPr txBox="1"/>
          <p:nvPr/>
        </p:nvSpPr>
        <p:spPr>
          <a:xfrm>
            <a:off x="1371600" y="2880360"/>
            <a:ext cx="9448800" cy="1303022"/>
          </a:xfrm>
          <a:prstGeom prst="rect">
            <a:avLst/>
          </a:prstGeom>
          <a:noFill/>
        </p:spPr>
        <p:txBody>
          <a:bodyPr wrap="square" lIns="0" tIns="0" rIns="0" bIns="0" anchor="ctr"/>
          <a:lstStyle/>
          <a:p>
            <a:pPr algn="ctr"/>
            <a:r>
              <a:rPr lang="fr-CA" sz="6000" b="1" noProof="0" dirty="0">
                <a:solidFill>
                  <a:srgbClr val="FFFFFF"/>
                </a:solidFill>
                <a:latin typeface="Poppins"/>
              </a:rPr>
              <a:t>Merci !</a:t>
            </a:r>
            <a:endParaRPr lang="fr-CA" sz="6000" b="1" i="0" noProof="0" dirty="0">
              <a:solidFill>
                <a:srgbClr val="FFFFFF"/>
              </a:solidFill>
              <a:latin typeface="Poppins"/>
            </a:endParaRPr>
          </a:p>
        </p:txBody>
      </p:sp>
      <p:sp>
        <p:nvSpPr>
          <p:cNvPr id="10" name="Footer Brand">
            <a:extLst>
              <a:ext uri="{FF2B5EF4-FFF2-40B4-BE49-F238E27FC236}">
                <a16:creationId xmlns:a16="http://schemas.microsoft.com/office/drawing/2014/main" id="{8150F609-F969-7279-D32E-B87130022B22}"/>
              </a:ext>
            </a:extLst>
          </p:cNvPr>
          <p:cNvSpPr txBox="1"/>
          <p:nvPr/>
        </p:nvSpPr>
        <p:spPr>
          <a:xfrm>
            <a:off x="694944" y="6400800"/>
            <a:ext cx="3657600" cy="274320"/>
          </a:xfrm>
          <a:prstGeom prst="rect">
            <a:avLst/>
          </a:prstGeom>
          <a:noFill/>
        </p:spPr>
        <p:txBody>
          <a:bodyPr wrap="square" lIns="0" tIns="0" rIns="0" bIns="0" anchor="ctr">
            <a:spAutoFit/>
          </a:bodyPr>
          <a:lstStyle/>
          <a:p>
            <a:r>
              <a:rPr lang="fr-CA" sz="1000" b="1" i="0" noProof="0" dirty="0">
                <a:solidFill>
                  <a:srgbClr val="FFFFFF"/>
                </a:solidFill>
                <a:latin typeface="Poppins"/>
              </a:rPr>
              <a:t>PROJET DOJO — LANCEMENT</a:t>
            </a:r>
          </a:p>
        </p:txBody>
      </p:sp>
      <p:sp>
        <p:nvSpPr>
          <p:cNvPr id="9" name="Footer Dot">
            <a:extLst>
              <a:ext uri="{FF2B5EF4-FFF2-40B4-BE49-F238E27FC236}">
                <a16:creationId xmlns:a16="http://schemas.microsoft.com/office/drawing/2014/main" id="{5FEEB729-2258-9129-92E5-7C5C7B130073}"/>
              </a:ext>
            </a:extLst>
          </p:cNvPr>
          <p:cNvSpPr/>
          <p:nvPr/>
        </p:nvSpPr>
        <p:spPr>
          <a:xfrm>
            <a:off x="457200" y="6437376"/>
            <a:ext cx="146304" cy="146304"/>
          </a:xfrm>
          <a:prstGeom prst="ellipse">
            <a:avLst/>
          </a:prstGeom>
          <a:solidFill>
            <a:srgbClr val="F9AE00"/>
          </a:solidFill>
          <a:ln>
            <a:noFill/>
          </a:ln>
        </p:spPr>
        <p:txBody>
          <a:bodyPr rtlCol="0" anchor="ctr"/>
          <a:lstStyle/>
          <a:p>
            <a:pPr algn="ctr"/>
            <a:endParaRPr lang="fr-CA" noProof="0" dirty="0"/>
          </a:p>
        </p:txBody>
      </p:sp>
    </p:spTree>
    <p:extLst>
      <p:ext uri="{BB962C8B-B14F-4D97-AF65-F5344CB8AC3E}">
        <p14:creationId xmlns:p14="http://schemas.microsoft.com/office/powerpoint/2010/main" val="1599490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336</TotalTime>
  <Words>2905</Words>
  <Application>Microsoft Office PowerPoint</Application>
  <PresentationFormat>Grand écran</PresentationFormat>
  <Paragraphs>214</Paragraphs>
  <Slides>26</Slides>
  <Notes>23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26</vt:i4>
      </vt:variant>
    </vt:vector>
  </HeadingPairs>
  <TitlesOfParts>
    <vt:vector size="31" baseType="lpstr">
      <vt:lpstr>Aptos</vt:lpstr>
      <vt:lpstr>Arial</vt:lpstr>
      <vt:lpstr>Calibri</vt:lpstr>
      <vt:lpstr>Poppins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Julien Larose</cp:lastModifiedBy>
  <cp:revision>19</cp:revision>
  <dcterms:created xsi:type="dcterms:W3CDTF">2013-01-27T09:14:16Z</dcterms:created>
  <dcterms:modified xsi:type="dcterms:W3CDTF">2026-06-22T15:20:45Z</dcterms:modified>
  <cp:category/>
</cp:coreProperties>
</file>