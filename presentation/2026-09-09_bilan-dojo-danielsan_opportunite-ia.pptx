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50000" y="700000"/>
            <a:ext cx="7300000" cy="430000"/>
          </a:xfrm>
          <a:prstGeom prst="roundRect">
            <a:avLst/>
          </a:prstGeom>
          <a:solidFill>
            <a:srgbClr val="FC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50000" y="776500"/>
            <a:ext cx="7300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FF7300"/>
                </a:solidFill>
                <a:latin typeface="Poppins"/>
              </a:rPr>
              <a:t>BILAN DU PROJET  ·  OPPORTUNIT</a:t>
            </a:r>
            <a:r>
              <a:rPr lang="fr-CA" sz="1200" b="1" i="0" dirty="0">
                <a:solidFill>
                  <a:srgbClr val="FF7300"/>
                </a:solidFill>
                <a:latin typeface="Poppins"/>
              </a:rPr>
              <a:t>É</a:t>
            </a:r>
            <a:r>
              <a:rPr sz="1200" b="1" i="0" dirty="0">
                <a:solidFill>
                  <a:srgbClr val="FF7300"/>
                </a:solidFill>
                <a:latin typeface="Poppins"/>
              </a:rPr>
              <a:t> MIYAGI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1450000"/>
            <a:ext cx="980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rgbClr val="544341"/>
                </a:solidFill>
                <a:latin typeface="Poppins"/>
              </a:rPr>
              <a:t>De DOJO </a:t>
            </a:r>
            <a:r>
              <a:rPr lang="fr-CA" sz="4800" b="1" dirty="0">
                <a:solidFill>
                  <a:srgbClr val="544341"/>
                </a:solidFill>
                <a:latin typeface="Poppins"/>
              </a:rPr>
              <a:t>à</a:t>
            </a:r>
            <a:r>
              <a:rPr sz="4800" b="1" dirty="0">
                <a:solidFill>
                  <a:srgbClr val="544341"/>
                </a:solidFill>
                <a:latin typeface="Poppins"/>
              </a:rPr>
              <a:t> </a:t>
            </a:r>
            <a:r>
              <a:rPr sz="4800" b="1" dirty="0">
                <a:solidFill>
                  <a:srgbClr val="FF7300"/>
                </a:solidFill>
                <a:latin typeface="Poppins"/>
              </a:rPr>
              <a:t>DANIELSAN</a:t>
            </a:r>
          </a:p>
          <a:p>
            <a:pPr algn="ctr"/>
            <a:r>
              <a:rPr sz="4800" b="1" dirty="0">
                <a:solidFill>
                  <a:srgbClr val="544341"/>
                </a:solidFill>
                <a:latin typeface="Poppins"/>
              </a:rPr>
              <a:t>et </a:t>
            </a:r>
            <a:br>
              <a:rPr lang="fr-CA" sz="4800" b="1" dirty="0">
                <a:solidFill>
                  <a:srgbClr val="544341"/>
                </a:solidFill>
                <a:latin typeface="Poppins"/>
              </a:rPr>
            </a:br>
            <a:r>
              <a:rPr sz="4800" b="1" dirty="0" err="1">
                <a:solidFill>
                  <a:srgbClr val="544341"/>
                </a:solidFill>
                <a:latin typeface="Poppins"/>
              </a:rPr>
              <a:t>l'opportunit</a:t>
            </a:r>
            <a:r>
              <a:rPr lang="fr-CA" sz="4800" b="1" dirty="0">
                <a:solidFill>
                  <a:srgbClr val="544341"/>
                </a:solidFill>
                <a:latin typeface="Poppins"/>
              </a:rPr>
              <a:t>é</a:t>
            </a:r>
            <a:r>
              <a:rPr sz="4800" b="1" dirty="0">
                <a:solidFill>
                  <a:srgbClr val="544341"/>
                </a:solidFill>
                <a:latin typeface="Poppins"/>
              </a:rPr>
              <a:t> </a:t>
            </a:r>
            <a:r>
              <a:rPr sz="4800" b="1" dirty="0" err="1">
                <a:solidFill>
                  <a:srgbClr val="544341"/>
                </a:solidFill>
                <a:latin typeface="Poppins"/>
              </a:rPr>
              <a:t>d'une</a:t>
            </a:r>
            <a:r>
              <a:rPr sz="4800" b="1" dirty="0">
                <a:solidFill>
                  <a:srgbClr val="544341"/>
                </a:solidFill>
                <a:latin typeface="Poppins"/>
              </a:rPr>
              <a:t> </a:t>
            </a:r>
            <a:r>
              <a:rPr sz="4800" b="1" dirty="0" err="1">
                <a:solidFill>
                  <a:srgbClr val="544341"/>
                </a:solidFill>
                <a:latin typeface="Poppins"/>
              </a:rPr>
              <a:t>offre</a:t>
            </a:r>
            <a:r>
              <a:rPr sz="4800" b="1" dirty="0">
                <a:solidFill>
                  <a:srgbClr val="544341"/>
                </a:solidFill>
                <a:latin typeface="Poppins"/>
              </a:rPr>
              <a:t> IA pour Miyagi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1561" y="4846988"/>
            <a:ext cx="89000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 dirty="0">
                <a:solidFill>
                  <a:srgbClr val="544341"/>
                </a:solidFill>
                <a:latin typeface="Poppins"/>
              </a:rPr>
              <a:t>Comment un </a:t>
            </a:r>
            <a:r>
              <a:rPr sz="1800" b="0" i="0" dirty="0" err="1">
                <a:solidFill>
                  <a:srgbClr val="544341"/>
                </a:solidFill>
                <a:latin typeface="Poppins"/>
              </a:rPr>
              <a:t>projet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800" b="0" i="0" dirty="0" err="1">
                <a:solidFill>
                  <a:srgbClr val="544341"/>
                </a:solidFill>
                <a:latin typeface="Poppins"/>
              </a:rPr>
              <a:t>pilote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 est </a:t>
            </a:r>
            <a:r>
              <a:rPr sz="1800" b="0" i="0" dirty="0" err="1">
                <a:solidFill>
                  <a:srgbClr val="544341"/>
                </a:solidFill>
                <a:latin typeface="Poppins"/>
              </a:rPr>
              <a:t>devenu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 un </a:t>
            </a:r>
            <a:r>
              <a:rPr sz="1800" b="0" i="0" dirty="0" err="1">
                <a:solidFill>
                  <a:srgbClr val="544341"/>
                </a:solidFill>
                <a:latin typeface="Poppins"/>
              </a:rPr>
              <a:t>outil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 de production</a:t>
            </a:r>
            <a:br>
              <a:rPr lang="fr-CA" dirty="0">
                <a:solidFill>
                  <a:srgbClr val="544341"/>
                </a:solidFill>
                <a:latin typeface="Poppins"/>
              </a:rPr>
            </a:br>
            <a:r>
              <a:rPr sz="1800" b="0" i="0" dirty="0">
                <a:solidFill>
                  <a:srgbClr val="544341"/>
                </a:solidFill>
                <a:latin typeface="Poppins"/>
              </a:rPr>
              <a:t>et </a:t>
            </a:r>
            <a:r>
              <a:rPr sz="1800" b="0" i="0" dirty="0" err="1">
                <a:solidFill>
                  <a:srgbClr val="544341"/>
                </a:solidFill>
                <a:latin typeface="Poppins"/>
              </a:rPr>
              <a:t>ce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800" b="0" i="0" dirty="0" err="1">
                <a:solidFill>
                  <a:srgbClr val="544341"/>
                </a:solidFill>
                <a:latin typeface="Poppins"/>
              </a:rPr>
              <a:t>que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lang="fr-CA" sz="1800" b="0" i="0" dirty="0">
                <a:solidFill>
                  <a:srgbClr val="544341"/>
                </a:solidFill>
                <a:latin typeface="Poppins"/>
              </a:rPr>
              <a:t>ç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a </a:t>
            </a:r>
            <a:r>
              <a:rPr lang="fr-CA" dirty="0">
                <a:solidFill>
                  <a:srgbClr val="544341"/>
                </a:solidFill>
                <a:latin typeface="Poppins"/>
              </a:rPr>
              <a:t>représente</a:t>
            </a:r>
            <a:r>
              <a:rPr sz="1800" b="0" i="0" dirty="0">
                <a:solidFill>
                  <a:srgbClr val="544341"/>
                </a:solidFill>
                <a:latin typeface="Poppins"/>
              </a:rPr>
              <a:t> pour Miyagi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57200" y="6437376"/>
            <a:ext cx="146304" cy="146304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1117" y="6372028"/>
            <a:ext cx="6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544341"/>
                </a:solidFill>
                <a:latin typeface="Poppins"/>
              </a:rPr>
              <a:t>Julien Larose | </a:t>
            </a:r>
            <a:r>
              <a:rPr lang="fr-CA" sz="1200" dirty="0">
                <a:solidFill>
                  <a:srgbClr val="544341"/>
                </a:solidFill>
                <a:latin typeface="Poppins"/>
              </a:rPr>
              <a:t>s</a:t>
            </a:r>
            <a:r>
              <a:rPr sz="1200" b="0" i="0" dirty="0" err="1">
                <a:solidFill>
                  <a:srgbClr val="544341"/>
                </a:solidFill>
                <a:latin typeface="Poppins"/>
              </a:rPr>
              <a:t>eptembre</a:t>
            </a:r>
            <a:r>
              <a:rPr sz="1200" b="0" i="0" dirty="0">
                <a:solidFill>
                  <a:srgbClr val="544341"/>
                </a:solidFill>
                <a:latin typeface="Poppins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44341"/>
                </a:solidFill>
                <a:latin typeface="Poppins"/>
              </a:rPr>
              <a:t>Accueil et objectifs de la rencontre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3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7300"/>
                </a:solidFill>
                <a:latin typeface="Poppins"/>
              </a:rPr>
              <a:t>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0000"/>
            <a:ext cx="10817352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2600"/>
              </a:spcAft>
              <a:buClr>
                <a:srgbClr val="F9AE00"/>
              </a:buClr>
              <a:buFont typeface="Arial"/>
              <a:buChar char="▸"/>
            </a:pPr>
            <a:r>
              <a:rPr sz="2000" b="1" dirty="0">
                <a:solidFill>
                  <a:srgbClr val="FF7300"/>
                </a:solidFill>
                <a:latin typeface="Poppins"/>
              </a:rPr>
              <a:t>1. Le </a:t>
            </a:r>
            <a:r>
              <a:rPr sz="2000" b="1" dirty="0" err="1">
                <a:solidFill>
                  <a:srgbClr val="FF7300"/>
                </a:solidFill>
                <a:latin typeface="Poppins"/>
              </a:rPr>
              <a:t>bilan</a:t>
            </a:r>
            <a:r>
              <a:rPr lang="fr-CA" sz="2000" b="1" dirty="0">
                <a:solidFill>
                  <a:srgbClr val="FF7300"/>
                </a:solidFill>
                <a:latin typeface="Poppins"/>
              </a:rPr>
              <a:t> :</a:t>
            </a:r>
            <a:r>
              <a:rPr sz="2000" b="1" dirty="0">
                <a:solidFill>
                  <a:srgbClr val="FF7300"/>
                </a:solidFill>
                <a:latin typeface="Poppins"/>
              </a:rPr>
              <a:t>  </a:t>
            </a:r>
            <a:r>
              <a:rPr sz="2000" dirty="0">
                <a:solidFill>
                  <a:srgbClr val="544341"/>
                </a:solidFill>
                <a:latin typeface="Poppins"/>
              </a:rPr>
              <a:t>comment le </a:t>
            </a:r>
            <a:r>
              <a:rPr sz="2000" dirty="0" err="1">
                <a:solidFill>
                  <a:srgbClr val="544341"/>
                </a:solidFill>
                <a:latin typeface="Poppins"/>
              </a:rPr>
              <a:t>projet</a:t>
            </a:r>
            <a:r>
              <a:rPr sz="2000" dirty="0">
                <a:solidFill>
                  <a:srgbClr val="544341"/>
                </a:solidFill>
                <a:latin typeface="Poppins"/>
              </a:rPr>
              <a:t> DOJO est </a:t>
            </a:r>
            <a:r>
              <a:rPr sz="2000" dirty="0" err="1">
                <a:solidFill>
                  <a:srgbClr val="544341"/>
                </a:solidFill>
                <a:latin typeface="Poppins"/>
              </a:rPr>
              <a:t>devenu</a:t>
            </a:r>
            <a:r>
              <a:rPr sz="2000" dirty="0">
                <a:solidFill>
                  <a:srgbClr val="544341"/>
                </a:solidFill>
                <a:latin typeface="Poppins"/>
              </a:rPr>
              <a:t> un </a:t>
            </a:r>
            <a:r>
              <a:rPr sz="2000" dirty="0" err="1">
                <a:solidFill>
                  <a:srgbClr val="544341"/>
                </a:solidFill>
                <a:latin typeface="Poppins"/>
              </a:rPr>
              <a:t>outil</a:t>
            </a:r>
            <a:r>
              <a:rPr sz="2000" dirty="0">
                <a:solidFill>
                  <a:srgbClr val="544341"/>
                </a:solidFill>
                <a:latin typeface="Poppins"/>
              </a:rPr>
              <a:t> de production</a:t>
            </a:r>
          </a:p>
          <a:p>
            <a:pPr marL="285750" indent="-228600">
              <a:spcAft>
                <a:spcPts val="2600"/>
              </a:spcAft>
              <a:buClr>
                <a:srgbClr val="F9AE00"/>
              </a:buClr>
              <a:buFont typeface="Arial"/>
              <a:buChar char="▸"/>
            </a:pPr>
            <a:r>
              <a:rPr sz="2000" b="1" dirty="0">
                <a:solidFill>
                  <a:srgbClr val="FF7300"/>
                </a:solidFill>
                <a:latin typeface="Poppins"/>
              </a:rPr>
              <a:t>2. </a:t>
            </a:r>
            <a:r>
              <a:rPr sz="2000" b="1" dirty="0" err="1">
                <a:solidFill>
                  <a:srgbClr val="FF7300"/>
                </a:solidFill>
                <a:latin typeface="Poppins"/>
              </a:rPr>
              <a:t>L'opportunit</a:t>
            </a:r>
            <a:r>
              <a:rPr lang="fr-CA" sz="2000" b="1" dirty="0">
                <a:solidFill>
                  <a:srgbClr val="FF7300"/>
                </a:solidFill>
                <a:latin typeface="Poppins"/>
              </a:rPr>
              <a:t>é</a:t>
            </a:r>
            <a:r>
              <a:rPr sz="2000" b="1" dirty="0">
                <a:solidFill>
                  <a:srgbClr val="FF7300"/>
                </a:solidFill>
                <a:latin typeface="Poppins"/>
              </a:rPr>
              <a:t> </a:t>
            </a:r>
            <a:r>
              <a:rPr lang="fr-CA" sz="2000" b="1" dirty="0">
                <a:solidFill>
                  <a:srgbClr val="FF7300"/>
                </a:solidFill>
                <a:latin typeface="Poppins"/>
              </a:rPr>
              <a:t>:</a:t>
            </a:r>
            <a:r>
              <a:rPr sz="2000" b="1" dirty="0">
                <a:solidFill>
                  <a:srgbClr val="FF7300"/>
                </a:solidFill>
                <a:latin typeface="Poppins"/>
              </a:rPr>
              <a:t> </a:t>
            </a:r>
            <a:r>
              <a:rPr sz="2000" dirty="0">
                <a:solidFill>
                  <a:srgbClr val="544341"/>
                </a:solidFill>
                <a:latin typeface="Poppins"/>
              </a:rPr>
              <a:t>c</a:t>
            </a:r>
            <a:r>
              <a:rPr lang="fr-CA" sz="2000" dirty="0">
                <a:solidFill>
                  <a:srgbClr val="544341"/>
                </a:solidFill>
                <a:latin typeface="Poppins"/>
              </a:rPr>
              <a:t>e que ça représente </a:t>
            </a:r>
            <a:r>
              <a:rPr sz="2000" dirty="0">
                <a:solidFill>
                  <a:srgbClr val="544341"/>
                </a:solidFill>
                <a:latin typeface="Poppins"/>
              </a:rPr>
              <a:t>pour Miyagi, et </a:t>
            </a:r>
            <a:r>
              <a:rPr sz="2000" dirty="0" err="1">
                <a:solidFill>
                  <a:srgbClr val="544341"/>
                </a:solidFill>
                <a:latin typeface="Poppins"/>
              </a:rPr>
              <a:t>ce</a:t>
            </a:r>
            <a:r>
              <a:rPr sz="2000" dirty="0">
                <a:solidFill>
                  <a:srgbClr val="544341"/>
                </a:solidFill>
                <a:latin typeface="Poppins"/>
              </a:rPr>
              <a:t> </a:t>
            </a:r>
            <a:r>
              <a:rPr sz="2000" dirty="0" err="1">
                <a:solidFill>
                  <a:srgbClr val="544341"/>
                </a:solidFill>
                <a:latin typeface="Poppins"/>
              </a:rPr>
              <a:t>qu</a:t>
            </a:r>
            <a:r>
              <a:rPr lang="fr-CA" sz="2000" dirty="0">
                <a:solidFill>
                  <a:srgbClr val="544341"/>
                </a:solidFill>
                <a:latin typeface="Poppins"/>
              </a:rPr>
              <a:t>e je </a:t>
            </a:r>
            <a:r>
              <a:rPr sz="2000" dirty="0">
                <a:solidFill>
                  <a:srgbClr val="544341"/>
                </a:solidFill>
                <a:latin typeface="Poppins"/>
              </a:rPr>
              <a:t>propose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44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488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Poppins"/>
              </a:rPr>
              <a:t>1. Le bilan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544341"/>
                </a:solidFill>
                <a:latin typeface="Poppins"/>
              </a:rPr>
              <a:t>Le point de d</a:t>
            </a:r>
            <a:r>
              <a:rPr lang="fr-CA" sz="2800" b="1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part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7300"/>
                </a:solidFill>
                <a:latin typeface="Poppins"/>
              </a:rPr>
              <a:t>LE BILAN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0817352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2200"/>
              </a:spcAft>
              <a:buClr>
                <a:srgbClr val="F9AE00"/>
              </a:buClr>
              <a:buFont typeface="Arial"/>
              <a:buChar char="▸"/>
            </a:pPr>
            <a:r>
              <a:rPr sz="1900" dirty="0">
                <a:solidFill>
                  <a:srgbClr val="544341"/>
                </a:solidFill>
                <a:latin typeface="Poppins"/>
              </a:rPr>
              <a:t>Un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vrai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besoin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Miyagi :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analyser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les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appels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d'offres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publics,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une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t</a:t>
            </a:r>
            <a:r>
              <a:rPr lang="fr-CA" sz="1900" dirty="0">
                <a:solidFill>
                  <a:srgbClr val="544341"/>
                </a:solidFill>
                <a:latin typeface="Poppins"/>
              </a:rPr>
              <a:t>â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che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longue et r</a:t>
            </a:r>
            <a:r>
              <a:rPr lang="fr-CA" sz="1900" dirty="0" err="1">
                <a:solidFill>
                  <a:srgbClr val="544341"/>
                </a:solidFill>
                <a:latin typeface="Poppins"/>
              </a:rPr>
              <a:t>épétitive</a:t>
            </a:r>
            <a:endParaRPr sz="1900" dirty="0">
              <a:solidFill>
                <a:srgbClr val="544341"/>
              </a:solidFill>
              <a:latin typeface="Poppins"/>
            </a:endParaRPr>
          </a:p>
          <a:p>
            <a:pPr marL="285750" indent="-228600">
              <a:spcAft>
                <a:spcPts val="2200"/>
              </a:spcAft>
              <a:buClr>
                <a:srgbClr val="F9AE00"/>
              </a:buClr>
              <a:buFont typeface="Arial"/>
              <a:buChar char="▸"/>
            </a:pPr>
            <a:r>
              <a:rPr sz="1900" dirty="0">
                <a:solidFill>
                  <a:srgbClr val="544341"/>
                </a:solidFill>
                <a:latin typeface="Poppins"/>
              </a:rPr>
              <a:t>Une d</a:t>
            </a:r>
            <a:r>
              <a:rPr lang="fr-CA" sz="19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cision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: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apprendre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l'IA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la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construisant</a:t>
            </a:r>
            <a:r>
              <a:rPr sz="1900" dirty="0">
                <a:solidFill>
                  <a:srgbClr val="544341"/>
                </a:solidFill>
                <a:latin typeface="Poppins"/>
              </a:rPr>
              <a:t>, pas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seulement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la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lisant</a:t>
            </a:r>
            <a:endParaRPr sz="1900" dirty="0">
              <a:solidFill>
                <a:srgbClr val="544341"/>
              </a:solidFill>
              <a:latin typeface="Poppins"/>
            </a:endParaRPr>
          </a:p>
          <a:p>
            <a:pPr marL="285750" indent="-228600">
              <a:spcAft>
                <a:spcPts val="2200"/>
              </a:spcAft>
              <a:buClr>
                <a:srgbClr val="F9AE00"/>
              </a:buClr>
              <a:buFont typeface="Arial"/>
              <a:buChar char="▸"/>
            </a:pPr>
            <a:r>
              <a:rPr sz="1900" dirty="0">
                <a:solidFill>
                  <a:srgbClr val="544341"/>
                </a:solidFill>
                <a:latin typeface="Poppins"/>
              </a:rPr>
              <a:t>Une formation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ligne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comme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guide : «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Deviens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un Expert IA avec Claude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2026», de Yassine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Sdiri</a:t>
            </a:r>
            <a:endParaRPr sz="1900" dirty="0">
              <a:solidFill>
                <a:srgbClr val="544341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544341"/>
                </a:solidFill>
                <a:latin typeface="Poppins"/>
              </a:rPr>
              <a:t>La m</a:t>
            </a:r>
            <a:r>
              <a:rPr lang="fr-CA" sz="2800" b="1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thode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: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apprendre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construisant</a:t>
            </a:r>
            <a:endParaRPr sz="2800" b="1" i="0" dirty="0">
              <a:solidFill>
                <a:srgbClr val="544341"/>
              </a:solidFill>
              <a:latin typeface="Poppin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7300"/>
                </a:solidFill>
                <a:latin typeface="Poppins"/>
              </a:rPr>
              <a:t>LE BILAN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4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7300"/>
                </a:solidFill>
                <a:latin typeface="Poppins"/>
              </a:rPr>
              <a:t>Les fondations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4800000" y="2111019"/>
            <a:ext cx="127000" cy="127000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0000" y="1874519"/>
            <a:ext cx="61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44341"/>
                </a:solidFill>
                <a:latin typeface="Poppins"/>
              </a:rPr>
              <a:t>Comprendre le potentiel et les limites de l'IA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74519"/>
            <a:ext cx="4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7300"/>
                </a:solidFill>
                <a:latin typeface="Poppins"/>
              </a:rPr>
              <a:t>Cas d'usage : Assistant IA</a:t>
            </a:r>
          </a:p>
        </p:txBody>
      </p:sp>
      <p:sp>
        <p:nvSpPr>
          <p:cNvPr id="16" name="Oval 15"/>
          <p:cNvSpPr/>
          <p:nvPr/>
        </p:nvSpPr>
        <p:spPr>
          <a:xfrm>
            <a:off x="4800000" y="2711019"/>
            <a:ext cx="127000" cy="127000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0000" y="2474519"/>
            <a:ext cx="61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44341"/>
                </a:solidFill>
                <a:latin typeface="Poppins"/>
              </a:rPr>
              <a:t>Premier prototype d'analyse des appels d'offres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74519"/>
            <a:ext cx="4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7300"/>
                </a:solidFill>
                <a:latin typeface="Poppins"/>
              </a:rPr>
              <a:t>Cas d'usage : Site web</a:t>
            </a:r>
          </a:p>
        </p:txBody>
      </p:sp>
      <p:sp>
        <p:nvSpPr>
          <p:cNvPr id="19" name="Oval 18"/>
          <p:cNvSpPr/>
          <p:nvPr/>
        </p:nvSpPr>
        <p:spPr>
          <a:xfrm>
            <a:off x="4800000" y="3311019"/>
            <a:ext cx="127000" cy="127000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50000" y="3220630"/>
            <a:ext cx="610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544341"/>
                </a:solidFill>
                <a:latin typeface="Poppins"/>
              </a:rPr>
              <a:t>Interface pour d</a:t>
            </a:r>
            <a:r>
              <a:rPr lang="fr-CA" sz="14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poser et consulter les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appels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d'offres</a:t>
            </a:r>
            <a:endParaRPr sz="1400" b="0" i="0" dirty="0">
              <a:solidFill>
                <a:srgbClr val="544341"/>
              </a:solidFill>
              <a:latin typeface="Poppi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3674519"/>
            <a:ext cx="4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7300"/>
                </a:solidFill>
                <a:latin typeface="Poppins"/>
              </a:rPr>
              <a:t>Cas d'usage : Application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800000" y="3911019"/>
            <a:ext cx="127000" cy="127000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50000" y="3820630"/>
            <a:ext cx="610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544341"/>
                </a:solidFill>
                <a:latin typeface="Poppins"/>
              </a:rPr>
              <a:t>DOJO,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l'application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compl</a:t>
            </a:r>
            <a:r>
              <a:rPr lang="fr-CA" sz="1400" b="0" i="0" dirty="0">
                <a:solidFill>
                  <a:srgbClr val="544341"/>
                </a:solidFill>
                <a:latin typeface="Poppins"/>
              </a:rPr>
              <a:t>è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te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 (Phase 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74519"/>
            <a:ext cx="4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7300"/>
                </a:solidFill>
                <a:latin typeface="Poppins"/>
              </a:rPr>
              <a:t>Cas d'usage : Automatisation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000" y="4511019"/>
            <a:ext cx="127000" cy="127000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50000" y="4420630"/>
            <a:ext cx="610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 err="1">
                <a:solidFill>
                  <a:srgbClr val="544341"/>
                </a:solidFill>
                <a:latin typeface="Poppins"/>
              </a:rPr>
              <a:t>Connexion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 aux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outils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 Miyagi (</a:t>
            </a:r>
            <a:r>
              <a:rPr lang="fr-CA" sz="1400" b="0" i="0" dirty="0">
                <a:solidFill>
                  <a:srgbClr val="544341"/>
                </a:solidFill>
                <a:latin typeface="Poppins"/>
              </a:rPr>
              <a:t>Phase 2 :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transfert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 vers Wrike)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74519"/>
            <a:ext cx="4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7300"/>
                </a:solidFill>
                <a:latin typeface="Poppins"/>
              </a:rPr>
              <a:t>Cas d'usage : Agent IA</a:t>
            </a:r>
          </a:p>
        </p:txBody>
      </p:sp>
      <p:sp>
        <p:nvSpPr>
          <p:cNvPr id="28" name="Oval 27"/>
          <p:cNvSpPr/>
          <p:nvPr/>
        </p:nvSpPr>
        <p:spPr>
          <a:xfrm>
            <a:off x="4800000" y="5111019"/>
            <a:ext cx="127000" cy="127000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50000" y="5020630"/>
            <a:ext cx="610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544341"/>
                </a:solidFill>
                <a:latin typeface="Poppins"/>
              </a:rPr>
              <a:t>DANIELSAN, </a:t>
            </a:r>
            <a:r>
              <a:rPr sz="1400" b="1" i="0" dirty="0" err="1">
                <a:solidFill>
                  <a:srgbClr val="544341"/>
                </a:solidFill>
                <a:latin typeface="Poppins"/>
              </a:rPr>
              <a:t>l'agent</a:t>
            </a:r>
            <a:r>
              <a:rPr sz="1400" b="1" i="0" dirty="0">
                <a:solidFill>
                  <a:srgbClr val="544341"/>
                </a:solidFill>
                <a:latin typeface="Poppins"/>
              </a:rPr>
              <a:t> qui </a:t>
            </a:r>
            <a:r>
              <a:rPr sz="1400" b="1" i="0" dirty="0" err="1">
                <a:solidFill>
                  <a:srgbClr val="544341"/>
                </a:solidFill>
                <a:latin typeface="Poppins"/>
              </a:rPr>
              <a:t>pilote</a:t>
            </a:r>
            <a:r>
              <a:rPr sz="1400" b="1" i="0" dirty="0">
                <a:solidFill>
                  <a:srgbClr val="544341"/>
                </a:solidFill>
                <a:latin typeface="Poppins"/>
              </a:rPr>
              <a:t> le </a:t>
            </a:r>
            <a:r>
              <a:rPr sz="1400" b="1" i="0" dirty="0" err="1">
                <a:solidFill>
                  <a:srgbClr val="544341"/>
                </a:solidFill>
                <a:latin typeface="Poppins"/>
              </a:rPr>
              <a:t>projet</a:t>
            </a:r>
            <a:r>
              <a:rPr sz="1400" b="1" i="0" dirty="0">
                <a:solidFill>
                  <a:srgbClr val="544341"/>
                </a:solidFill>
                <a:latin typeface="Poppins"/>
              </a:rPr>
              <a:t> au </a:t>
            </a:r>
            <a:r>
              <a:rPr sz="1400" b="1" i="0" dirty="0" err="1">
                <a:solidFill>
                  <a:srgbClr val="544341"/>
                </a:solidFill>
                <a:latin typeface="Poppins"/>
              </a:rPr>
              <a:t>quotidien</a:t>
            </a:r>
            <a:endParaRPr sz="1400" b="1" i="0" dirty="0">
              <a:solidFill>
                <a:srgbClr val="544341"/>
              </a:solidFill>
              <a:latin typeface="Poppi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5474519"/>
            <a:ext cx="4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7300"/>
                </a:solidFill>
                <a:latin typeface="Poppins"/>
              </a:rPr>
              <a:t>Business</a:t>
            </a:r>
          </a:p>
        </p:txBody>
      </p:sp>
      <p:sp>
        <p:nvSpPr>
          <p:cNvPr id="31" name="Oval 30"/>
          <p:cNvSpPr/>
          <p:nvPr/>
        </p:nvSpPr>
        <p:spPr>
          <a:xfrm>
            <a:off x="4800000" y="5711019"/>
            <a:ext cx="127000" cy="127000"/>
          </a:xfrm>
          <a:prstGeom prst="ellipse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50000" y="5620630"/>
            <a:ext cx="610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544341"/>
                </a:solidFill>
                <a:latin typeface="Poppins"/>
              </a:rPr>
              <a:t>Ce qui nous am</a:t>
            </a:r>
            <a:r>
              <a:rPr lang="fr-CA" sz="1400" b="0" i="0" dirty="0">
                <a:solidFill>
                  <a:srgbClr val="544341"/>
                </a:solidFill>
                <a:latin typeface="Poppins"/>
              </a:rPr>
              <a:t>è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ne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ici</a:t>
            </a:r>
            <a:r>
              <a:rPr sz="14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400" b="0" i="0" dirty="0" err="1">
                <a:solidFill>
                  <a:srgbClr val="544341"/>
                </a:solidFill>
                <a:latin typeface="Poppins"/>
              </a:rPr>
              <a:t>aujourd'hui</a:t>
            </a:r>
            <a:endParaRPr sz="1400" b="0" i="0" dirty="0">
              <a:solidFill>
                <a:srgbClr val="544341"/>
              </a:solidFill>
              <a:latin typeface="Poppins"/>
            </a:endParaRPr>
          </a:p>
        </p:txBody>
      </p:sp>
      <p:pic>
        <p:nvPicPr>
          <p:cNvPr id="34" name="Picture 6" descr="image9.jpeg">
            <a:extLst>
              <a:ext uri="{FF2B5EF4-FFF2-40B4-BE49-F238E27FC236}">
                <a16:creationId xmlns:a16="http://schemas.microsoft.com/office/drawing/2014/main" id="{06356D8A-A7F3-7254-1586-891CC4B36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962" y="156532"/>
            <a:ext cx="880533" cy="880533"/>
          </a:xfrm>
          <a:prstGeom prst="rect">
            <a:avLst/>
          </a:prstGeom>
          <a:ln w="38100">
            <a:solidFill>
              <a:schemeClr val="bg2">
                <a:lumMod val="25000"/>
              </a:scheme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544341"/>
                </a:solidFill>
                <a:latin typeface="Poppins"/>
              </a:rPr>
              <a:t>Les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grandes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</a:t>
            </a:r>
            <a:r>
              <a:rPr lang="fr-CA" sz="2800" b="1" dirty="0">
                <a:solidFill>
                  <a:srgbClr val="544341"/>
                </a:solidFill>
                <a:latin typeface="Poppins"/>
              </a:rPr>
              <a:t>é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tapes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7300"/>
                </a:solidFill>
                <a:latin typeface="Poppins"/>
              </a:rPr>
              <a:t>LE BILAN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6</a:t>
            </a:r>
          </a:p>
        </p:txBody>
      </p:sp>
      <p:sp>
        <p:nvSpPr>
          <p:cNvPr id="12" name="Oval 11"/>
          <p:cNvSpPr/>
          <p:nvPr/>
        </p:nvSpPr>
        <p:spPr>
          <a:xfrm>
            <a:off x="680000" y="1914519"/>
            <a:ext cx="146304" cy="146304"/>
          </a:xfrm>
          <a:prstGeom prst="ellipse">
            <a:avLst/>
          </a:prstGeom>
          <a:solidFill>
            <a:srgbClr val="FF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2000" y="2074519"/>
            <a:ext cx="22000" cy="865000"/>
          </a:xfrm>
          <a:prstGeom prst="rect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0000" y="1844519"/>
            <a:ext cx="2350000" cy="102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7300"/>
                </a:solidFill>
                <a:latin typeface="Poppins"/>
              </a:rPr>
              <a:t>Printemps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000" y="1844519"/>
            <a:ext cx="7700000" cy="102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dirty="0">
                <a:solidFill>
                  <a:srgbClr val="544341"/>
                </a:solidFill>
                <a:latin typeface="Poppins"/>
              </a:rPr>
              <a:t>Auto-formation et premier prototype, dans </a:t>
            </a:r>
            <a:r>
              <a:rPr sz="1500" b="0" i="0" dirty="0" err="1">
                <a:solidFill>
                  <a:srgbClr val="544341"/>
                </a:solidFill>
                <a:latin typeface="Poppins"/>
              </a:rPr>
              <a:t>l'environnement</a:t>
            </a:r>
            <a:r>
              <a:rPr sz="1500" b="0" i="0" dirty="0">
                <a:solidFill>
                  <a:srgbClr val="544341"/>
                </a:solidFill>
                <a:latin typeface="Poppins"/>
              </a:rPr>
              <a:t> personnel de Julien</a:t>
            </a:r>
          </a:p>
        </p:txBody>
      </p:sp>
      <p:sp>
        <p:nvSpPr>
          <p:cNvPr id="16" name="Oval 15"/>
          <p:cNvSpPr/>
          <p:nvPr/>
        </p:nvSpPr>
        <p:spPr>
          <a:xfrm>
            <a:off x="680000" y="2939519"/>
            <a:ext cx="146304" cy="146304"/>
          </a:xfrm>
          <a:prstGeom prst="ellipse">
            <a:avLst/>
          </a:prstGeom>
          <a:solidFill>
            <a:srgbClr val="FF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2000" y="3099519"/>
            <a:ext cx="22000" cy="865000"/>
          </a:xfrm>
          <a:prstGeom prst="rect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0000" y="2869519"/>
            <a:ext cx="2350000" cy="102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7300"/>
                </a:solidFill>
                <a:latin typeface="Poppins"/>
              </a:rPr>
              <a:t>Juin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000" y="2869519"/>
            <a:ext cx="7700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dirty="0" err="1">
                <a:solidFill>
                  <a:srgbClr val="544341"/>
                </a:solidFill>
                <a:latin typeface="Poppins"/>
              </a:rPr>
              <a:t>Preuve</a:t>
            </a:r>
            <a:r>
              <a:rPr sz="1500" b="0" i="0" dirty="0">
                <a:solidFill>
                  <a:srgbClr val="544341"/>
                </a:solidFill>
                <a:latin typeface="Poppins"/>
              </a:rPr>
              <a:t> de concept pr</a:t>
            </a:r>
            <a:r>
              <a:rPr lang="fr-CA" sz="1500" b="0" i="0" dirty="0" err="1">
                <a:solidFill>
                  <a:srgbClr val="544341"/>
                </a:solidFill>
                <a:latin typeface="Poppins"/>
              </a:rPr>
              <a:t>ésentée</a:t>
            </a:r>
            <a:r>
              <a:rPr lang="fr-CA" sz="1500" b="0" i="0" dirty="0">
                <a:solidFill>
                  <a:srgbClr val="544341"/>
                </a:solidFill>
                <a:latin typeface="Poppins"/>
              </a:rPr>
              <a:t> à</a:t>
            </a:r>
            <a:r>
              <a:rPr sz="1500" b="0" i="0" dirty="0">
                <a:solidFill>
                  <a:srgbClr val="544341"/>
                </a:solidFill>
                <a:latin typeface="Poppins"/>
              </a:rPr>
              <a:t> la direction de Miyagi</a:t>
            </a:r>
          </a:p>
        </p:txBody>
      </p:sp>
      <p:sp>
        <p:nvSpPr>
          <p:cNvPr id="20" name="Oval 19"/>
          <p:cNvSpPr/>
          <p:nvPr/>
        </p:nvSpPr>
        <p:spPr>
          <a:xfrm>
            <a:off x="680000" y="3964519"/>
            <a:ext cx="146304" cy="146304"/>
          </a:xfrm>
          <a:prstGeom prst="ellipse">
            <a:avLst/>
          </a:prstGeom>
          <a:solidFill>
            <a:srgbClr val="FF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2000" y="4124519"/>
            <a:ext cx="22000" cy="865000"/>
          </a:xfrm>
          <a:prstGeom prst="rect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0000" y="3894519"/>
            <a:ext cx="2350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fr-CA" sz="1500" b="1" i="0" dirty="0">
                <a:solidFill>
                  <a:srgbClr val="FF7300"/>
                </a:solidFill>
                <a:latin typeface="Poppins"/>
              </a:rPr>
              <a:t>Été</a:t>
            </a:r>
            <a:r>
              <a:rPr sz="1500" b="1" i="0" dirty="0">
                <a:solidFill>
                  <a:srgbClr val="FF7300"/>
                </a:solidFill>
                <a:latin typeface="Poppins"/>
              </a:rPr>
              <a:t>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0000" y="3894519"/>
            <a:ext cx="7700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dirty="0">
                <a:solidFill>
                  <a:srgbClr val="544341"/>
                </a:solidFill>
                <a:latin typeface="Poppins"/>
              </a:rPr>
              <a:t>D</a:t>
            </a:r>
            <a:r>
              <a:rPr lang="fr-CA" sz="15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500" b="0" i="0" dirty="0" err="1">
                <a:solidFill>
                  <a:srgbClr val="544341"/>
                </a:solidFill>
                <a:latin typeface="Poppins"/>
              </a:rPr>
              <a:t>veloppement</a:t>
            </a:r>
            <a:r>
              <a:rPr sz="1500" b="0" i="0" dirty="0">
                <a:solidFill>
                  <a:srgbClr val="544341"/>
                </a:solidFill>
                <a:latin typeface="Poppins"/>
              </a:rPr>
              <a:t> de </a:t>
            </a:r>
            <a:r>
              <a:rPr sz="1500" b="0" i="0" dirty="0" err="1">
                <a:solidFill>
                  <a:srgbClr val="544341"/>
                </a:solidFill>
                <a:latin typeface="Poppins"/>
              </a:rPr>
              <a:t>l'application</a:t>
            </a:r>
            <a:r>
              <a:rPr sz="1500" b="0" i="0" dirty="0">
                <a:solidFill>
                  <a:srgbClr val="544341"/>
                </a:solidFill>
                <a:latin typeface="Poppins"/>
              </a:rPr>
              <a:t> DOJO (Phase 1)</a:t>
            </a:r>
          </a:p>
        </p:txBody>
      </p:sp>
      <p:sp>
        <p:nvSpPr>
          <p:cNvPr id="24" name="Oval 23"/>
          <p:cNvSpPr/>
          <p:nvPr/>
        </p:nvSpPr>
        <p:spPr>
          <a:xfrm>
            <a:off x="680000" y="4989519"/>
            <a:ext cx="146304" cy="146304"/>
          </a:xfrm>
          <a:prstGeom prst="ellipse">
            <a:avLst/>
          </a:prstGeom>
          <a:solidFill>
            <a:srgbClr val="FF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0000" y="4919519"/>
            <a:ext cx="2350000" cy="102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7300"/>
                </a:solidFill>
                <a:latin typeface="Poppins"/>
              </a:rPr>
              <a:t>Septembre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000" y="4919519"/>
            <a:ext cx="7700000" cy="102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44341"/>
                </a:solidFill>
                <a:latin typeface="Poppins"/>
              </a:rPr>
              <a:t>Migration vers l'infrastructure Miyagi et mise en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44341"/>
                </a:solidFill>
                <a:latin typeface="Poppins"/>
              </a:rPr>
              <a:t>Ce que DOJO fait aujourd'hui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7300"/>
                </a:solidFill>
                <a:latin typeface="Poppins"/>
              </a:rPr>
              <a:t>LE BILAN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0817352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sz="1700" dirty="0" err="1">
                <a:solidFill>
                  <a:srgbClr val="544341"/>
                </a:solidFill>
                <a:latin typeface="Poppins"/>
              </a:rPr>
              <a:t>Analyse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automatique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d'un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appel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d'offres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</a:t>
            </a:r>
            <a:r>
              <a:rPr lang="fr-CA" sz="1700" dirty="0" err="1">
                <a:solidFill>
                  <a:srgbClr val="544341"/>
                </a:solidFill>
                <a:latin typeface="Poppins"/>
              </a:rPr>
              <a:t>éposée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 en format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PDF</a:t>
            </a:r>
          </a:p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>
                <a:solidFill>
                  <a:srgbClr val="544341"/>
                </a:solidFill>
                <a:latin typeface="Poppins"/>
              </a:rPr>
              <a:t>valuation de la pertinence de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l'appel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d'offres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pour Miyagi</a:t>
            </a:r>
          </a:p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sz="1700" dirty="0">
                <a:solidFill>
                  <a:srgbClr val="544341"/>
                </a:solidFill>
                <a:latin typeface="Poppins"/>
              </a:rPr>
              <a:t>Rep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>
                <a:solidFill>
                  <a:srgbClr val="544341"/>
                </a:solidFill>
                <a:latin typeface="Poppins"/>
              </a:rPr>
              <a:t>rage des clauses l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>
                <a:solidFill>
                  <a:srgbClr val="544341"/>
                </a:solidFill>
                <a:latin typeface="Poppins"/>
              </a:rPr>
              <a:t>gales 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à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risque</a:t>
            </a:r>
            <a:endParaRPr sz="1700" dirty="0">
              <a:solidFill>
                <a:srgbClr val="544341"/>
              </a:solidFill>
              <a:latin typeface="Poppins"/>
            </a:endParaRPr>
          </a:p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sz="1700" dirty="0" err="1">
                <a:solidFill>
                  <a:srgbClr val="544341"/>
                </a:solidFill>
                <a:latin typeface="Poppins"/>
              </a:rPr>
              <a:t>Historique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toutes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les analyses, consultable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tout temps</a:t>
            </a:r>
          </a:p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lang="fr-CA" sz="1700" dirty="0">
                <a:solidFill>
                  <a:srgbClr val="544341"/>
                </a:solidFill>
                <a:latin typeface="Poppins"/>
              </a:rPr>
              <a:t>À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venir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: aide a la r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daction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des r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ponses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et g</a:t>
            </a:r>
            <a:r>
              <a:rPr lang="fr-CA" sz="1700" dirty="0" err="1">
                <a:solidFill>
                  <a:srgbClr val="544341"/>
                </a:solidFill>
                <a:latin typeface="Poppins"/>
              </a:rPr>
              <a:t>éné</a:t>
            </a:r>
            <a:r>
              <a:rPr sz="1700" dirty="0">
                <a:solidFill>
                  <a:srgbClr val="544341"/>
                </a:solidFill>
                <a:latin typeface="Poppins"/>
              </a:rPr>
              <a:t>ration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d'offres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de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544341"/>
                </a:solidFill>
                <a:latin typeface="Poppins"/>
              </a:rPr>
              <a:t>Les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partenaires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qui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rendent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</a:t>
            </a:r>
            <a:r>
              <a:rPr lang="fr-CA" sz="2800" b="1" i="0" dirty="0">
                <a:solidFill>
                  <a:srgbClr val="544341"/>
                </a:solidFill>
                <a:latin typeface="Poppins"/>
              </a:rPr>
              <a:t>ç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a possible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50000"/>
            <a:ext cx="3545765" cy="2950000"/>
          </a:xfrm>
          <a:prstGeom prst="roundRect">
            <a:avLst/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7200" y="2700000"/>
            <a:ext cx="3085765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7300"/>
                </a:solidFill>
                <a:latin typeface="Poppins"/>
              </a:rP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200" y="3200000"/>
            <a:ext cx="3085765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44341"/>
                </a:solidFill>
                <a:latin typeface="Poppins"/>
              </a:rPr>
              <a:t>Le cerveau IA (Claude) qui lit et analyse les documents.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2965" y="1750000"/>
            <a:ext cx="3545765" cy="2950000"/>
          </a:xfrm>
          <a:prstGeom prst="roundRect">
            <a:avLst/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2965" y="2700000"/>
            <a:ext cx="3085765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7300"/>
                </a:solidFill>
                <a:latin typeface="Poppins"/>
              </a:rPr>
              <a:t>Supabase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965" y="3200000"/>
            <a:ext cx="3085765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544341"/>
                </a:solidFill>
                <a:latin typeface="Poppins"/>
              </a:rPr>
              <a:t>La m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moire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: les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donn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es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sont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conserv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es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s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curite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8730" y="1750000"/>
            <a:ext cx="3545765" cy="2950000"/>
          </a:xfrm>
          <a:prstGeom prst="roundRect">
            <a:avLst/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8730" y="2700000"/>
            <a:ext cx="3085765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7300"/>
                </a:solidFill>
                <a:latin typeface="Poppins"/>
              </a:rPr>
              <a:t>Netlify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8730" y="3200000"/>
            <a:ext cx="3085765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544341"/>
                </a:solidFill>
                <a:latin typeface="Poppins"/>
              </a:rPr>
              <a:t>La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porte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d'entr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e :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l'application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accessible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ligne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50000"/>
            <a:ext cx="1080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544341"/>
                </a:solidFill>
                <a:latin typeface="Poppins"/>
              </a:rPr>
              <a:t>Note : h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bergement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des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donn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es au Canada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cours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de validation (</a:t>
            </a:r>
            <a:r>
              <a:rPr sz="1300" b="0" i="0" dirty="0" err="1">
                <a:solidFill>
                  <a:srgbClr val="544341"/>
                </a:solidFill>
                <a:latin typeface="Poppins"/>
              </a:rPr>
              <a:t>conformit</a:t>
            </a:r>
            <a:r>
              <a:rPr lang="fr-CA" sz="1300" b="0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1300" b="0" i="0" dirty="0">
                <a:solidFill>
                  <a:srgbClr val="544341"/>
                </a:solidFill>
                <a:latin typeface="Poppins"/>
              </a:rPr>
              <a:t> Loi 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488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 dirty="0">
                <a:solidFill>
                  <a:srgbClr val="FFFFFF"/>
                </a:solidFill>
                <a:latin typeface="Poppins"/>
              </a:rPr>
              <a:t>2. </a:t>
            </a:r>
            <a:r>
              <a:rPr sz="6000" b="1" i="0" dirty="0" err="1">
                <a:solidFill>
                  <a:srgbClr val="FFFFFF"/>
                </a:solidFill>
                <a:latin typeface="Poppins"/>
              </a:rPr>
              <a:t>L'opportunit</a:t>
            </a:r>
            <a:r>
              <a:rPr lang="fr-CA" sz="6000" b="1" i="0" dirty="0">
                <a:solidFill>
                  <a:srgbClr val="FFFFFF"/>
                </a:solidFill>
                <a:latin typeface="Poppins"/>
              </a:rPr>
              <a:t>é</a:t>
            </a:r>
            <a:endParaRPr sz="6000" b="1" i="0" dirty="0">
              <a:solidFill>
                <a:srgbClr val="FFFFFF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544341"/>
                </a:solidFill>
                <a:latin typeface="Poppins"/>
              </a:rPr>
              <a:t>Ce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que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cette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exp</a:t>
            </a:r>
            <a:r>
              <a:rPr lang="fr-CA" sz="2800" b="1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rience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d</a:t>
            </a:r>
            <a:r>
              <a:rPr lang="fr-CA" sz="2800" b="1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montre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FF7300"/>
                </a:solidFill>
                <a:latin typeface="Poppins"/>
              </a:rPr>
              <a:t>L'OPPORTUNIT</a:t>
            </a:r>
            <a:r>
              <a:rPr lang="fr-CA" sz="1300" b="1" i="0" dirty="0">
                <a:solidFill>
                  <a:srgbClr val="FF7300"/>
                </a:solidFill>
                <a:latin typeface="Poppins"/>
              </a:rPr>
              <a:t>É</a:t>
            </a:r>
            <a:endParaRPr sz="1300" b="1" i="0" dirty="0">
              <a:solidFill>
                <a:srgbClr val="FF7300"/>
              </a:solidFill>
              <a:latin typeface="Poppin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0817352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2200"/>
              </a:spcAft>
              <a:buClr>
                <a:srgbClr val="F9AE00"/>
              </a:buClr>
              <a:buFont typeface="Arial"/>
              <a:buChar char="▸"/>
            </a:pPr>
            <a:r>
              <a:rPr sz="1900" dirty="0">
                <a:solidFill>
                  <a:srgbClr val="544341"/>
                </a:solidFill>
                <a:latin typeface="Poppins"/>
              </a:rPr>
              <a:t>Il est possible de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construire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de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vrais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outils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IA, avec des moyens limit</a:t>
            </a:r>
            <a:r>
              <a:rPr lang="fr-CA" sz="19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900" dirty="0">
                <a:solidFill>
                  <a:srgbClr val="544341"/>
                </a:solidFill>
                <a:latin typeface="Poppins"/>
              </a:rPr>
              <a:t>s</a:t>
            </a:r>
          </a:p>
          <a:p>
            <a:pPr marL="285750" indent="-228600">
              <a:spcAft>
                <a:spcPts val="2200"/>
              </a:spcAft>
              <a:buClr>
                <a:srgbClr val="F9AE00"/>
              </a:buClr>
              <a:buFont typeface="Arial"/>
              <a:buChar char="▸"/>
            </a:pPr>
            <a:r>
              <a:rPr sz="1900" dirty="0">
                <a:solidFill>
                  <a:srgbClr val="544341"/>
                </a:solidFill>
                <a:latin typeface="Poppins"/>
              </a:rPr>
              <a:t>Miyagi a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maintenant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une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expertise interne r</a:t>
            </a:r>
            <a:r>
              <a:rPr lang="fr-CA" sz="19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elle</a:t>
            </a:r>
            <a:r>
              <a:rPr sz="1900" dirty="0">
                <a:solidFill>
                  <a:srgbClr val="544341"/>
                </a:solidFill>
                <a:latin typeface="Poppins"/>
              </a:rPr>
              <a:t>, pas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seulement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th</a:t>
            </a:r>
            <a:r>
              <a:rPr lang="fr-CA" sz="19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orique</a:t>
            </a:r>
            <a:endParaRPr sz="1900" dirty="0">
              <a:solidFill>
                <a:srgbClr val="544341"/>
              </a:solidFill>
              <a:latin typeface="Poppins"/>
            </a:endParaRPr>
          </a:p>
          <a:p>
            <a:pPr marL="285750" indent="-228600">
              <a:spcAft>
                <a:spcPts val="2200"/>
              </a:spcAft>
              <a:buClr>
                <a:srgbClr val="F9AE00"/>
              </a:buClr>
              <a:buFont typeface="Arial"/>
              <a:buChar char="▸"/>
            </a:pPr>
            <a:r>
              <a:rPr sz="1900" dirty="0">
                <a:solidFill>
                  <a:srgbClr val="544341"/>
                </a:solidFill>
                <a:latin typeface="Poppins"/>
              </a:rPr>
              <a:t>Les clients de Miyagi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vivent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le m</a:t>
            </a:r>
            <a:r>
              <a:rPr lang="fr-CA" sz="1900" dirty="0">
                <a:solidFill>
                  <a:srgbClr val="544341"/>
                </a:solidFill>
                <a:latin typeface="Poppins"/>
              </a:rPr>
              <a:t>ê</a:t>
            </a:r>
            <a:r>
              <a:rPr sz="1900" dirty="0">
                <a:solidFill>
                  <a:srgbClr val="544341"/>
                </a:solidFill>
                <a:latin typeface="Poppins"/>
              </a:rPr>
              <a:t>me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questionnement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: comment int</a:t>
            </a:r>
            <a:r>
              <a:rPr lang="fr-CA" sz="19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grer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</a:t>
            </a:r>
            <a:r>
              <a:rPr sz="1900" dirty="0" err="1">
                <a:solidFill>
                  <a:srgbClr val="544341"/>
                </a:solidFill>
                <a:latin typeface="Poppins"/>
              </a:rPr>
              <a:t>l'IA</a:t>
            </a:r>
            <a:r>
              <a:rPr sz="1900" dirty="0">
                <a:solidFill>
                  <a:srgbClr val="544341"/>
                </a:solidFill>
                <a:latin typeface="Poppins"/>
              </a:rPr>
              <a:t>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544341"/>
                </a:solidFill>
                <a:latin typeface="Poppins"/>
              </a:rPr>
              <a:t>Une 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offre</a:t>
            </a:r>
            <a:r>
              <a:rPr sz="2800" b="1" i="0" dirty="0">
                <a:solidFill>
                  <a:srgbClr val="544341"/>
                </a:solidFill>
                <a:latin typeface="Poppins"/>
              </a:rPr>
              <a:t> de service a d</a:t>
            </a:r>
            <a:r>
              <a:rPr lang="fr-CA" sz="2800" b="1" i="0" dirty="0">
                <a:solidFill>
                  <a:srgbClr val="544341"/>
                </a:solidFill>
                <a:latin typeface="Poppins"/>
              </a:rPr>
              <a:t>é</a:t>
            </a:r>
            <a:r>
              <a:rPr sz="2800" b="1" i="0" dirty="0" err="1">
                <a:solidFill>
                  <a:srgbClr val="544341"/>
                </a:solidFill>
                <a:latin typeface="Poppins"/>
              </a:rPr>
              <a:t>velopper</a:t>
            </a:r>
            <a:endParaRPr sz="2800" b="1" i="0" dirty="0">
              <a:solidFill>
                <a:srgbClr val="544341"/>
              </a:solidFill>
              <a:latin typeface="Poppin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FF7300"/>
                </a:solidFill>
                <a:latin typeface="Poppins"/>
              </a:rPr>
              <a:t>L'OPPORTUNIT</a:t>
            </a:r>
            <a:r>
              <a:rPr lang="fr-CA" sz="1300" b="1" i="0" dirty="0">
                <a:solidFill>
                  <a:srgbClr val="FF7300"/>
                </a:solidFill>
                <a:latin typeface="Poppins"/>
              </a:rPr>
              <a:t>É</a:t>
            </a:r>
            <a:endParaRPr sz="1300" b="1" i="0" dirty="0">
              <a:solidFill>
                <a:srgbClr val="FF7300"/>
              </a:solidFill>
              <a:latin typeface="Poppin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0817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sz="1700" dirty="0">
                <a:solidFill>
                  <a:srgbClr val="544341"/>
                </a:solidFill>
                <a:latin typeface="Poppins"/>
              </a:rPr>
              <a:t>Des clients de Miyagi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veulent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int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grer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l'IA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dans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leurs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op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>
                <a:solidFill>
                  <a:srgbClr val="544341"/>
                </a:solidFill>
                <a:latin typeface="Poppins"/>
              </a:rPr>
              <a:t>rations</a:t>
            </a:r>
          </a:p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sz="1700" dirty="0" err="1">
                <a:solidFill>
                  <a:srgbClr val="544341"/>
                </a:solidFill>
                <a:latin typeface="Poppins"/>
              </a:rPr>
              <a:t>D'autres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veulent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simplement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apprendre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à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le faire</a:t>
            </a:r>
          </a:p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sz="1700" dirty="0">
                <a:solidFill>
                  <a:srgbClr val="544341"/>
                </a:solidFill>
                <a:latin typeface="Poppins"/>
              </a:rPr>
              <a:t>Miyagi est bien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positionn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>
                <a:solidFill>
                  <a:srgbClr val="544341"/>
                </a:solidFill>
                <a:latin typeface="Poppins"/>
              </a:rPr>
              <a:t>e : d</a:t>
            </a:r>
            <a:r>
              <a:rPr lang="fr-CA" sz="1700" dirty="0" err="1">
                <a:solidFill>
                  <a:srgbClr val="544341"/>
                </a:solidFill>
                <a:latin typeface="Poppins"/>
              </a:rPr>
              <a:t>éjà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experte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gestion du changement et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formation</a:t>
            </a:r>
          </a:p>
          <a:p>
            <a:pPr marL="285750" indent="-228600">
              <a:spcAft>
                <a:spcPts val="1600"/>
              </a:spcAft>
              <a:buClr>
                <a:srgbClr val="F9AE00"/>
              </a:buClr>
              <a:buFont typeface="Arial"/>
              <a:buChar char="▸"/>
            </a:pPr>
            <a:r>
              <a:rPr lang="fr-CA" sz="1700" dirty="0">
                <a:solidFill>
                  <a:srgbClr val="544341"/>
                </a:solidFill>
                <a:latin typeface="Poppins"/>
              </a:rPr>
              <a:t>Toutefois,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on ne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peut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pas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vendre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une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expertise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qu'on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n'a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pas encore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comme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quipe</a:t>
            </a:r>
            <a:endParaRPr sz="1700" dirty="0">
              <a:solidFill>
                <a:srgbClr val="544341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44341"/>
                </a:solidFill>
                <a:latin typeface="Poppins"/>
              </a:rPr>
              <a:t>La proposition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FF7300"/>
                </a:solidFill>
                <a:latin typeface="Poppins"/>
              </a:rPr>
              <a:t>L'OPPORTUNIT</a:t>
            </a:r>
            <a:r>
              <a:rPr lang="fr-CA" sz="1300" b="1" i="0" dirty="0">
                <a:solidFill>
                  <a:srgbClr val="FF7300"/>
                </a:solidFill>
                <a:latin typeface="Poppins"/>
              </a:rPr>
              <a:t>É</a:t>
            </a:r>
            <a:endParaRPr sz="1300" b="1" i="0" dirty="0">
              <a:solidFill>
                <a:srgbClr val="FF7300"/>
              </a:solidFill>
              <a:latin typeface="Poppin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" y="1874519"/>
            <a:ext cx="11103997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>
                <a:solidFill>
                  <a:srgbClr val="FF7300"/>
                </a:solidFill>
                <a:latin typeface="Poppins"/>
              </a:rPr>
              <a:t>Formation : </a:t>
            </a:r>
            <a:r>
              <a:rPr sz="1700" dirty="0">
                <a:solidFill>
                  <a:srgbClr val="544341"/>
                </a:solidFill>
                <a:latin typeface="Poppins"/>
              </a:rPr>
              <a:t>«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Deviens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un Expert IA avec Claude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en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2026», Yassine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Sdiri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(iapreneurs.com)</a:t>
            </a: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>
                <a:solidFill>
                  <a:srgbClr val="FF7300"/>
                </a:solidFill>
                <a:latin typeface="Poppins"/>
              </a:rPr>
              <a:t>Participants </a:t>
            </a:r>
            <a:r>
              <a:rPr sz="1700" b="1" dirty="0" err="1">
                <a:solidFill>
                  <a:srgbClr val="FF7300"/>
                </a:solidFill>
                <a:latin typeface="Poppins"/>
              </a:rPr>
              <a:t>propos</a:t>
            </a:r>
            <a:r>
              <a:rPr lang="fr-CA" sz="1700" b="1" dirty="0">
                <a:solidFill>
                  <a:srgbClr val="FF7300"/>
                </a:solidFill>
                <a:latin typeface="Poppins"/>
              </a:rPr>
              <a:t>é</a:t>
            </a:r>
            <a:r>
              <a:rPr sz="1700" b="1" dirty="0">
                <a:solidFill>
                  <a:srgbClr val="FF7300"/>
                </a:solidFill>
                <a:latin typeface="Poppins"/>
              </a:rPr>
              <a:t>s : </a:t>
            </a:r>
            <a:r>
              <a:rPr sz="1700" dirty="0">
                <a:solidFill>
                  <a:srgbClr val="544341"/>
                </a:solidFill>
                <a:latin typeface="Poppins"/>
              </a:rPr>
              <a:t>Julien,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accompagn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d’un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(e)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coll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è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gue</a:t>
            </a:r>
            <a:endParaRPr sz="1700" dirty="0">
              <a:solidFill>
                <a:srgbClr val="544341"/>
              </a:solidFill>
              <a:latin typeface="Poppins"/>
            </a:endParaRP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>
                <a:solidFill>
                  <a:srgbClr val="FF7300"/>
                </a:solidFill>
                <a:latin typeface="Poppins"/>
              </a:rPr>
              <a:t>Objectif : </a:t>
            </a:r>
            <a:r>
              <a:rPr sz="1700" dirty="0">
                <a:solidFill>
                  <a:srgbClr val="544341"/>
                </a:solidFill>
                <a:latin typeface="Poppins"/>
              </a:rPr>
              <a:t>b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â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tir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rapidement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une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base commune </a:t>
            </a:r>
            <a:r>
              <a:rPr lang="fr-CA" sz="1700" dirty="0">
                <a:solidFill>
                  <a:srgbClr val="544341"/>
                </a:solidFill>
                <a:latin typeface="Poppins"/>
              </a:rPr>
              <a:t>solide et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concevoir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une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offre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de service IA Miyagi</a:t>
            </a: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 err="1">
                <a:solidFill>
                  <a:srgbClr val="FF7300"/>
                </a:solidFill>
                <a:latin typeface="Poppins"/>
              </a:rPr>
              <a:t>Formule</a:t>
            </a:r>
            <a:r>
              <a:rPr sz="1700" b="1" dirty="0">
                <a:solidFill>
                  <a:srgbClr val="FF7300"/>
                </a:solidFill>
                <a:latin typeface="Poppins"/>
              </a:rPr>
              <a:t> :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programme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«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Partenaire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strategique</a:t>
            </a:r>
            <a:r>
              <a:rPr sz="1700" dirty="0">
                <a:solidFill>
                  <a:srgbClr val="544341"/>
                </a:solidFill>
                <a:latin typeface="Poppins"/>
              </a:rPr>
              <a:t> IA», 990 € par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personne</a:t>
            </a:r>
            <a:endParaRPr sz="1700" dirty="0">
              <a:solidFill>
                <a:srgbClr val="544341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44341"/>
                </a:solidFill>
                <a:latin typeface="Poppins"/>
              </a:rPr>
              <a:t>IAPreneur Académie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FF7300"/>
                </a:solidFill>
                <a:latin typeface="Poppins"/>
              </a:rPr>
              <a:t>L'OPPORTUNIT</a:t>
            </a:r>
            <a:r>
              <a:rPr lang="fr-CA" sz="1300" b="1" i="0" dirty="0">
                <a:solidFill>
                  <a:srgbClr val="FF7300"/>
                </a:solidFill>
                <a:latin typeface="Poppins"/>
              </a:rPr>
              <a:t>É</a:t>
            </a:r>
            <a:endParaRPr sz="1300" b="1" i="0" dirty="0">
              <a:solidFill>
                <a:srgbClr val="FF7300"/>
              </a:solidFill>
              <a:latin typeface="Poppin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" y="1874519"/>
            <a:ext cx="11103997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>
                <a:solidFill>
                  <a:srgbClr val="FF7300"/>
                </a:solidFill>
                <a:latin typeface="Poppins"/>
              </a:rPr>
              <a:t>Formateur : </a:t>
            </a:r>
            <a:r>
              <a:rPr sz="1700" dirty="0">
                <a:solidFill>
                  <a:srgbClr val="544341"/>
                </a:solidFill>
                <a:latin typeface="Poppins"/>
              </a:rPr>
              <a:t>Yassine Sdiri, fondateur de Chatflow AI (2023), plus de 160 000 abonnés YouTube</a:t>
            </a: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>
                <a:solidFill>
                  <a:srgbClr val="FF7300"/>
                </a:solidFill>
                <a:latin typeface="Poppins"/>
              </a:rPr>
              <a:t>Contenu : </a:t>
            </a:r>
            <a:r>
              <a:rPr sz="1700" dirty="0">
                <a:solidFill>
                  <a:srgbClr val="544341"/>
                </a:solidFill>
                <a:latin typeface="Poppins"/>
              </a:rPr>
              <a:t>5 formations (IA, automatisations et agents, Claude Code, acquisition client, RGPD et AI Act), 40 heures et plus, 15 sessions live par mois</a:t>
            </a: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>
                <a:solidFill>
                  <a:srgbClr val="FF7300"/>
                </a:solidFill>
                <a:latin typeface="Poppins"/>
              </a:rPr>
              <a:t>Crédibilité : </a:t>
            </a:r>
            <a:r>
              <a:rPr sz="1700" dirty="0">
                <a:solidFill>
                  <a:srgbClr val="544341"/>
                </a:solidFill>
                <a:latin typeface="Poppins"/>
              </a:rPr>
              <a:t>4,9/5 sur Trustpilot (20+ avis), garantie satisfait ou remboursé de 14 jours</a:t>
            </a: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700" b="1" dirty="0" err="1">
                <a:solidFill>
                  <a:srgbClr val="FF7300"/>
                </a:solidFill>
                <a:latin typeface="Poppins"/>
              </a:rPr>
              <a:t>Formule : </a:t>
            </a:r>
            <a:r>
              <a:rPr sz="1700" dirty="0" err="1">
                <a:solidFill>
                  <a:srgbClr val="544341"/>
                </a:solidFill>
                <a:latin typeface="Poppins"/>
              </a:rPr>
              <a:t>990 € par an, accès annuel aux contenus et mises à jour mensuelles (prix appelé à augmenter)</a:t>
            </a:r>
            <a:endParaRPr sz="1700" dirty="0">
              <a:solidFill>
                <a:srgbClr val="544341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noFill/>
          <a:ln w="19050">
            <a:solidFill>
              <a:srgbClr val="F9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566928" y="521208"/>
            <a:ext cx="201168" cy="146304"/>
          </a:xfrm>
          <a:prstGeom prst="rightArrow">
            <a:avLst/>
          </a:prstGeom>
          <a:solidFill>
            <a:srgbClr val="F9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42924"/>
            <a:ext cx="106984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544341"/>
                </a:solidFill>
                <a:latin typeface="Poppins"/>
              </a:rPr>
              <a:t>Ce qu'on demande a la direction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07008"/>
            <a:ext cx="11277295" cy="0"/>
          </a:xfrm>
          <a:prstGeom prst="line">
            <a:avLst/>
          </a:prstGeom>
          <a:ln w="12700">
            <a:solidFill>
              <a:srgbClr val="F9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81328"/>
            <a:ext cx="400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FF7300"/>
                </a:solidFill>
                <a:latin typeface="Poppins"/>
              </a:rPr>
              <a:t>L'OPPORTUNIT</a:t>
            </a:r>
            <a:r>
              <a:rPr lang="fr-CA" sz="1300" b="1" i="0" dirty="0">
                <a:solidFill>
                  <a:srgbClr val="FF7300"/>
                </a:solidFill>
                <a:latin typeface="Poppins"/>
              </a:rPr>
              <a:t>É</a:t>
            </a:r>
            <a:endParaRPr sz="1300" b="1" i="0" dirty="0">
              <a:solidFill>
                <a:srgbClr val="FF7300"/>
              </a:solidFill>
              <a:latin typeface="Poppin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" y="6291072"/>
            <a:ext cx="11277295" cy="0"/>
          </a:xfrm>
          <a:prstGeom prst="line">
            <a:avLst/>
          </a:prstGeom>
          <a:ln w="9525">
            <a:solidFill>
              <a:srgbClr val="D9D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00000" y="6400800"/>
            <a:ext cx="934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7300"/>
                </a:solidFill>
                <a:latin typeface="Poppin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08173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800" b="1" dirty="0" err="1">
                <a:solidFill>
                  <a:srgbClr val="FF7300"/>
                </a:solidFill>
                <a:latin typeface="Poppins"/>
              </a:rPr>
              <a:t>Approuver</a:t>
            </a:r>
            <a:r>
              <a:rPr sz="1800" b="1" dirty="0">
                <a:solidFill>
                  <a:srgbClr val="FF7300"/>
                </a:solidFill>
                <a:latin typeface="Poppins"/>
              </a:rPr>
              <a:t> </a:t>
            </a:r>
            <a:r>
              <a:rPr sz="1800" b="1" dirty="0" err="1">
                <a:solidFill>
                  <a:srgbClr val="FF7300"/>
                </a:solidFill>
                <a:latin typeface="Poppins"/>
              </a:rPr>
              <a:t>l'investissement</a:t>
            </a:r>
            <a:r>
              <a:rPr sz="1800" b="1" dirty="0">
                <a:solidFill>
                  <a:srgbClr val="FF7300"/>
                </a:solidFill>
                <a:latin typeface="Poppins"/>
              </a:rPr>
              <a:t> : </a:t>
            </a:r>
            <a:r>
              <a:rPr sz="1800" dirty="0">
                <a:solidFill>
                  <a:srgbClr val="544341"/>
                </a:solidFill>
                <a:latin typeface="Poppins"/>
              </a:rPr>
              <a:t>990 € par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personne</a:t>
            </a:r>
            <a:r>
              <a:rPr sz="1800" dirty="0">
                <a:solidFill>
                  <a:srgbClr val="544341"/>
                </a:solidFill>
                <a:latin typeface="Poppins"/>
              </a:rPr>
              <a:t>, pour 2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personnes</a:t>
            </a:r>
            <a:endParaRPr sz="1800" dirty="0">
              <a:solidFill>
                <a:srgbClr val="544341"/>
              </a:solidFill>
              <a:latin typeface="Poppins"/>
            </a:endParaRP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800" dirty="0">
                <a:solidFill>
                  <a:srgbClr val="544341"/>
                </a:solidFill>
                <a:latin typeface="Poppins"/>
              </a:rPr>
              <a:t>Identifier le</a:t>
            </a:r>
            <a:r>
              <a:rPr lang="fr-CA" sz="1800" dirty="0">
                <a:solidFill>
                  <a:srgbClr val="544341"/>
                </a:solidFill>
                <a:latin typeface="Poppins"/>
              </a:rPr>
              <a:t>(la)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coll</a:t>
            </a:r>
            <a:r>
              <a:rPr lang="fr-CA" sz="1800" dirty="0">
                <a:solidFill>
                  <a:srgbClr val="544341"/>
                </a:solidFill>
                <a:latin typeface="Poppins"/>
              </a:rPr>
              <a:t>è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gue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qui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pourraient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y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participer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avec Julien</a:t>
            </a:r>
          </a:p>
          <a:p>
            <a:pPr marL="285750" indent="-228600">
              <a:spcAft>
                <a:spcPts val="1800"/>
              </a:spcAft>
              <a:buClr>
                <a:srgbClr val="F9AE00"/>
              </a:buClr>
              <a:buFont typeface="Arial"/>
              <a:buChar char="▸"/>
            </a:pPr>
            <a:r>
              <a:rPr sz="1800" dirty="0" err="1">
                <a:solidFill>
                  <a:srgbClr val="544341"/>
                </a:solidFill>
                <a:latin typeface="Poppins"/>
              </a:rPr>
              <a:t>Prochaine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rencontre : pr</a:t>
            </a:r>
            <a:r>
              <a:rPr lang="fr-CA" sz="18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senter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un plan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d'offre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de service,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une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</a:t>
            </a:r>
            <a:r>
              <a:rPr sz="1800" dirty="0" err="1">
                <a:solidFill>
                  <a:srgbClr val="544341"/>
                </a:solidFill>
                <a:latin typeface="Poppins"/>
              </a:rPr>
              <a:t>fois</a:t>
            </a:r>
            <a:r>
              <a:rPr sz="1800" dirty="0">
                <a:solidFill>
                  <a:srgbClr val="544341"/>
                </a:solidFill>
                <a:latin typeface="Poppins"/>
              </a:rPr>
              <a:t> form</a:t>
            </a:r>
            <a:r>
              <a:rPr lang="fr-CA" sz="1800" dirty="0">
                <a:solidFill>
                  <a:srgbClr val="544341"/>
                </a:solidFill>
                <a:latin typeface="Poppins"/>
              </a:rPr>
              <a:t>é</a:t>
            </a:r>
            <a:r>
              <a:rPr sz="1800" dirty="0">
                <a:solidFill>
                  <a:srgbClr val="544341"/>
                </a:solidFill>
                <a:latin typeface="Poppins"/>
              </a:rPr>
              <a:t>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48800" cy="13030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Poppins"/>
              </a:rPr>
              <a:t>Merci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50000"/>
            <a:ext cx="94488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Poppins"/>
              </a:rPr>
              <a:t>Questions et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799</Words>
  <Application>Microsoft Office PowerPoint</Application>
  <PresentationFormat>Grand écran</PresentationFormat>
  <Paragraphs>98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Julien Larose</cp:lastModifiedBy>
  <cp:revision>6</cp:revision>
  <dcterms:created xsi:type="dcterms:W3CDTF">2013-01-27T09:14:16Z</dcterms:created>
  <dcterms:modified xsi:type="dcterms:W3CDTF">2026-09-10T13:05:34Z</dcterms:modified>
  <cp:category/>
</cp:coreProperties>
</file>